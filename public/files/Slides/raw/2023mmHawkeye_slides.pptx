
<file path=[Content_Types].xml><?xml version="1.0" encoding="utf-8"?>
<Types xmlns="http://schemas.openxmlformats.org/package/2006/content-types">
  <Default Extension="gif" ContentType="image/gif"/>
  <Default Extension="jfif" ContentType="image/jpeg"/>
  <Default Extension="jpeg" ContentType="image/jpeg"/>
  <Default Extension="jpg" ContentType="image/jpeg"/>
  <Default Extension="mp4" ContentType="video/mp4"/>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375" r:id="rId2"/>
    <p:sldId id="258" r:id="rId3"/>
    <p:sldId id="356" r:id="rId4"/>
    <p:sldId id="355" r:id="rId5"/>
    <p:sldId id="357" r:id="rId6"/>
    <p:sldId id="358" r:id="rId7"/>
    <p:sldId id="359" r:id="rId8"/>
    <p:sldId id="360" r:id="rId9"/>
    <p:sldId id="361" r:id="rId10"/>
    <p:sldId id="362" r:id="rId11"/>
    <p:sldId id="364" r:id="rId12"/>
    <p:sldId id="351" r:id="rId13"/>
    <p:sldId id="352" r:id="rId14"/>
    <p:sldId id="365" r:id="rId15"/>
    <p:sldId id="366" r:id="rId16"/>
    <p:sldId id="367" r:id="rId17"/>
    <p:sldId id="269" r:id="rId18"/>
    <p:sldId id="369" r:id="rId19"/>
    <p:sldId id="372" r:id="rId20"/>
    <p:sldId id="370" r:id="rId21"/>
    <p:sldId id="321" r:id="rId22"/>
    <p:sldId id="339" r:id="rId23"/>
    <p:sldId id="378" r:id="rId24"/>
    <p:sldId id="340" r:id="rId25"/>
    <p:sldId id="341" r:id="rId26"/>
    <p:sldId id="342" r:id="rId27"/>
    <p:sldId id="298" r:id="rId28"/>
    <p:sldId id="377" r:id="rId29"/>
    <p:sldId id="350" r:id="rId30"/>
    <p:sldId id="343" r:id="rId31"/>
    <p:sldId id="374" r:id="rId32"/>
    <p:sldId id="376" r:id="rId33"/>
    <p:sldId id="373"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5597"/>
    <a:srgbClr val="757575"/>
    <a:srgbClr val="4D4D4D"/>
    <a:srgbClr val="FFFFFF"/>
    <a:srgbClr val="000000"/>
    <a:srgbClr val="7312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047" autoAdjust="0"/>
  </p:normalViewPr>
  <p:slideViewPr>
    <p:cSldViewPr snapToGrid="0">
      <p:cViewPr varScale="1">
        <p:scale>
          <a:sx n="82" d="100"/>
          <a:sy n="82" d="100"/>
        </p:scale>
        <p:origin x="1112" y="4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F98BB-77A6-4A39-8338-7E3101B8096F}" type="datetimeFigureOut">
              <a:rPr lang="zh-CN" altLang="en-US" smtClean="0"/>
              <a:t>2023/9/12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FDD682-C278-470A-8117-9F5D91231C84}" type="slidenum">
              <a:rPr lang="zh-CN" altLang="en-US" smtClean="0"/>
              <a:t>‹#›</a:t>
            </a:fld>
            <a:endParaRPr lang="zh-CN" altLang="en-US"/>
          </a:p>
        </p:txBody>
      </p:sp>
    </p:spTree>
    <p:extLst>
      <p:ext uri="{BB962C8B-B14F-4D97-AF65-F5344CB8AC3E}">
        <p14:creationId xmlns:p14="http://schemas.microsoft.com/office/powerpoint/2010/main" val="279379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Hello</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everyone, my name is Jia Zhang. I</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 a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Ph.D</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candicate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Tsinghua University. Today, I</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 going to share our recent work: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Passive UAV Detection with a COTS mmWave Radar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a:t>
            </a:fld>
            <a:endParaRPr lang="zh-CN" altLang="en-US"/>
          </a:p>
        </p:txBody>
      </p:sp>
    </p:spTree>
    <p:extLst>
      <p:ext uri="{BB962C8B-B14F-4D97-AF65-F5344CB8AC3E}">
        <p14:creationId xmlns:p14="http://schemas.microsoft.com/office/powerpoint/2010/main" val="931180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With the popularity of small UAVs, the potential threat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ruai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of small UAVs has received widespread attention, such as intrusion (in chu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shen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into personal space, illegal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yi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li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gou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item delivery and human injury.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2</a:t>
            </a:fld>
            <a:endParaRPr lang="zh-CN" altLang="en-US"/>
          </a:p>
        </p:txBody>
      </p:sp>
    </p:spTree>
    <p:extLst>
      <p:ext uri="{BB962C8B-B14F-4D97-AF65-F5344CB8AC3E}">
        <p14:creationId xmlns:p14="http://schemas.microsoft.com/office/powerpoint/2010/main" val="1132503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Among them, intrusion into personal space is most concerned, as it threats our daily privacy and safety. A UAV can easily intrude personal space at height to conduct illegal activities, such as candid photography or even theft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sai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fu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how to detect them has become an extremely important and urgent (er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zhen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problem.</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3</a:t>
            </a:fld>
            <a:endParaRPr lang="zh-CN" altLang="en-US"/>
          </a:p>
        </p:txBody>
      </p:sp>
    </p:spTree>
    <p:extLst>
      <p:ext uri="{BB962C8B-B14F-4D97-AF65-F5344CB8AC3E}">
        <p14:creationId xmlns:p14="http://schemas.microsoft.com/office/powerpoint/2010/main" val="3639430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find that a UAV detection system should be able to meet the following goals: (click) First, it can passively detect UAVs without the cooperation of them. (click) Second, it can detect the presence of a UAV at height; (click) Third, the system should be low-cost and easy to deploy. (click) Finally, it should be generic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zhen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nai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rui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ke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to detect various UAVs.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4</a:t>
            </a:fld>
            <a:endParaRPr lang="zh-CN" altLang="en-US"/>
          </a:p>
        </p:txBody>
      </p:sp>
    </p:spTree>
    <p:extLst>
      <p:ext uri="{BB962C8B-B14F-4D97-AF65-F5344CB8AC3E}">
        <p14:creationId xmlns:p14="http://schemas.microsoft.com/office/powerpoint/2010/main" val="683490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To achieve such performance, we consider potential UAV detection solutions, including acoustic-based, mmWave-based, camera-based, lidar-based and so 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5</a:t>
            </a:fld>
            <a:endParaRPr lang="zh-CN" altLang="en-US"/>
          </a:p>
        </p:txBody>
      </p:sp>
    </p:spTree>
    <p:extLst>
      <p:ext uri="{BB962C8B-B14F-4D97-AF65-F5344CB8AC3E}">
        <p14:creationId xmlns:p14="http://schemas.microsoft.com/office/powerpoint/2010/main" val="2900549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find that the mmWave radar is well suitable for UAV detection in daily usage scenarios because of its accurate tracking capability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kei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ability) and wide detection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FoV</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It can further work in various illumination </a:t>
            </a:r>
            <a:r>
              <a:rPr lang="pt-BR" altLang="zh-CN" sz="1800" kern="100" dirty="0">
                <a:effectLst/>
                <a:latin typeface="等线" panose="02010600030101010101" pitchFamily="2" charset="-122"/>
                <a:ea typeface="等线" panose="02010600030101010101" pitchFamily="2" charset="-122"/>
                <a:cs typeface="Times New Roman" panose="02020603050405020304" pitchFamily="18" charset="0"/>
              </a:rPr>
              <a:t>(yi lu mi nation)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and noise conditions. And finally, it’s low-cost and easy to deploy.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6</a:t>
            </a:fld>
            <a:endParaRPr lang="zh-CN" altLang="en-US"/>
          </a:p>
        </p:txBody>
      </p:sp>
    </p:spTree>
    <p:extLst>
      <p:ext uri="{BB962C8B-B14F-4D97-AF65-F5344CB8AC3E}">
        <p14:creationId xmlns:p14="http://schemas.microsoft.com/office/powerpoint/2010/main" val="2396799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However, accurate UAV detection with a COTS mmWave radar is not easy. (click)First, the limited transmission power of the COTS radar, the small size of the UAV, and the long distance make the reflected signal from the UAV very weak. (click)Second, the motion of the non-cooperative UAV is dynamic and unpredictable, which makes it very difficult to extract the reflected signal of the UAV from the received signals. (click) Finally, the UAV-reflected signals contain both the inherent (in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hei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ren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UAV features and the motion-related features, which are tightly coupled with one another. (click) these challenges lead to very low SNR and uncertainty of the UAV-reflected signals.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7</a:t>
            </a:fld>
            <a:endParaRPr lang="zh-CN" altLang="en-US"/>
          </a:p>
        </p:txBody>
      </p:sp>
    </p:spTree>
    <p:extLst>
      <p:ext uri="{BB962C8B-B14F-4D97-AF65-F5344CB8AC3E}">
        <p14:creationId xmlns:p14="http://schemas.microsoft.com/office/powerpoint/2010/main" val="2928043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To solve above challenges, we want to exploit [ai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ke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lao</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ai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 unique signal feature that can help us to extract and identify the UAV-reflected signals. It should be motion-independent, stable over time, consistent across various UAVs and distinguishable from noise. (click) Our finding is that the periodic micro-motion of the UAV, such as propeller rotation, can be converted into stable and consistent features in the frequency of reflected signals.(click) Specifically, the periodic micro-motion always induces periodic frequency modulation of the reflected signal, resulting in a series (sei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rui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of periodic peaks in the frequency spectrum. This feature can be used to help us to extract the UAV-reflected signals.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8</a:t>
            </a:fld>
            <a:endParaRPr lang="zh-CN" altLang="en-US"/>
          </a:p>
        </p:txBody>
      </p:sp>
    </p:spTree>
    <p:extLst>
      <p:ext uri="{BB962C8B-B14F-4D97-AF65-F5344CB8AC3E}">
        <p14:creationId xmlns:p14="http://schemas.microsoft.com/office/powerpoint/2010/main" val="3640718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further model the reflected signal of the UAV. We first ignore the influence of the UAV micro-motion. Only considering the signal reflected by the UAV body, (click) we can obtain its body velocity through the classic Range-Doppler-FFT.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9</a:t>
            </a:fld>
            <a:endParaRPr lang="zh-CN" altLang="en-US"/>
          </a:p>
        </p:txBody>
      </p:sp>
    </p:spTree>
    <p:extLst>
      <p:ext uri="{BB962C8B-B14F-4D97-AF65-F5344CB8AC3E}">
        <p14:creationId xmlns:p14="http://schemas.microsoft.com/office/powerpoint/2010/main" val="2343623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model becomes a bit more complex when the micro-motions of the UAV are considered. (click) The reflected signal of the UAV includes the signal reflected from the body and from the propellers. (click) Due to the propeller rotation, its position changes periodically, (click) such periodic micro-motions lead to a series of periodic peaks in the Doppler-FFT results. We call these peaks the PMM features.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10</a:t>
            </a:fld>
            <a:endParaRPr lang="zh-CN" altLang="en-US"/>
          </a:p>
        </p:txBody>
      </p:sp>
    </p:spTree>
    <p:extLst>
      <p:ext uri="{BB962C8B-B14F-4D97-AF65-F5344CB8AC3E}">
        <p14:creationId xmlns:p14="http://schemas.microsoft.com/office/powerpoint/2010/main" val="3502753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In the PMM feature, the interval between the peaks is the same and only determined by the propeller rotation speed. While the peak values are more complex and related to the UAV relative position and the UAV structure. We find that the peak interval is a more stable feature and is suitable for UAV tracking and identification.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11</a:t>
            </a:fld>
            <a:endParaRPr lang="zh-CN" altLang="en-US"/>
          </a:p>
        </p:txBody>
      </p:sp>
    </p:spTree>
    <p:extLst>
      <p:ext uri="{BB962C8B-B14F-4D97-AF65-F5344CB8AC3E}">
        <p14:creationId xmlns:p14="http://schemas.microsoft.com/office/powerpoint/2010/main" val="3477742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With this feature, we propose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which solves the UAV detection problem in three steps. (click)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first extracts the Range-Doppler spectrum with Range-Doppler FFT. It then uses spectrum folding technique to enhance the PMM feature. (click) With continuous feature extraction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can obtain the distribution of PMM features in space and time, which is called the Range-Time-PMM diagram. To resist the impact of unpredictable UAV motions, we design a tracking algorithm based on Dynamic programming and particle filter to obtain the tracking result. (click) After that,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continuously extract the doppler spectrum and use these spectrums to achieve UAV identification.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12</a:t>
            </a:fld>
            <a:endParaRPr lang="zh-CN" altLang="en-US"/>
          </a:p>
        </p:txBody>
      </p:sp>
    </p:spTree>
    <p:extLst>
      <p:ext uri="{BB962C8B-B14F-4D97-AF65-F5344CB8AC3E}">
        <p14:creationId xmlns:p14="http://schemas.microsoft.com/office/powerpoint/2010/main" val="4249422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After obtaining the Doppler spectrum at each range bin, the PMM feature appear in the Doppler spectrum corresponding to the UAV position. However, considering that the propeller rotation speed is unpredictable, the peak interval in the PMM feature is uncertain and variable.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13</a:t>
            </a:fld>
            <a:endParaRPr lang="zh-CN" altLang="en-US"/>
          </a:p>
        </p:txBody>
      </p:sp>
    </p:spTree>
    <p:extLst>
      <p:ext uri="{BB962C8B-B14F-4D97-AF65-F5344CB8AC3E}">
        <p14:creationId xmlns:p14="http://schemas.microsoft.com/office/powerpoint/2010/main" val="3316431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To solve this problem, we first employ the folding technique, which can align the periodic peaks when the folding size is the same as the peak interval.</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14</a:t>
            </a:fld>
            <a:endParaRPr lang="zh-CN" altLang="en-US"/>
          </a:p>
        </p:txBody>
      </p:sp>
    </p:spTree>
    <p:extLst>
      <p:ext uri="{BB962C8B-B14F-4D97-AF65-F5344CB8AC3E}">
        <p14:creationId xmlns:p14="http://schemas.microsoft.com/office/powerpoint/2010/main" val="3692370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 significant enhance peak will appear in the column-wise averaged result. To find the right folding size, we traverse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chui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verse) all integers (in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zher</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in an empirical (ai mu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pei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rui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kou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range as the folding size. The largest average value is selected as the enhanced feature.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15</a:t>
            </a:fld>
            <a:endParaRPr lang="zh-CN" altLang="en-US"/>
          </a:p>
        </p:txBody>
      </p:sp>
    </p:spTree>
    <p:extLst>
      <p:ext uri="{BB962C8B-B14F-4D97-AF65-F5344CB8AC3E}">
        <p14:creationId xmlns:p14="http://schemas.microsoft.com/office/powerpoint/2010/main" val="2633672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After the feature extraction module, the enhanced feature at each timeslot and at each range bin can be obtained, these feature values can make up a Range-Time-PMM diagram. We call it as R-PMM. Since the UAV's Doppler spectrum has a larger feature value, the UAV trajectory corresponds to the maximum path in R-PMM.</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16</a:t>
            </a:fld>
            <a:endParaRPr lang="zh-CN" altLang="en-US"/>
          </a:p>
        </p:txBody>
      </p:sp>
    </p:spTree>
    <p:extLst>
      <p:ext uri="{BB962C8B-B14F-4D97-AF65-F5344CB8AC3E}">
        <p14:creationId xmlns:p14="http://schemas.microsoft.com/office/powerpoint/2010/main" val="3025356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use dynamic programming to find the maximum path, which can be obtained by solving such an optimization problem. Considering that the UAV's trajectory always changes continuously, (click)we use the UAV's maximum range variation as the constraint to reduce the tracking error. After that, we apply the particle filter to the tracking results to further reduce the error.</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17</a:t>
            </a:fld>
            <a:endParaRPr lang="zh-CN" altLang="en-US"/>
          </a:p>
        </p:txBody>
      </p:sp>
    </p:spTree>
    <p:extLst>
      <p:ext uri="{BB962C8B-B14F-4D97-AF65-F5344CB8AC3E}">
        <p14:creationId xmlns:p14="http://schemas.microsoft.com/office/powerpoint/2010/main" val="3207699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After obtaining the tracking results,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continues to extract the Doppler spectrum from the target to form Doppler-time diagrams. These diagrams can be used to distinguish UAV from other objects.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18</a:t>
            </a:fld>
            <a:endParaRPr lang="zh-CN" altLang="en-US"/>
          </a:p>
        </p:txBody>
      </p:sp>
    </p:spTree>
    <p:extLst>
      <p:ext uri="{BB962C8B-B14F-4D97-AF65-F5344CB8AC3E}">
        <p14:creationId xmlns:p14="http://schemas.microsoft.com/office/powerpoint/2010/main" val="2413672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Considering that both the DC component and the dynamic body velocity will affect the identification of PMM features, we first remove the DC component, and then align the UAV body velocity at each moment to improve the significance of the PMM features.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19</a:t>
            </a:fld>
            <a:endParaRPr lang="zh-CN" altLang="en-US"/>
          </a:p>
        </p:txBody>
      </p:sp>
    </p:spTree>
    <p:extLst>
      <p:ext uri="{BB962C8B-B14F-4D97-AF65-F5344CB8AC3E}">
        <p14:creationId xmlns:p14="http://schemas.microsoft.com/office/powerpoint/2010/main" val="30608647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Finally, we feed these Doppler-Time segments into a two-layer LSTM network to judge whether these segments are from a UAV or other objects. The LSTM network is very suitable for such a binary classification problem.</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20</a:t>
            </a:fld>
            <a:endParaRPr lang="zh-CN" altLang="en-US"/>
          </a:p>
        </p:txBody>
      </p:sp>
    </p:spTree>
    <p:extLst>
      <p:ext uri="{BB962C8B-B14F-4D97-AF65-F5344CB8AC3E}">
        <p14:creationId xmlns:p14="http://schemas.microsoft.com/office/powerpoint/2010/main" val="349591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a:t>Then we introduce the evaluation of </a:t>
            </a:r>
            <a:r>
              <a:rPr lang="en-US" altLang="zh-CN" baseline="0" dirty="0" err="1"/>
              <a:t>mmHawkeye</a:t>
            </a:r>
            <a:r>
              <a:rPr lang="en-US" altLang="zh-CN" baseline="0" dirty="0"/>
              <a:t>.</a:t>
            </a:r>
          </a:p>
        </p:txBody>
      </p:sp>
      <p:sp>
        <p:nvSpPr>
          <p:cNvPr id="4" name="灯片编号占位符 3"/>
          <p:cNvSpPr>
            <a:spLocks noGrp="1"/>
          </p:cNvSpPr>
          <p:nvPr>
            <p:ph type="sldNum" sz="quarter" idx="10"/>
          </p:nvPr>
        </p:nvSpPr>
        <p:spPr/>
        <p:txBody>
          <a:bodyPr/>
          <a:lstStyle/>
          <a:p>
            <a:fld id="{3BCA82CD-FF97-4428-85C1-F5C9758B8674}" type="slidenum">
              <a:rPr lang="zh-CN" altLang="en-US" smtClean="0"/>
              <a:t>21</a:t>
            </a:fld>
            <a:endParaRPr lang="zh-CN" altLang="en-US"/>
          </a:p>
        </p:txBody>
      </p:sp>
    </p:spTree>
    <p:extLst>
      <p:ext uri="{BB962C8B-B14F-4D97-AF65-F5344CB8AC3E}">
        <p14:creationId xmlns:p14="http://schemas.microsoft.com/office/powerpoint/2010/main" val="662972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t>(click) We first present our experiment scenario.</a:t>
            </a:r>
            <a:br>
              <a:rPr lang="en-US" altLang="zh-CN" dirty="0"/>
            </a:br>
            <a:r>
              <a:rPr lang="en-US" altLang="zh-CN" dirty="0"/>
              <a:t> </a:t>
            </a:r>
            <a:br>
              <a:rPr lang="en-US" altLang="zh-CN" dirty="0"/>
            </a:br>
            <a:br>
              <a:rPr lang="en-US" altLang="zh-CN" dirty="0"/>
            </a:br>
            <a:br>
              <a:rPr lang="en-US" altLang="zh-CN" dirty="0"/>
            </a:br>
            <a:endParaRPr lang="zh-CN" altLang="en-US" dirty="0"/>
          </a:p>
        </p:txBody>
      </p:sp>
      <p:sp>
        <p:nvSpPr>
          <p:cNvPr id="4" name="灯片编号占位符 3"/>
          <p:cNvSpPr>
            <a:spLocks noGrp="1"/>
          </p:cNvSpPr>
          <p:nvPr>
            <p:ph type="sldNum" sz="quarter" idx="5"/>
          </p:nvPr>
        </p:nvSpPr>
        <p:spPr/>
        <p:txBody>
          <a:bodyPr/>
          <a:lstStyle/>
          <a:p>
            <a:fld id="{FCFDD682-C278-470A-8117-9F5D91231C84}" type="slidenum">
              <a:rPr lang="zh-CN" altLang="en-US" smtClean="0"/>
              <a:t>22</a:t>
            </a:fld>
            <a:endParaRPr lang="zh-CN" altLang="en-US"/>
          </a:p>
        </p:txBody>
      </p:sp>
    </p:spTree>
    <p:extLst>
      <p:ext uri="{BB962C8B-B14F-4D97-AF65-F5344CB8AC3E}">
        <p14:creationId xmlns:p14="http://schemas.microsoft.com/office/powerpoint/2010/main" val="29513282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t>Specifically</a:t>
            </a:r>
            <a:r>
              <a:rPr lang="zh-CN" altLang="en-US" sz="1800" dirty="0"/>
              <a:t>，</a:t>
            </a:r>
            <a:r>
              <a:rPr lang="en-US" altLang="zh-CN" sz="1800" dirty="0"/>
              <a:t>(click) We implement </a:t>
            </a:r>
            <a:r>
              <a:rPr lang="en-US" altLang="zh-CN" sz="1800" dirty="0" err="1"/>
              <a:t>mmHawkeye</a:t>
            </a:r>
            <a:r>
              <a:rPr lang="en-US" altLang="zh-CN" sz="1800" dirty="0"/>
              <a:t> based on a</a:t>
            </a:r>
            <a:r>
              <a:rPr lang="zh-CN" altLang="en-US" sz="1800" dirty="0"/>
              <a:t> </a:t>
            </a:r>
            <a:r>
              <a:rPr lang="en-US" altLang="zh-CN" sz="1800" dirty="0"/>
              <a:t>commercial mmWave radar. (click) A six-rotor UAV is used as the detection target, (click) The UAV is equipped with an RTK module to provide centimeter-level ground truth. (click) And more than four thousand seconds of signal is collected for evaluation.</a:t>
            </a:r>
            <a:br>
              <a:rPr lang="en-US" altLang="zh-CN" dirty="0"/>
            </a:br>
            <a:br>
              <a:rPr lang="en-US" altLang="zh-CN" dirty="0"/>
            </a:br>
            <a:r>
              <a:rPr lang="en-US" altLang="zh-CN" dirty="0"/>
              <a:t> </a:t>
            </a:r>
            <a:br>
              <a:rPr lang="en-US" altLang="zh-CN" dirty="0"/>
            </a:br>
            <a:br>
              <a:rPr lang="en-US" altLang="zh-CN" dirty="0"/>
            </a:br>
            <a:br>
              <a:rPr lang="en-US" altLang="zh-CN" dirty="0"/>
            </a:br>
            <a:endParaRPr lang="zh-CN" altLang="en-US" dirty="0"/>
          </a:p>
        </p:txBody>
      </p:sp>
      <p:sp>
        <p:nvSpPr>
          <p:cNvPr id="4" name="灯片编号占位符 3"/>
          <p:cNvSpPr>
            <a:spLocks noGrp="1"/>
          </p:cNvSpPr>
          <p:nvPr>
            <p:ph type="sldNum" sz="quarter" idx="5"/>
          </p:nvPr>
        </p:nvSpPr>
        <p:spPr/>
        <p:txBody>
          <a:bodyPr/>
          <a:lstStyle/>
          <a:p>
            <a:fld id="{FCFDD682-C278-470A-8117-9F5D91231C84}" type="slidenum">
              <a:rPr lang="zh-CN" altLang="en-US" smtClean="0"/>
              <a:t>23</a:t>
            </a:fld>
            <a:endParaRPr lang="zh-CN" altLang="en-US"/>
          </a:p>
        </p:txBody>
      </p:sp>
    </p:spTree>
    <p:extLst>
      <p:ext uri="{BB962C8B-B14F-4D97-AF65-F5344CB8AC3E}">
        <p14:creationId xmlns:p14="http://schemas.microsoft.com/office/powerpoint/2010/main" val="23600807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first evaluate the overall performance of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The UAV altitude varies from 10m to 80m. The overall detection accuracy of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reaches 95.8%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ninty</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five point eight percent). With the UAV altitude increasing, the detection accuracy decreases. The reason is that as the UAV altitude increase, the PMM features becomes weaker and sometimes incomplete, leading to the decrease of the detection accuracy. We also evaluate the tracking performance.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can achieve a relative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ruai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lei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wu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range error of 0.9% at a detection range up to 80m, much better than that of the intensity-based approach. </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2800" dirty="0"/>
            </a:br>
            <a:br>
              <a:rPr lang="en-US" altLang="zh-CN" sz="4000" dirty="0"/>
            </a:br>
            <a:br>
              <a:rPr lang="en-US" altLang="zh-CN" sz="2800" dirty="0"/>
            </a:br>
            <a:r>
              <a:rPr lang="en-US" altLang="zh-CN" sz="1800" b="0" i="0" dirty="0">
                <a:solidFill>
                  <a:srgbClr val="000000"/>
                </a:solidFill>
                <a:effectLst/>
                <a:latin typeface="LinLibertineT"/>
              </a:rPr>
              <a:t> </a:t>
            </a:r>
            <a:br>
              <a:rPr lang="en-US" altLang="zh-CN" dirty="0"/>
            </a:br>
            <a:endParaRPr lang="zh-CN" altLang="en-US" dirty="0"/>
          </a:p>
        </p:txBody>
      </p:sp>
      <p:sp>
        <p:nvSpPr>
          <p:cNvPr id="4" name="灯片编号占位符 3"/>
          <p:cNvSpPr>
            <a:spLocks noGrp="1"/>
          </p:cNvSpPr>
          <p:nvPr>
            <p:ph type="sldNum" sz="quarter" idx="5"/>
          </p:nvPr>
        </p:nvSpPr>
        <p:spPr/>
        <p:txBody>
          <a:bodyPr/>
          <a:lstStyle/>
          <a:p>
            <a:fld id="{FCFDD682-C278-470A-8117-9F5D91231C84}" type="slidenum">
              <a:rPr lang="zh-CN" altLang="en-US" smtClean="0"/>
              <a:t>24</a:t>
            </a:fld>
            <a:endParaRPr lang="zh-CN" altLang="en-US"/>
          </a:p>
        </p:txBody>
      </p:sp>
    </p:spTree>
    <p:extLst>
      <p:ext uri="{BB962C8B-B14F-4D97-AF65-F5344CB8AC3E}">
        <p14:creationId xmlns:p14="http://schemas.microsoft.com/office/powerpoint/2010/main" val="35449642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Then we consider the impact of the UAV trajectory. The flight trajectories include hovering, horizontal flight, vertical flight and flying with a horizontal square. The results show that the detection accuracy varies slightly across different trajectories. The reason is that as the micro-motion of the UAV always exists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ei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ge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zei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the PMM feature remains consistent. The range errors also vary slightly with the types of UAV trajectory. These results show that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works well with different UAV trajectories.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25</a:t>
            </a:fld>
            <a:endParaRPr lang="zh-CN" altLang="en-US"/>
          </a:p>
        </p:txBody>
      </p:sp>
    </p:spTree>
    <p:extLst>
      <p:ext uri="{BB962C8B-B14F-4D97-AF65-F5344CB8AC3E}">
        <p14:creationId xmlns:p14="http://schemas.microsoft.com/office/powerpoint/2010/main" val="15301779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Then we consider the impact of the UAV velocity. The results show that the UAV velocity have limited impact on both the detection performance and the tracking performance. (click) It means that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is indeed applicable (ai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lei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kei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bou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with various UAV velocities.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FDD682-C278-470A-8117-9F5D91231C84}" type="slidenum">
              <a:rPr lang="zh-CN" altLang="en-US" smtClean="0"/>
              <a:t>26</a:t>
            </a:fld>
            <a:endParaRPr lang="zh-CN" altLang="en-US"/>
          </a:p>
        </p:txBody>
      </p:sp>
    </p:spTree>
    <p:extLst>
      <p:ext uri="{BB962C8B-B14F-4D97-AF65-F5344CB8AC3E}">
        <p14:creationId xmlns:p14="http://schemas.microsoft.com/office/powerpoint/2010/main" val="5592808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can be extended in the following two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diretions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On the one hand, since our system detects UAV through PMM features in the range dimension, it can be naturally  [</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ˈ</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a:t>
            </a:r>
            <a:r>
              <a:rPr lang="en-US" altLang="zh-CN" sz="1800" kern="100" dirty="0" err="1">
                <a:effectLst/>
                <a:latin typeface="等线" panose="02010600030101010101" pitchFamily="2" charset="-122"/>
                <a:ea typeface="等线" panose="02010600030101010101" pitchFamily="2" charset="-122"/>
                <a:cs typeface="等线" panose="02010600030101010101" pitchFamily="2" charset="-122"/>
              </a:rPr>
              <a:t>æ</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ʃ</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ə</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ə</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li]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nai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tually</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extended to multi-UAV detection scenarios. However, (click) the trajectory crossover problem needs to be carefully solved. On the other hand, when the distance between UAV and radar is close, the UAV can no longer be considered as a whole and each part may occupy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ao</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ke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you pai) different range bins. (click) In this case, there will be multiple PMM features. We can exploit these features to further sense the UAV.</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3BCA82CD-FF97-4428-85C1-F5C9758B8674}" type="slidenum">
              <a:rPr lang="zh-CN" altLang="en-US" smtClean="0"/>
              <a:t>27</a:t>
            </a:fld>
            <a:endParaRPr lang="zh-CN" altLang="en-US"/>
          </a:p>
        </p:txBody>
      </p:sp>
    </p:spTree>
    <p:extLst>
      <p:ext uri="{BB962C8B-B14F-4D97-AF65-F5344CB8AC3E}">
        <p14:creationId xmlns:p14="http://schemas.microsoft.com/office/powerpoint/2010/main" val="20783287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In conclusion, we propose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mmHawkeye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the first mmWave-based long-range UAV detection approach. We provides a tailored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le er de) design based on the PMM feature to fully utilize the low-SNR and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uncertained</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UAV’s reflected signals for UAV detection. our system is implemented on the commercial device and evaluated under various settings.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3BCA82CD-FF97-4428-85C1-F5C9758B8674}" type="slidenum">
              <a:rPr lang="zh-CN" altLang="en-US" smtClean="0"/>
              <a:t>28</a:t>
            </a:fld>
            <a:endParaRPr lang="zh-CN" altLang="en-US"/>
          </a:p>
        </p:txBody>
      </p:sp>
    </p:spTree>
    <p:extLst>
      <p:ext uri="{BB962C8B-B14F-4D97-AF65-F5344CB8AC3E}">
        <p14:creationId xmlns:p14="http://schemas.microsoft.com/office/powerpoint/2010/main" val="1821006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That’s all, thank you very much.</a:t>
            </a:r>
            <a:endParaRPr lang="zh-CN" altLang="en-US" dirty="0"/>
          </a:p>
        </p:txBody>
      </p:sp>
      <p:sp>
        <p:nvSpPr>
          <p:cNvPr id="4" name="灯片编号占位符 3"/>
          <p:cNvSpPr>
            <a:spLocks noGrp="1"/>
          </p:cNvSpPr>
          <p:nvPr>
            <p:ph type="sldNum" sz="quarter" idx="10"/>
          </p:nvPr>
        </p:nvSpPr>
        <p:spPr/>
        <p:txBody>
          <a:bodyPr/>
          <a:lstStyle/>
          <a:p>
            <a:fld id="{3BCA82CD-FF97-4428-85C1-F5C9758B8674}" type="slidenum">
              <a:rPr lang="zh-CN" altLang="en-US" smtClean="0"/>
              <a:t>29</a:t>
            </a:fld>
            <a:endParaRPr lang="zh-CN" altLang="en-US"/>
          </a:p>
        </p:txBody>
      </p:sp>
    </p:spTree>
    <p:extLst>
      <p:ext uri="{BB962C8B-B14F-4D97-AF65-F5344CB8AC3E}">
        <p14:creationId xmlns:p14="http://schemas.microsoft.com/office/powerpoint/2010/main" val="22756395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Angle results ?  Due to the limited number of the antennas on the commercial mmWave radar, its angle resolution have large error. Since we aim to achieve accurate UAV detection, we focus on the range estimation results.</a:t>
            </a:r>
            <a:endParaRPr lang="zh-CN" altLang="en-US" dirty="0"/>
          </a:p>
        </p:txBody>
      </p:sp>
      <p:sp>
        <p:nvSpPr>
          <p:cNvPr id="4" name="灯片编号占位符 3"/>
          <p:cNvSpPr>
            <a:spLocks noGrp="1"/>
          </p:cNvSpPr>
          <p:nvPr>
            <p:ph type="sldNum" sz="quarter" idx="10"/>
          </p:nvPr>
        </p:nvSpPr>
        <p:spPr/>
        <p:txBody>
          <a:bodyPr/>
          <a:lstStyle/>
          <a:p>
            <a:fld id="{3BCA82CD-FF97-4428-85C1-F5C9758B8674}" type="slidenum">
              <a:rPr lang="zh-CN" altLang="en-US" smtClean="0"/>
              <a:t>30</a:t>
            </a:fld>
            <a:endParaRPr lang="zh-CN" altLang="en-US"/>
          </a:p>
        </p:txBody>
      </p:sp>
    </p:spTree>
    <p:extLst>
      <p:ext uri="{BB962C8B-B14F-4D97-AF65-F5344CB8AC3E}">
        <p14:creationId xmlns:p14="http://schemas.microsoft.com/office/powerpoint/2010/main" val="22459680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2800" dirty="0"/>
            </a:br>
            <a:endParaRPr lang="zh-CN" altLang="en-US" dirty="0"/>
          </a:p>
        </p:txBody>
      </p:sp>
      <p:sp>
        <p:nvSpPr>
          <p:cNvPr id="4" name="灯片编号占位符 3"/>
          <p:cNvSpPr>
            <a:spLocks noGrp="1"/>
          </p:cNvSpPr>
          <p:nvPr>
            <p:ph type="sldNum" sz="quarter" idx="10"/>
          </p:nvPr>
        </p:nvSpPr>
        <p:spPr/>
        <p:txBody>
          <a:bodyPr/>
          <a:lstStyle/>
          <a:p>
            <a:fld id="{3BCA82CD-FF97-4428-85C1-F5C9758B8674}" type="slidenum">
              <a:rPr lang="zh-CN" altLang="en-US" smtClean="0"/>
              <a:t>31</a:t>
            </a:fld>
            <a:endParaRPr lang="zh-CN" altLang="en-US"/>
          </a:p>
        </p:txBody>
      </p:sp>
    </p:spTree>
    <p:extLst>
      <p:ext uri="{BB962C8B-B14F-4D97-AF65-F5344CB8AC3E}">
        <p14:creationId xmlns:p14="http://schemas.microsoft.com/office/powerpoint/2010/main" val="19461256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2800" dirty="0"/>
            </a:br>
            <a:endParaRPr lang="zh-CN" altLang="en-US" dirty="0"/>
          </a:p>
        </p:txBody>
      </p:sp>
      <p:sp>
        <p:nvSpPr>
          <p:cNvPr id="4" name="灯片编号占位符 3"/>
          <p:cNvSpPr>
            <a:spLocks noGrp="1"/>
          </p:cNvSpPr>
          <p:nvPr>
            <p:ph type="sldNum" sz="quarter" idx="10"/>
          </p:nvPr>
        </p:nvSpPr>
        <p:spPr/>
        <p:txBody>
          <a:bodyPr/>
          <a:lstStyle/>
          <a:p>
            <a:fld id="{3BCA82CD-FF97-4428-85C1-F5C9758B8674}" type="slidenum">
              <a:rPr lang="zh-CN" altLang="en-US" smtClean="0"/>
              <a:t>32</a:t>
            </a:fld>
            <a:endParaRPr lang="zh-CN" altLang="en-US"/>
          </a:p>
        </p:txBody>
      </p:sp>
    </p:spTree>
    <p:extLst>
      <p:ext uri="{BB962C8B-B14F-4D97-AF65-F5344CB8AC3E}">
        <p14:creationId xmlns:p14="http://schemas.microsoft.com/office/powerpoint/2010/main" val="31121994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最后，我们进行了消融实验。结果显示动态规划可以显著减少定位误差而粒子滤波可以降低定位误差的方差。另一方面，质量分量去除可以显著提升识别准确度。</a:t>
            </a:r>
            <a:endParaRPr lang="en-US" altLang="zh-CN" dirty="0"/>
          </a:p>
          <a:p>
            <a:endParaRPr lang="en-US" altLang="zh-CN" dirty="0"/>
          </a:p>
          <a:p>
            <a:r>
              <a:rPr lang="en-US" altLang="zh-CN" dirty="0"/>
              <a:t>Finally, we conduct the ablation study. The results show that dynamic programming can significantly reduce the range error and the particle filtering can reduce the variance of the range error. On the other hand, the DC removal can significantly improve the detection accuracy.</a:t>
            </a:r>
            <a:endParaRPr lang="zh-CN" altLang="en-US" dirty="0"/>
          </a:p>
        </p:txBody>
      </p:sp>
      <p:sp>
        <p:nvSpPr>
          <p:cNvPr id="4" name="灯片编号占位符 3"/>
          <p:cNvSpPr>
            <a:spLocks noGrp="1"/>
          </p:cNvSpPr>
          <p:nvPr>
            <p:ph type="sldNum" sz="quarter" idx="5"/>
          </p:nvPr>
        </p:nvSpPr>
        <p:spPr/>
        <p:txBody>
          <a:bodyPr/>
          <a:lstStyle/>
          <a:p>
            <a:fld id="{FCFDD682-C278-470A-8117-9F5D91231C84}" type="slidenum">
              <a:rPr lang="zh-CN" altLang="en-US" smtClean="0"/>
              <a:t>33</a:t>
            </a:fld>
            <a:endParaRPr lang="zh-CN" altLang="en-US"/>
          </a:p>
        </p:txBody>
      </p:sp>
    </p:spTree>
    <p:extLst>
      <p:ext uri="{BB962C8B-B14F-4D97-AF65-F5344CB8AC3E}">
        <p14:creationId xmlns:p14="http://schemas.microsoft.com/office/powerpoint/2010/main" val="954596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DA5C53-6BFB-6185-6937-B36FA1A9D7F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464766F-5F94-8E3C-DEFF-E2FF11047C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130FED1-1B14-0EF0-2DB4-372C16B0AE74}"/>
              </a:ext>
            </a:extLst>
          </p:cNvPr>
          <p:cNvSpPr>
            <a:spLocks noGrp="1"/>
          </p:cNvSpPr>
          <p:nvPr>
            <p:ph type="dt" sz="half" idx="10"/>
          </p:nvPr>
        </p:nvSpPr>
        <p:spPr/>
        <p:txBody>
          <a:bodyPr/>
          <a:lstStyle/>
          <a:p>
            <a:fld id="{319790E8-68F1-471F-BE0A-B6C2361B9608}" type="datetime1">
              <a:rPr lang="zh-CN" altLang="en-US" smtClean="0"/>
              <a:t>2023/9/12</a:t>
            </a:fld>
            <a:endParaRPr lang="zh-CN" altLang="en-US"/>
          </a:p>
        </p:txBody>
      </p:sp>
      <p:sp>
        <p:nvSpPr>
          <p:cNvPr id="5" name="页脚占位符 4">
            <a:extLst>
              <a:ext uri="{FF2B5EF4-FFF2-40B4-BE49-F238E27FC236}">
                <a16:creationId xmlns:a16="http://schemas.microsoft.com/office/drawing/2014/main" id="{1A4B9C09-CED7-3675-772E-74AF92864C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9B3CC5C-48E4-DD95-7454-030EC94DB6EB}"/>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1479435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D02C94-D84A-59CC-4CF0-B1F991EB898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E7A59C9-C486-C860-04D1-239B480FB76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6D34757-DC54-6455-A0F5-B291CCF70942}"/>
              </a:ext>
            </a:extLst>
          </p:cNvPr>
          <p:cNvSpPr>
            <a:spLocks noGrp="1"/>
          </p:cNvSpPr>
          <p:nvPr>
            <p:ph type="dt" sz="half" idx="10"/>
          </p:nvPr>
        </p:nvSpPr>
        <p:spPr/>
        <p:txBody>
          <a:bodyPr/>
          <a:lstStyle/>
          <a:p>
            <a:fld id="{AA7AA075-29A3-4723-9F53-886609F5DDCE}" type="datetime1">
              <a:rPr lang="zh-CN" altLang="en-US" smtClean="0"/>
              <a:t>2023/9/12</a:t>
            </a:fld>
            <a:endParaRPr lang="zh-CN" altLang="en-US"/>
          </a:p>
        </p:txBody>
      </p:sp>
      <p:sp>
        <p:nvSpPr>
          <p:cNvPr id="5" name="页脚占位符 4">
            <a:extLst>
              <a:ext uri="{FF2B5EF4-FFF2-40B4-BE49-F238E27FC236}">
                <a16:creationId xmlns:a16="http://schemas.microsoft.com/office/drawing/2014/main" id="{380DB971-AA7A-C6C4-DFA1-203D447C72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D32F67-D862-1B28-B19F-C6E1D8596D2B}"/>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307887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65C075-8C00-8956-CEFD-4D7A60F4FF7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C6C5A9D-75E3-7B65-3754-991D2CCABA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7390242-9285-CF80-E8EC-159CBD8D0437}"/>
              </a:ext>
            </a:extLst>
          </p:cNvPr>
          <p:cNvSpPr>
            <a:spLocks noGrp="1"/>
          </p:cNvSpPr>
          <p:nvPr>
            <p:ph type="dt" sz="half" idx="10"/>
          </p:nvPr>
        </p:nvSpPr>
        <p:spPr/>
        <p:txBody>
          <a:bodyPr/>
          <a:lstStyle/>
          <a:p>
            <a:fld id="{475F5257-AC5D-4507-AB70-BAC2C988EBCD}" type="datetime1">
              <a:rPr lang="zh-CN" altLang="en-US" smtClean="0"/>
              <a:t>2023/9/12</a:t>
            </a:fld>
            <a:endParaRPr lang="zh-CN" altLang="en-US"/>
          </a:p>
        </p:txBody>
      </p:sp>
      <p:sp>
        <p:nvSpPr>
          <p:cNvPr id="5" name="页脚占位符 4">
            <a:extLst>
              <a:ext uri="{FF2B5EF4-FFF2-40B4-BE49-F238E27FC236}">
                <a16:creationId xmlns:a16="http://schemas.microsoft.com/office/drawing/2014/main" id="{4DD2D3E4-DE28-F096-2D54-28D80A418F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2503BE-AC42-D1D9-502E-48D7BEA2A649}"/>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1788614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C7C38F-CE25-4145-D9D3-DB40717AB8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C25602F-683C-5A84-A044-936C43E50DB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371C45E-26C9-8F5A-7646-5B1F38E2425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D983B4F-92E4-04FC-887C-74BAF4CDDE4C}"/>
              </a:ext>
            </a:extLst>
          </p:cNvPr>
          <p:cNvSpPr>
            <a:spLocks noGrp="1"/>
          </p:cNvSpPr>
          <p:nvPr>
            <p:ph type="dt" sz="half" idx="10"/>
          </p:nvPr>
        </p:nvSpPr>
        <p:spPr/>
        <p:txBody>
          <a:bodyPr/>
          <a:lstStyle/>
          <a:p>
            <a:fld id="{244CE80F-BD76-4CB4-8A0C-30BF884E41C4}" type="datetime1">
              <a:rPr lang="zh-CN" altLang="en-US" smtClean="0"/>
              <a:t>2023/9/12</a:t>
            </a:fld>
            <a:endParaRPr lang="zh-CN" altLang="en-US"/>
          </a:p>
        </p:txBody>
      </p:sp>
      <p:sp>
        <p:nvSpPr>
          <p:cNvPr id="6" name="页脚占位符 5">
            <a:extLst>
              <a:ext uri="{FF2B5EF4-FFF2-40B4-BE49-F238E27FC236}">
                <a16:creationId xmlns:a16="http://schemas.microsoft.com/office/drawing/2014/main" id="{1D6864DF-7032-2CAD-26EB-3FB96E873E7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567C27D-17E9-3F22-5006-B9794DBAB4A0}"/>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2863174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C105A-72E1-A7FB-BA23-AC4423049E0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0FCE016-FA9C-BECA-AADD-4838DC0D5D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ACE8B22-122A-8615-3935-E36ED1F1D6E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38AC66E-6A50-B3C5-1A81-D37CAA1C15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7D5B14E-279A-42FE-7811-5760E4653F3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28AC15B-3A6C-1C34-21CD-597872CBEB7F}"/>
              </a:ext>
            </a:extLst>
          </p:cNvPr>
          <p:cNvSpPr>
            <a:spLocks noGrp="1"/>
          </p:cNvSpPr>
          <p:nvPr>
            <p:ph type="dt" sz="half" idx="10"/>
          </p:nvPr>
        </p:nvSpPr>
        <p:spPr/>
        <p:txBody>
          <a:bodyPr/>
          <a:lstStyle/>
          <a:p>
            <a:fld id="{E6AACA2F-7E71-48FB-93DA-71F35FE023FF}" type="datetime1">
              <a:rPr lang="zh-CN" altLang="en-US" smtClean="0"/>
              <a:t>2023/9/12</a:t>
            </a:fld>
            <a:endParaRPr lang="zh-CN" altLang="en-US"/>
          </a:p>
        </p:txBody>
      </p:sp>
      <p:sp>
        <p:nvSpPr>
          <p:cNvPr id="8" name="页脚占位符 7">
            <a:extLst>
              <a:ext uri="{FF2B5EF4-FFF2-40B4-BE49-F238E27FC236}">
                <a16:creationId xmlns:a16="http://schemas.microsoft.com/office/drawing/2014/main" id="{E2DEE1DC-D3F3-69E2-19E4-65F86C716F6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101477A-311E-D9AD-E6A2-1B2EC2246C78}"/>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1255330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8025F5-ACB4-D141-3D22-032F0A05C82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BCF0F18-85A2-6B47-1CA0-34838DCCB733}"/>
              </a:ext>
            </a:extLst>
          </p:cNvPr>
          <p:cNvSpPr>
            <a:spLocks noGrp="1"/>
          </p:cNvSpPr>
          <p:nvPr>
            <p:ph type="dt" sz="half" idx="10"/>
          </p:nvPr>
        </p:nvSpPr>
        <p:spPr/>
        <p:txBody>
          <a:bodyPr/>
          <a:lstStyle/>
          <a:p>
            <a:fld id="{1B9AC5D3-7EF5-4CC3-A8EA-7AEB896D5F99}" type="datetime1">
              <a:rPr lang="zh-CN" altLang="en-US" smtClean="0"/>
              <a:t>2023/9/12</a:t>
            </a:fld>
            <a:endParaRPr lang="zh-CN" altLang="en-US"/>
          </a:p>
        </p:txBody>
      </p:sp>
      <p:sp>
        <p:nvSpPr>
          <p:cNvPr id="4" name="页脚占位符 3">
            <a:extLst>
              <a:ext uri="{FF2B5EF4-FFF2-40B4-BE49-F238E27FC236}">
                <a16:creationId xmlns:a16="http://schemas.microsoft.com/office/drawing/2014/main" id="{224C2A38-CB9F-B3C0-4C57-8076FF1F8BB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BCBC767-8770-E805-1667-1471AD81E60F}"/>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2887337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43F03D8-CE03-D401-550C-B7A63C8FCC40}"/>
              </a:ext>
            </a:extLst>
          </p:cNvPr>
          <p:cNvSpPr>
            <a:spLocks noGrp="1"/>
          </p:cNvSpPr>
          <p:nvPr>
            <p:ph type="dt" sz="half" idx="10"/>
          </p:nvPr>
        </p:nvSpPr>
        <p:spPr/>
        <p:txBody>
          <a:bodyPr/>
          <a:lstStyle/>
          <a:p>
            <a:fld id="{62B85160-CC0F-4FA2-B304-98AA9C23D4A0}" type="datetime1">
              <a:rPr lang="zh-CN" altLang="en-US" smtClean="0"/>
              <a:t>2023/9/12</a:t>
            </a:fld>
            <a:endParaRPr lang="zh-CN" altLang="en-US"/>
          </a:p>
        </p:txBody>
      </p:sp>
      <p:sp>
        <p:nvSpPr>
          <p:cNvPr id="3" name="页脚占位符 2">
            <a:extLst>
              <a:ext uri="{FF2B5EF4-FFF2-40B4-BE49-F238E27FC236}">
                <a16:creationId xmlns:a16="http://schemas.microsoft.com/office/drawing/2014/main" id="{FFB626FF-EDC9-72C7-C019-DA0799355D8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962F979-F801-5C14-0185-A0B8D2841A99}"/>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473520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100F58-B2BB-A3E9-AC22-6BCEB133F68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C896A36-F820-F675-9E33-627A7E34D8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8F43012-EAA4-C3DA-6E8A-34360C282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1F55EC0-4D17-B171-3536-A1EB285161C4}"/>
              </a:ext>
            </a:extLst>
          </p:cNvPr>
          <p:cNvSpPr>
            <a:spLocks noGrp="1"/>
          </p:cNvSpPr>
          <p:nvPr>
            <p:ph type="dt" sz="half" idx="10"/>
          </p:nvPr>
        </p:nvSpPr>
        <p:spPr/>
        <p:txBody>
          <a:bodyPr/>
          <a:lstStyle/>
          <a:p>
            <a:fld id="{ABF8C572-C8D8-43E6-9273-A230BD71E522}" type="datetime1">
              <a:rPr lang="zh-CN" altLang="en-US" smtClean="0"/>
              <a:t>2023/9/12</a:t>
            </a:fld>
            <a:endParaRPr lang="zh-CN" altLang="en-US"/>
          </a:p>
        </p:txBody>
      </p:sp>
      <p:sp>
        <p:nvSpPr>
          <p:cNvPr id="6" name="页脚占位符 5">
            <a:extLst>
              <a:ext uri="{FF2B5EF4-FFF2-40B4-BE49-F238E27FC236}">
                <a16:creationId xmlns:a16="http://schemas.microsoft.com/office/drawing/2014/main" id="{52B0DF7D-392A-0A96-FBDD-D146F8398D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00D2149-40FA-42CD-3E03-05121F43AADD}"/>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1413460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28F2D-9B9B-279E-BEA0-FB769C16754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24CFC4D-9F5B-C409-20D8-665F188B69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8745EBE-429E-B23F-9E00-93C96DD0B2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DCFFDA4-68A9-524B-E65A-0774EB6F9DBF}"/>
              </a:ext>
            </a:extLst>
          </p:cNvPr>
          <p:cNvSpPr>
            <a:spLocks noGrp="1"/>
          </p:cNvSpPr>
          <p:nvPr>
            <p:ph type="dt" sz="half" idx="10"/>
          </p:nvPr>
        </p:nvSpPr>
        <p:spPr/>
        <p:txBody>
          <a:bodyPr/>
          <a:lstStyle/>
          <a:p>
            <a:fld id="{F1C36FA6-3B61-43BE-8F95-776EE3E99A1A}" type="datetime1">
              <a:rPr lang="zh-CN" altLang="en-US" smtClean="0"/>
              <a:t>2023/9/12</a:t>
            </a:fld>
            <a:endParaRPr lang="zh-CN" altLang="en-US"/>
          </a:p>
        </p:txBody>
      </p:sp>
      <p:sp>
        <p:nvSpPr>
          <p:cNvPr id="6" name="页脚占位符 5">
            <a:extLst>
              <a:ext uri="{FF2B5EF4-FFF2-40B4-BE49-F238E27FC236}">
                <a16:creationId xmlns:a16="http://schemas.microsoft.com/office/drawing/2014/main" id="{A234A8F9-E2FA-F926-7AFD-876770AFF9F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738EB5A-D044-55CD-A547-118232480BCD}"/>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4096970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668C23-FADD-DDD6-5985-0DCDADA1011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B7F3CD3-53B5-0A0E-9694-037C9E1BA31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067B4F-2364-F0D7-9FDB-04A2379173C5}"/>
              </a:ext>
            </a:extLst>
          </p:cNvPr>
          <p:cNvSpPr>
            <a:spLocks noGrp="1"/>
          </p:cNvSpPr>
          <p:nvPr>
            <p:ph type="dt" sz="half" idx="10"/>
          </p:nvPr>
        </p:nvSpPr>
        <p:spPr/>
        <p:txBody>
          <a:bodyPr/>
          <a:lstStyle/>
          <a:p>
            <a:fld id="{AF3AB02E-6FC0-445D-B664-149876F9D1FC}" type="datetime1">
              <a:rPr lang="zh-CN" altLang="en-US" smtClean="0"/>
              <a:t>2023/9/12</a:t>
            </a:fld>
            <a:endParaRPr lang="zh-CN" altLang="en-US"/>
          </a:p>
        </p:txBody>
      </p:sp>
      <p:sp>
        <p:nvSpPr>
          <p:cNvPr id="5" name="页脚占位符 4">
            <a:extLst>
              <a:ext uri="{FF2B5EF4-FFF2-40B4-BE49-F238E27FC236}">
                <a16:creationId xmlns:a16="http://schemas.microsoft.com/office/drawing/2014/main" id="{17E33310-3ACA-A824-EA40-669510EC1C5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736CC1-C84A-02D1-3E7E-2C80F1DD17F8}"/>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2575524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3AA9F4F-653A-E0DE-B003-D0578AA5723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FCD79C2-C651-A6B0-3F7E-6E4E4FB6CE3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6B7443B-8F51-1EAD-5375-3E5AE35C4520}"/>
              </a:ext>
            </a:extLst>
          </p:cNvPr>
          <p:cNvSpPr>
            <a:spLocks noGrp="1"/>
          </p:cNvSpPr>
          <p:nvPr>
            <p:ph type="dt" sz="half" idx="10"/>
          </p:nvPr>
        </p:nvSpPr>
        <p:spPr/>
        <p:txBody>
          <a:bodyPr/>
          <a:lstStyle/>
          <a:p>
            <a:fld id="{8D9D76D5-07E6-45A6-942C-9CCC9AFD8F5F}" type="datetime1">
              <a:rPr lang="zh-CN" altLang="en-US" smtClean="0"/>
              <a:t>2023/9/12</a:t>
            </a:fld>
            <a:endParaRPr lang="zh-CN" altLang="en-US"/>
          </a:p>
        </p:txBody>
      </p:sp>
      <p:sp>
        <p:nvSpPr>
          <p:cNvPr id="5" name="页脚占位符 4">
            <a:extLst>
              <a:ext uri="{FF2B5EF4-FFF2-40B4-BE49-F238E27FC236}">
                <a16:creationId xmlns:a16="http://schemas.microsoft.com/office/drawing/2014/main" id="{26471399-F7BA-30C5-08CA-3465275C02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58B7EE0-C29E-A473-B365-0031DB306779}"/>
              </a:ext>
            </a:extLst>
          </p:cNvPr>
          <p:cNvSpPr>
            <a:spLocks noGrp="1"/>
          </p:cNvSpPr>
          <p:nvPr>
            <p:ph type="sldNum" sz="quarter" idx="12"/>
          </p:nvPr>
        </p:nvSpPr>
        <p:spPr/>
        <p:txBody>
          <a:body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199171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92DF802-D1EF-9BBA-A08F-2CECAC67F0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770C1F9-4F8E-BC02-3687-C53AEFF474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497CB1D-62A4-EB22-F70E-D7A3B6698B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18581A-DBF8-4C00-9EE6-6A99A001AEEC}" type="datetime1">
              <a:rPr lang="zh-CN" altLang="en-US" smtClean="0"/>
              <a:t>2023/9/12</a:t>
            </a:fld>
            <a:endParaRPr lang="zh-CN" altLang="en-US"/>
          </a:p>
        </p:txBody>
      </p:sp>
      <p:sp>
        <p:nvSpPr>
          <p:cNvPr id="5" name="页脚占位符 4">
            <a:extLst>
              <a:ext uri="{FF2B5EF4-FFF2-40B4-BE49-F238E27FC236}">
                <a16:creationId xmlns:a16="http://schemas.microsoft.com/office/drawing/2014/main" id="{24350829-31A0-7E58-F3FF-197034CC9F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96437DE-ABEE-8AF7-9F83-BD73692BA5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C2FC51-C576-4AC2-B2AD-27ED51AD41C7}" type="slidenum">
              <a:rPr lang="zh-CN" altLang="en-US" smtClean="0"/>
              <a:t>‹#›</a:t>
            </a:fld>
            <a:endParaRPr lang="zh-CN" altLang="en-US"/>
          </a:p>
        </p:txBody>
      </p:sp>
    </p:spTree>
    <p:extLst>
      <p:ext uri="{BB962C8B-B14F-4D97-AF65-F5344CB8AC3E}">
        <p14:creationId xmlns:p14="http://schemas.microsoft.com/office/powerpoint/2010/main" val="2386741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6.png"/><Relationship Id="rId5" Type="http://schemas.openxmlformats.org/officeDocument/2006/relationships/image" Target="../media/image11.jpeg"/><Relationship Id="rId10" Type="http://schemas.openxmlformats.org/officeDocument/2006/relationships/image" Target="../media/image15.png"/><Relationship Id="rId4" Type="http://schemas.openxmlformats.org/officeDocument/2006/relationships/image" Target="../media/image4.png"/><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7.jfi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8" Type="http://schemas.openxmlformats.org/officeDocument/2006/relationships/image" Target="../media/image54.jpg"/><Relationship Id="rId3" Type="http://schemas.openxmlformats.org/officeDocument/2006/relationships/image" Target="../media/image49.jpg"/><Relationship Id="rId7"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9.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05C767C-A8E2-7002-2E83-F8D519FD2601}"/>
              </a:ext>
            </a:extLst>
          </p:cNvPr>
          <p:cNvSpPr/>
          <p:nvPr/>
        </p:nvSpPr>
        <p:spPr>
          <a:xfrm>
            <a:off x="491230" y="1998778"/>
            <a:ext cx="11131565" cy="1200329"/>
          </a:xfrm>
          <a:prstGeom prst="rect">
            <a:avLst/>
          </a:prstGeom>
        </p:spPr>
        <p:txBody>
          <a:bodyPr wrap="square">
            <a:spAutoFit/>
          </a:bodyPr>
          <a:lstStyle/>
          <a:p>
            <a:pPr algn="ctr"/>
            <a:r>
              <a:rPr lang="en-US" altLang="zh-CN" sz="3600" b="1" dirty="0" err="1">
                <a:latin typeface="Arial" panose="020B0604020202020204" pitchFamily="34" charset="0"/>
                <a:ea typeface="Sathu" charset="-34"/>
                <a:cs typeface="Arial" panose="020B0604020202020204" pitchFamily="34" charset="0"/>
              </a:rPr>
              <a:t>mmHawkeye</a:t>
            </a:r>
            <a:r>
              <a:rPr lang="zh-CN" altLang="en-US" sz="3600" b="1" dirty="0">
                <a:latin typeface="Arial" panose="020B0604020202020204" pitchFamily="34" charset="0"/>
                <a:ea typeface="Sathu" charset="-34"/>
                <a:cs typeface="Arial" panose="020B0604020202020204" pitchFamily="34" charset="0"/>
              </a:rPr>
              <a:t>: </a:t>
            </a:r>
            <a:r>
              <a:rPr lang="en-US" altLang="zh-CN" sz="3600" b="1" dirty="0">
                <a:latin typeface="Arial" panose="020B0604020202020204" pitchFamily="34" charset="0"/>
                <a:ea typeface="Sathu" charset="-34"/>
                <a:cs typeface="Arial" panose="020B0604020202020204" pitchFamily="34" charset="0"/>
              </a:rPr>
              <a:t>Passive UAV Detection with </a:t>
            </a:r>
          </a:p>
          <a:p>
            <a:pPr algn="ctr"/>
            <a:r>
              <a:rPr lang="en-US" altLang="zh-CN" sz="3600" b="1" dirty="0">
                <a:latin typeface="Arial" panose="020B0604020202020204" pitchFamily="34" charset="0"/>
                <a:ea typeface="Sathu" charset="-34"/>
                <a:cs typeface="Arial" panose="020B0604020202020204" pitchFamily="34" charset="0"/>
              </a:rPr>
              <a:t>a COTS </a:t>
            </a:r>
            <a:r>
              <a:rPr lang="en-US" altLang="zh-CN" sz="3600" b="1" dirty="0">
                <a:latin typeface="Arial" panose="020B0604020202020204" pitchFamily="34" charset="0"/>
                <a:cs typeface="Arial" panose="020B0604020202020204" pitchFamily="34" charset="0"/>
              </a:rPr>
              <a:t>mmWave Radar</a:t>
            </a:r>
            <a:endParaRPr lang="zh-CN" altLang="en-US" sz="36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1897FBD4-E049-9EFB-B43F-24198ED09F9F}"/>
              </a:ext>
            </a:extLst>
          </p:cNvPr>
          <p:cNvSpPr txBox="1">
            <a:spLocks/>
          </p:cNvSpPr>
          <p:nvPr/>
        </p:nvSpPr>
        <p:spPr>
          <a:xfrm>
            <a:off x="1941805" y="4131405"/>
            <a:ext cx="8113078" cy="231798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400" b="1" dirty="0">
                <a:latin typeface="Seravek" charset="0"/>
                <a:ea typeface="Seravek" charset="0"/>
                <a:cs typeface="Seravek" charset="0"/>
              </a:rPr>
              <a:t>Jia Zhang</a:t>
            </a:r>
            <a:r>
              <a:rPr lang="en-US" altLang="zh-CN" sz="2400" b="1" baseline="30000" dirty="0">
                <a:latin typeface="Seravek" charset="0"/>
                <a:ea typeface="Seravek" charset="0"/>
                <a:cs typeface="Seravek" charset="0"/>
              </a:rPr>
              <a:t>1</a:t>
            </a:r>
            <a:r>
              <a:rPr lang="en-US" altLang="zh-CN" sz="2400" dirty="0">
                <a:latin typeface="Seravek" charset="0"/>
                <a:ea typeface="Seravek" charset="0"/>
                <a:cs typeface="Seravek" charset="0"/>
              </a:rPr>
              <a:t>, Xin Na</a:t>
            </a:r>
            <a:r>
              <a:rPr lang="en-US" altLang="zh-CN" sz="2400" baseline="30000" dirty="0">
                <a:latin typeface="Seravek" charset="0"/>
                <a:ea typeface="Seravek" charset="0"/>
                <a:cs typeface="Seravek" charset="0"/>
              </a:rPr>
              <a:t>1</a:t>
            </a:r>
            <a:r>
              <a:rPr lang="en-US" altLang="zh-CN" sz="2400" dirty="0">
                <a:latin typeface="Seravek" charset="0"/>
                <a:ea typeface="Seravek" charset="0"/>
                <a:cs typeface="Seravek" charset="0"/>
              </a:rPr>
              <a:t>, Rui Xi</a:t>
            </a:r>
            <a:r>
              <a:rPr lang="en-US" altLang="zh-CN" sz="2400" baseline="30000" dirty="0">
                <a:latin typeface="Seravek" charset="0"/>
                <a:ea typeface="Seravek" charset="0"/>
                <a:cs typeface="Seravek" charset="0"/>
              </a:rPr>
              <a:t>2</a:t>
            </a:r>
            <a:r>
              <a:rPr lang="en-US" altLang="zh-CN" sz="2400" dirty="0">
                <a:latin typeface="Seravek" charset="0"/>
                <a:ea typeface="Seravek" charset="0"/>
                <a:cs typeface="Seravek" charset="0"/>
              </a:rPr>
              <a:t>, </a:t>
            </a:r>
            <a:r>
              <a:rPr lang="en-US" altLang="zh-CN" sz="2400" dirty="0" err="1">
                <a:latin typeface="Seravek" charset="0"/>
                <a:ea typeface="Seravek" charset="0"/>
                <a:cs typeface="Seravek" charset="0"/>
              </a:rPr>
              <a:t>Yimiao</a:t>
            </a:r>
            <a:r>
              <a:rPr lang="en-US" altLang="zh-CN" sz="2400" dirty="0">
                <a:latin typeface="Seravek" charset="0"/>
                <a:ea typeface="Seravek" charset="0"/>
                <a:cs typeface="Seravek" charset="0"/>
              </a:rPr>
              <a:t> Sun</a:t>
            </a:r>
            <a:r>
              <a:rPr lang="en-US" altLang="zh-CN" sz="2400" baseline="30000" dirty="0">
                <a:latin typeface="Seravek" charset="0"/>
                <a:ea typeface="Seravek" charset="0"/>
                <a:cs typeface="Seravek" charset="0"/>
              </a:rPr>
              <a:t>1</a:t>
            </a:r>
            <a:r>
              <a:rPr lang="en-US" altLang="zh-CN" sz="2400" dirty="0">
                <a:latin typeface="Seravek" charset="0"/>
                <a:ea typeface="Seravek" charset="0"/>
                <a:cs typeface="Seravek" charset="0"/>
              </a:rPr>
              <a:t>, Yuan He</a:t>
            </a:r>
            <a:r>
              <a:rPr lang="en-US" altLang="zh-CN" sz="2400" baseline="30000" dirty="0">
                <a:latin typeface="Seravek" charset="0"/>
                <a:ea typeface="Seravek" charset="0"/>
                <a:cs typeface="Seravek" charset="0"/>
              </a:rPr>
              <a:t>1</a:t>
            </a:r>
            <a:endParaRPr lang="en-US" altLang="zh-CN" sz="2400" dirty="0">
              <a:latin typeface="Seravek" charset="0"/>
              <a:ea typeface="Seravek" charset="0"/>
              <a:cs typeface="Seravek" charset="0"/>
            </a:endParaRPr>
          </a:p>
          <a:p>
            <a:pPr marL="0" indent="0" algn="ctr">
              <a:spcBef>
                <a:spcPts val="1800"/>
              </a:spcBef>
              <a:buNone/>
            </a:pPr>
            <a:r>
              <a:rPr lang="en-US" altLang="zh-CN" sz="2400" b="1" baseline="30000" dirty="0">
                <a:latin typeface="Seravek" charset="0"/>
                <a:ea typeface="Seravek" charset="0"/>
                <a:cs typeface="Seravek" charset="0"/>
              </a:rPr>
              <a:t>1</a:t>
            </a:r>
            <a:r>
              <a:rPr lang="en-US" altLang="zh-CN" sz="2400" b="1" dirty="0">
                <a:latin typeface="Seravek" charset="0"/>
                <a:ea typeface="Seravek" charset="0"/>
                <a:cs typeface="Seravek" charset="0"/>
              </a:rPr>
              <a:t>Tsinghua</a:t>
            </a:r>
            <a:r>
              <a:rPr lang="en-US" sz="2400" b="1" dirty="0">
                <a:latin typeface="Seravek" charset="0"/>
                <a:ea typeface="Seravek" charset="0"/>
                <a:cs typeface="Seravek" charset="0"/>
              </a:rPr>
              <a:t> University</a:t>
            </a:r>
          </a:p>
          <a:p>
            <a:pPr marL="0" indent="0" algn="ctr">
              <a:spcBef>
                <a:spcPts val="0"/>
              </a:spcBef>
              <a:spcAft>
                <a:spcPts val="1200"/>
              </a:spcAft>
              <a:buNone/>
            </a:pPr>
            <a:r>
              <a:rPr lang="en-US" altLang="zh-CN" sz="2400" b="1" baseline="30000" dirty="0">
                <a:latin typeface="Seravek" charset="0"/>
                <a:ea typeface="Seravek" charset="0"/>
                <a:cs typeface="Seravek" charset="0"/>
              </a:rPr>
              <a:t>2</a:t>
            </a:r>
            <a:r>
              <a:rPr lang="en-US" altLang="zh-CN" sz="2400" b="1" dirty="0">
                <a:latin typeface="Seravek" charset="0"/>
              </a:rPr>
              <a:t>University of Electronic Science and Technology of China </a:t>
            </a:r>
            <a:br>
              <a:rPr lang="en-US" altLang="zh-CN" sz="1400" dirty="0"/>
            </a:br>
            <a:endParaRPr lang="en-US" sz="2400" b="1" dirty="0">
              <a:latin typeface="Seravek" charset="0"/>
              <a:ea typeface="Seravek" charset="0"/>
              <a:cs typeface="Seravek" charset="0"/>
            </a:endParaRPr>
          </a:p>
        </p:txBody>
      </p:sp>
      <p:pic>
        <p:nvPicPr>
          <p:cNvPr id="4" name="图片 3">
            <a:extLst>
              <a:ext uri="{FF2B5EF4-FFF2-40B4-BE49-F238E27FC236}">
                <a16:creationId xmlns:a16="http://schemas.microsoft.com/office/drawing/2014/main" id="{C1979144-9B87-5E21-D324-761B1F07F10A}"/>
              </a:ext>
            </a:extLst>
          </p:cNvPr>
          <p:cNvPicPr>
            <a:picLocks noChangeAspect="1"/>
          </p:cNvPicPr>
          <p:nvPr/>
        </p:nvPicPr>
        <p:blipFill>
          <a:blip r:embed="rId3"/>
          <a:stretch>
            <a:fillRect/>
          </a:stretch>
        </p:blipFill>
        <p:spPr>
          <a:xfrm>
            <a:off x="552118" y="135017"/>
            <a:ext cx="1246287" cy="1241169"/>
          </a:xfrm>
          <a:prstGeom prst="rect">
            <a:avLst/>
          </a:prstGeom>
        </p:spPr>
      </p:pic>
      <p:pic>
        <p:nvPicPr>
          <p:cNvPr id="11" name="图片 10">
            <a:extLst>
              <a:ext uri="{FF2B5EF4-FFF2-40B4-BE49-F238E27FC236}">
                <a16:creationId xmlns:a16="http://schemas.microsoft.com/office/drawing/2014/main" id="{69ED16F9-7F42-FC91-7EDD-B9001C664E6D}"/>
              </a:ext>
            </a:extLst>
          </p:cNvPr>
          <p:cNvPicPr>
            <a:picLocks noChangeAspect="1"/>
          </p:cNvPicPr>
          <p:nvPr/>
        </p:nvPicPr>
        <p:blipFill rotWithShape="1">
          <a:blip r:embed="rId4">
            <a:extLst>
              <a:ext uri="{28A0092B-C50C-407E-A947-70E740481C1C}">
                <a14:useLocalDpi xmlns:a14="http://schemas.microsoft.com/office/drawing/2010/main" val="0"/>
              </a:ext>
            </a:extLst>
          </a:blip>
          <a:srcRect r="71396"/>
          <a:stretch/>
        </p:blipFill>
        <p:spPr>
          <a:xfrm>
            <a:off x="1880609" y="83267"/>
            <a:ext cx="1427030" cy="1339897"/>
          </a:xfrm>
          <a:prstGeom prst="rect">
            <a:avLst/>
          </a:prstGeom>
        </p:spPr>
      </p:pic>
      <p:pic>
        <p:nvPicPr>
          <p:cNvPr id="7" name="Picture 8" descr="DJI - Official Website">
            <a:extLst>
              <a:ext uri="{FF2B5EF4-FFF2-40B4-BE49-F238E27FC236}">
                <a16:creationId xmlns:a16="http://schemas.microsoft.com/office/drawing/2014/main" id="{A98CBEFF-CFE7-3629-45E0-5E1CA4D5F67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023" t="29574" r="8774" b="30267"/>
          <a:stretch/>
        </p:blipFill>
        <p:spPr bwMode="auto">
          <a:xfrm rot="653482">
            <a:off x="9442272" y="513190"/>
            <a:ext cx="2015115" cy="958015"/>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280A51B9-2FEB-67A3-FDAC-D34D573982C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2617" y="4879573"/>
            <a:ext cx="2048190" cy="1494869"/>
          </a:xfrm>
          <a:prstGeom prst="rect">
            <a:avLst/>
          </a:prstGeom>
        </p:spPr>
      </p:pic>
    </p:spTree>
    <p:extLst>
      <p:ext uri="{BB962C8B-B14F-4D97-AF65-F5344CB8AC3E}">
        <p14:creationId xmlns:p14="http://schemas.microsoft.com/office/powerpoint/2010/main" val="4019896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The potential threat of small UAVs</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11" name="文本框 10">
            <a:extLst>
              <a:ext uri="{FF2B5EF4-FFF2-40B4-BE49-F238E27FC236}">
                <a16:creationId xmlns:a16="http://schemas.microsoft.com/office/drawing/2014/main" id="{AE4F0DC0-BA5A-D99E-A34A-44032D2DA35A}"/>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1/18</a:t>
            </a:r>
            <a:endParaRPr lang="zh-CN" altLang="en-US" sz="2000" b="1" dirty="0">
              <a:solidFill>
                <a:srgbClr val="757575"/>
              </a:solidFill>
              <a:latin typeface="Seravek"/>
            </a:endParaRPr>
          </a:p>
        </p:txBody>
      </p:sp>
      <p:pic>
        <p:nvPicPr>
          <p:cNvPr id="3" name="图片 2">
            <a:extLst>
              <a:ext uri="{FF2B5EF4-FFF2-40B4-BE49-F238E27FC236}">
                <a16:creationId xmlns:a16="http://schemas.microsoft.com/office/drawing/2014/main" id="{744B4E6A-9044-6D5A-8DDA-6F935EAC9035}"/>
              </a:ext>
            </a:extLst>
          </p:cNvPr>
          <p:cNvPicPr>
            <a:picLocks noChangeAspect="1"/>
          </p:cNvPicPr>
          <p:nvPr/>
        </p:nvPicPr>
        <p:blipFill>
          <a:blip r:embed="rId3"/>
          <a:stretch>
            <a:fillRect/>
          </a:stretch>
        </p:blipFill>
        <p:spPr>
          <a:xfrm>
            <a:off x="553747" y="3373807"/>
            <a:ext cx="3319884" cy="1998132"/>
          </a:xfrm>
          <a:prstGeom prst="rect">
            <a:avLst/>
          </a:prstGeom>
        </p:spPr>
      </p:pic>
      <p:pic>
        <p:nvPicPr>
          <p:cNvPr id="6" name="图片 5">
            <a:extLst>
              <a:ext uri="{FF2B5EF4-FFF2-40B4-BE49-F238E27FC236}">
                <a16:creationId xmlns:a16="http://schemas.microsoft.com/office/drawing/2014/main" id="{8DA3CE8B-82C4-D36F-75CE-135AC302FCC7}"/>
              </a:ext>
            </a:extLst>
          </p:cNvPr>
          <p:cNvPicPr>
            <a:picLocks noChangeAspect="1"/>
          </p:cNvPicPr>
          <p:nvPr/>
        </p:nvPicPr>
        <p:blipFill>
          <a:blip r:embed="rId4"/>
          <a:stretch>
            <a:fillRect/>
          </a:stretch>
        </p:blipFill>
        <p:spPr>
          <a:xfrm>
            <a:off x="4529985" y="2908142"/>
            <a:ext cx="3997651" cy="3479800"/>
          </a:xfrm>
          <a:prstGeom prst="rect">
            <a:avLst/>
          </a:prstGeom>
        </p:spPr>
      </p:pic>
      <p:pic>
        <p:nvPicPr>
          <p:cNvPr id="7" name="图片 6">
            <a:extLst>
              <a:ext uri="{FF2B5EF4-FFF2-40B4-BE49-F238E27FC236}">
                <a16:creationId xmlns:a16="http://schemas.microsoft.com/office/drawing/2014/main" id="{6B1BF5F8-EAD9-0510-CD49-262FD23C4E91}"/>
              </a:ext>
            </a:extLst>
          </p:cNvPr>
          <p:cNvPicPr>
            <a:picLocks noChangeAspect="1"/>
          </p:cNvPicPr>
          <p:nvPr/>
        </p:nvPicPr>
        <p:blipFill rotWithShape="1">
          <a:blip r:embed="rId5"/>
          <a:srcRect r="2363"/>
          <a:stretch/>
        </p:blipFill>
        <p:spPr>
          <a:xfrm>
            <a:off x="2708240" y="4005142"/>
            <a:ext cx="4482571" cy="2544724"/>
          </a:xfrm>
          <a:prstGeom prst="rect">
            <a:avLst/>
          </a:prstGeom>
        </p:spPr>
      </p:pic>
      <p:pic>
        <p:nvPicPr>
          <p:cNvPr id="8" name="图片 7">
            <a:extLst>
              <a:ext uri="{FF2B5EF4-FFF2-40B4-BE49-F238E27FC236}">
                <a16:creationId xmlns:a16="http://schemas.microsoft.com/office/drawing/2014/main" id="{B7D99AC4-91B1-44A2-3234-EB721F407FC1}"/>
              </a:ext>
            </a:extLst>
          </p:cNvPr>
          <p:cNvPicPr>
            <a:picLocks noChangeAspect="1"/>
          </p:cNvPicPr>
          <p:nvPr/>
        </p:nvPicPr>
        <p:blipFill>
          <a:blip r:embed="rId6"/>
          <a:stretch>
            <a:fillRect/>
          </a:stretch>
        </p:blipFill>
        <p:spPr>
          <a:xfrm>
            <a:off x="8275588" y="1499001"/>
            <a:ext cx="3436575" cy="3497943"/>
          </a:xfrm>
          <a:prstGeom prst="rect">
            <a:avLst/>
          </a:prstGeom>
        </p:spPr>
      </p:pic>
      <p:sp>
        <p:nvSpPr>
          <p:cNvPr id="2" name="文本框 1">
            <a:extLst>
              <a:ext uri="{FF2B5EF4-FFF2-40B4-BE49-F238E27FC236}">
                <a16:creationId xmlns:a16="http://schemas.microsoft.com/office/drawing/2014/main" id="{292C55D3-6BDF-FA24-F89B-10000F3CA56A}"/>
              </a:ext>
            </a:extLst>
          </p:cNvPr>
          <p:cNvSpPr txBox="1"/>
          <p:nvPr/>
        </p:nvSpPr>
        <p:spPr>
          <a:xfrm>
            <a:off x="880900" y="1430105"/>
            <a:ext cx="6094602" cy="1569660"/>
          </a:xfrm>
          <a:prstGeom prst="rect">
            <a:avLst/>
          </a:prstGeom>
          <a:noFill/>
        </p:spPr>
        <p:txBody>
          <a:bodyPr wrap="square">
            <a:spAutoFit/>
          </a:bodyPr>
          <a:lstStyle/>
          <a:p>
            <a:pPr marL="342900" indent="-342900">
              <a:buFont typeface="Wingdings" panose="05000000000000000000" pitchFamily="2" charset="2"/>
              <a:buChar char="l"/>
            </a:pPr>
            <a:r>
              <a:rPr lang="en-US" altLang="zh-CN" sz="2400" dirty="0">
                <a:latin typeface="Seravek"/>
              </a:rPr>
              <a:t>Intrusion into personal space</a:t>
            </a:r>
          </a:p>
          <a:p>
            <a:pPr marL="342900" indent="-342900">
              <a:buFont typeface="Wingdings" panose="05000000000000000000" pitchFamily="2" charset="2"/>
              <a:buChar char="l"/>
            </a:pPr>
            <a:r>
              <a:rPr lang="en-US" altLang="zh-CN" sz="2400" dirty="0">
                <a:latin typeface="Seravek"/>
              </a:rPr>
              <a:t>Illegal item delivery</a:t>
            </a:r>
          </a:p>
          <a:p>
            <a:pPr marL="342900" indent="-342900">
              <a:buFont typeface="Wingdings" panose="05000000000000000000" pitchFamily="2" charset="2"/>
              <a:buChar char="l"/>
            </a:pPr>
            <a:r>
              <a:rPr lang="en-US" altLang="zh-CN" sz="2400" dirty="0">
                <a:latin typeface="Seravek"/>
              </a:rPr>
              <a:t>Public safety threat</a:t>
            </a:r>
          </a:p>
          <a:p>
            <a:pPr marL="342900" indent="-342900">
              <a:buFont typeface="Wingdings" panose="05000000000000000000" pitchFamily="2" charset="2"/>
              <a:buChar char="l"/>
            </a:pPr>
            <a:r>
              <a:rPr lang="en-US" altLang="zh-CN" sz="2400" dirty="0">
                <a:latin typeface="Seravek"/>
              </a:rPr>
              <a:t>Human injury</a:t>
            </a:r>
            <a:endParaRPr lang="en-US" altLang="zh-CN" sz="2400" dirty="0"/>
          </a:p>
        </p:txBody>
      </p:sp>
    </p:spTree>
    <p:extLst>
      <p:ext uri="{BB962C8B-B14F-4D97-AF65-F5344CB8AC3E}">
        <p14:creationId xmlns:p14="http://schemas.microsoft.com/office/powerpoint/2010/main" val="27938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The potential threat of small UAVs</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11" name="文本框 10">
            <a:extLst>
              <a:ext uri="{FF2B5EF4-FFF2-40B4-BE49-F238E27FC236}">
                <a16:creationId xmlns:a16="http://schemas.microsoft.com/office/drawing/2014/main" id="{AE4F0DC0-BA5A-D99E-A34A-44032D2DA35A}"/>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1/18</a:t>
            </a:r>
            <a:endParaRPr lang="zh-CN" altLang="en-US" sz="2000" b="1" dirty="0">
              <a:solidFill>
                <a:srgbClr val="757575"/>
              </a:solidFill>
              <a:latin typeface="Seravek"/>
            </a:endParaRPr>
          </a:p>
        </p:txBody>
      </p:sp>
      <p:pic>
        <p:nvPicPr>
          <p:cNvPr id="3" name="图片 2">
            <a:extLst>
              <a:ext uri="{FF2B5EF4-FFF2-40B4-BE49-F238E27FC236}">
                <a16:creationId xmlns:a16="http://schemas.microsoft.com/office/drawing/2014/main" id="{744B4E6A-9044-6D5A-8DDA-6F935EAC9035}"/>
              </a:ext>
            </a:extLst>
          </p:cNvPr>
          <p:cNvPicPr>
            <a:picLocks noChangeAspect="1"/>
          </p:cNvPicPr>
          <p:nvPr/>
        </p:nvPicPr>
        <p:blipFill>
          <a:blip r:embed="rId3"/>
          <a:stretch>
            <a:fillRect/>
          </a:stretch>
        </p:blipFill>
        <p:spPr>
          <a:xfrm>
            <a:off x="553747" y="3373807"/>
            <a:ext cx="3319884" cy="1998132"/>
          </a:xfrm>
          <a:prstGeom prst="rect">
            <a:avLst/>
          </a:prstGeom>
        </p:spPr>
      </p:pic>
      <p:pic>
        <p:nvPicPr>
          <p:cNvPr id="6" name="图片 5">
            <a:extLst>
              <a:ext uri="{FF2B5EF4-FFF2-40B4-BE49-F238E27FC236}">
                <a16:creationId xmlns:a16="http://schemas.microsoft.com/office/drawing/2014/main" id="{8DA3CE8B-82C4-D36F-75CE-135AC302FCC7}"/>
              </a:ext>
            </a:extLst>
          </p:cNvPr>
          <p:cNvPicPr>
            <a:picLocks noChangeAspect="1"/>
          </p:cNvPicPr>
          <p:nvPr/>
        </p:nvPicPr>
        <p:blipFill>
          <a:blip r:embed="rId4"/>
          <a:stretch>
            <a:fillRect/>
          </a:stretch>
        </p:blipFill>
        <p:spPr>
          <a:xfrm>
            <a:off x="4529985" y="2908142"/>
            <a:ext cx="3997651" cy="3479800"/>
          </a:xfrm>
          <a:prstGeom prst="rect">
            <a:avLst/>
          </a:prstGeom>
        </p:spPr>
      </p:pic>
      <p:pic>
        <p:nvPicPr>
          <p:cNvPr id="7" name="图片 6">
            <a:extLst>
              <a:ext uri="{FF2B5EF4-FFF2-40B4-BE49-F238E27FC236}">
                <a16:creationId xmlns:a16="http://schemas.microsoft.com/office/drawing/2014/main" id="{6B1BF5F8-EAD9-0510-CD49-262FD23C4E91}"/>
              </a:ext>
            </a:extLst>
          </p:cNvPr>
          <p:cNvPicPr>
            <a:picLocks noChangeAspect="1"/>
          </p:cNvPicPr>
          <p:nvPr/>
        </p:nvPicPr>
        <p:blipFill rotWithShape="1">
          <a:blip r:embed="rId5"/>
          <a:srcRect r="2363"/>
          <a:stretch/>
        </p:blipFill>
        <p:spPr>
          <a:xfrm>
            <a:off x="2708240" y="4005142"/>
            <a:ext cx="4482571" cy="2544724"/>
          </a:xfrm>
          <a:prstGeom prst="rect">
            <a:avLst/>
          </a:prstGeom>
        </p:spPr>
      </p:pic>
      <p:pic>
        <p:nvPicPr>
          <p:cNvPr id="8" name="图片 7">
            <a:extLst>
              <a:ext uri="{FF2B5EF4-FFF2-40B4-BE49-F238E27FC236}">
                <a16:creationId xmlns:a16="http://schemas.microsoft.com/office/drawing/2014/main" id="{B7D99AC4-91B1-44A2-3234-EB721F407FC1}"/>
              </a:ext>
            </a:extLst>
          </p:cNvPr>
          <p:cNvPicPr>
            <a:picLocks noChangeAspect="1"/>
          </p:cNvPicPr>
          <p:nvPr/>
        </p:nvPicPr>
        <p:blipFill>
          <a:blip r:embed="rId6"/>
          <a:stretch>
            <a:fillRect/>
          </a:stretch>
        </p:blipFill>
        <p:spPr>
          <a:xfrm>
            <a:off x="8275588" y="1499001"/>
            <a:ext cx="3436575" cy="3497943"/>
          </a:xfrm>
          <a:prstGeom prst="rect">
            <a:avLst/>
          </a:prstGeom>
        </p:spPr>
      </p:pic>
      <p:sp>
        <p:nvSpPr>
          <p:cNvPr id="2" name="文本框 1">
            <a:extLst>
              <a:ext uri="{FF2B5EF4-FFF2-40B4-BE49-F238E27FC236}">
                <a16:creationId xmlns:a16="http://schemas.microsoft.com/office/drawing/2014/main" id="{292C55D3-6BDF-FA24-F89B-10000F3CA56A}"/>
              </a:ext>
            </a:extLst>
          </p:cNvPr>
          <p:cNvSpPr txBox="1"/>
          <p:nvPr/>
        </p:nvSpPr>
        <p:spPr>
          <a:xfrm>
            <a:off x="880900" y="1430105"/>
            <a:ext cx="6094602" cy="1631216"/>
          </a:xfrm>
          <a:prstGeom prst="rect">
            <a:avLst/>
          </a:prstGeom>
          <a:noFill/>
        </p:spPr>
        <p:txBody>
          <a:bodyPr wrap="square">
            <a:spAutoFit/>
          </a:bodyPr>
          <a:lstStyle/>
          <a:p>
            <a:pPr marL="342900" indent="-342900">
              <a:buFont typeface="Wingdings" panose="05000000000000000000" pitchFamily="2" charset="2"/>
              <a:buChar char="l"/>
            </a:pPr>
            <a:r>
              <a:rPr lang="en-US" altLang="zh-CN" sz="2400" b="1" dirty="0">
                <a:latin typeface="Seravek"/>
              </a:rPr>
              <a:t>Intrusion into personal space</a:t>
            </a:r>
          </a:p>
          <a:p>
            <a:pPr marL="342900" indent="-342900">
              <a:buFont typeface="Wingdings" panose="05000000000000000000" pitchFamily="2" charset="2"/>
              <a:buChar char="l"/>
            </a:pPr>
            <a:r>
              <a:rPr lang="en-US" altLang="zh-CN" sz="2400" dirty="0">
                <a:solidFill>
                  <a:schemeClr val="bg1">
                    <a:lumMod val="75000"/>
                  </a:schemeClr>
                </a:solidFill>
                <a:latin typeface="Seravek"/>
              </a:rPr>
              <a:t>Illegal item delivery</a:t>
            </a:r>
          </a:p>
          <a:p>
            <a:pPr marL="342900" indent="-342900">
              <a:buFont typeface="Wingdings" panose="05000000000000000000" pitchFamily="2" charset="2"/>
              <a:buChar char="l"/>
            </a:pPr>
            <a:r>
              <a:rPr lang="en-US" altLang="zh-CN" sz="2400" dirty="0">
                <a:solidFill>
                  <a:schemeClr val="bg1">
                    <a:lumMod val="75000"/>
                  </a:schemeClr>
                </a:solidFill>
                <a:latin typeface="Seravek"/>
              </a:rPr>
              <a:t>Public safety threat</a:t>
            </a:r>
          </a:p>
          <a:p>
            <a:pPr marL="342900" indent="-342900">
              <a:buFont typeface="Wingdings" panose="05000000000000000000" pitchFamily="2" charset="2"/>
              <a:buChar char="l"/>
            </a:pPr>
            <a:r>
              <a:rPr lang="en-US" altLang="zh-CN" sz="2400" dirty="0">
                <a:solidFill>
                  <a:schemeClr val="bg1">
                    <a:lumMod val="75000"/>
                  </a:schemeClr>
                </a:solidFill>
                <a:latin typeface="Seravek"/>
              </a:rPr>
              <a:t>Human injury</a:t>
            </a:r>
            <a:endParaRPr lang="en-US" altLang="zh-CN" sz="2400" dirty="0">
              <a:solidFill>
                <a:schemeClr val="bg1">
                  <a:lumMod val="75000"/>
                </a:schemeClr>
              </a:solidFill>
            </a:endParaRPr>
          </a:p>
        </p:txBody>
      </p:sp>
    </p:spTree>
    <p:extLst>
      <p:ext uri="{BB962C8B-B14F-4D97-AF65-F5344CB8AC3E}">
        <p14:creationId xmlns:p14="http://schemas.microsoft.com/office/powerpoint/2010/main" val="1507265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Expected performance of UAV detection system</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11" name="文本框 10">
            <a:extLst>
              <a:ext uri="{FF2B5EF4-FFF2-40B4-BE49-F238E27FC236}">
                <a16:creationId xmlns:a16="http://schemas.microsoft.com/office/drawing/2014/main" id="{AE4F0DC0-BA5A-D99E-A34A-44032D2DA35A}"/>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1/18</a:t>
            </a:r>
            <a:endParaRPr lang="zh-CN" altLang="en-US" sz="2000" b="1" dirty="0">
              <a:solidFill>
                <a:srgbClr val="757575"/>
              </a:solidFill>
              <a:latin typeface="Seravek"/>
            </a:endParaRPr>
          </a:p>
        </p:txBody>
      </p:sp>
      <p:sp>
        <p:nvSpPr>
          <p:cNvPr id="5" name="文本框 4">
            <a:extLst>
              <a:ext uri="{FF2B5EF4-FFF2-40B4-BE49-F238E27FC236}">
                <a16:creationId xmlns:a16="http://schemas.microsoft.com/office/drawing/2014/main" id="{AA652271-9DF2-2A13-43B5-54B194BF8F7A}"/>
              </a:ext>
            </a:extLst>
          </p:cNvPr>
          <p:cNvSpPr txBox="1"/>
          <p:nvPr/>
        </p:nvSpPr>
        <p:spPr>
          <a:xfrm>
            <a:off x="1148592" y="1853941"/>
            <a:ext cx="6094602"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Passive detection</a:t>
            </a:r>
            <a:endParaRPr lang="zh-CN" altLang="en-US" sz="2800" dirty="0"/>
          </a:p>
        </p:txBody>
      </p:sp>
      <p:sp>
        <p:nvSpPr>
          <p:cNvPr id="9" name="文本框 8">
            <a:extLst>
              <a:ext uri="{FF2B5EF4-FFF2-40B4-BE49-F238E27FC236}">
                <a16:creationId xmlns:a16="http://schemas.microsoft.com/office/drawing/2014/main" id="{C555D11C-ACDE-3759-5512-D7071153510B}"/>
              </a:ext>
            </a:extLst>
          </p:cNvPr>
          <p:cNvSpPr txBox="1"/>
          <p:nvPr/>
        </p:nvSpPr>
        <p:spPr>
          <a:xfrm>
            <a:off x="1148592" y="2741446"/>
            <a:ext cx="6094602"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Long-distance detection</a:t>
            </a:r>
            <a:endParaRPr lang="zh-CN" altLang="en-US" sz="2800" dirty="0"/>
          </a:p>
        </p:txBody>
      </p:sp>
      <p:sp>
        <p:nvSpPr>
          <p:cNvPr id="10" name="文本框 9">
            <a:extLst>
              <a:ext uri="{FF2B5EF4-FFF2-40B4-BE49-F238E27FC236}">
                <a16:creationId xmlns:a16="http://schemas.microsoft.com/office/drawing/2014/main" id="{A7FCDCB4-73CB-EAF0-236D-83CEFFA03EE0}"/>
              </a:ext>
            </a:extLst>
          </p:cNvPr>
          <p:cNvSpPr txBox="1"/>
          <p:nvPr/>
        </p:nvSpPr>
        <p:spPr>
          <a:xfrm>
            <a:off x="1148592" y="3637917"/>
            <a:ext cx="6094602"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Low-cost and easy to deploy</a:t>
            </a:r>
            <a:endParaRPr lang="zh-CN" altLang="en-US" sz="2800" dirty="0"/>
          </a:p>
        </p:txBody>
      </p:sp>
      <p:sp>
        <p:nvSpPr>
          <p:cNvPr id="12" name="文本框 11">
            <a:extLst>
              <a:ext uri="{FF2B5EF4-FFF2-40B4-BE49-F238E27FC236}">
                <a16:creationId xmlns:a16="http://schemas.microsoft.com/office/drawing/2014/main" id="{AAC97418-8BDD-2511-CA35-C9AD75739532}"/>
              </a:ext>
            </a:extLst>
          </p:cNvPr>
          <p:cNvSpPr txBox="1"/>
          <p:nvPr/>
        </p:nvSpPr>
        <p:spPr>
          <a:xfrm>
            <a:off x="1148592" y="4507492"/>
            <a:ext cx="4669499"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Generic for various UAVs</a:t>
            </a:r>
            <a:endParaRPr lang="zh-CN" altLang="en-US" sz="2800" dirty="0"/>
          </a:p>
        </p:txBody>
      </p:sp>
      <p:pic>
        <p:nvPicPr>
          <p:cNvPr id="20" name="图片 19">
            <a:extLst>
              <a:ext uri="{FF2B5EF4-FFF2-40B4-BE49-F238E27FC236}">
                <a16:creationId xmlns:a16="http://schemas.microsoft.com/office/drawing/2014/main" id="{A0C23B61-9C07-12F9-56A5-3602129C2F1B}"/>
              </a:ext>
            </a:extLst>
          </p:cNvPr>
          <p:cNvPicPr>
            <a:picLocks noChangeAspect="1"/>
          </p:cNvPicPr>
          <p:nvPr/>
        </p:nvPicPr>
        <p:blipFill rotWithShape="1">
          <a:blip r:embed="rId3">
            <a:extLst>
              <a:ext uri="{28A0092B-C50C-407E-A947-70E740481C1C}">
                <a14:useLocalDpi xmlns:a14="http://schemas.microsoft.com/office/drawing/2010/main" val="0"/>
              </a:ext>
            </a:extLst>
          </a:blip>
          <a:srcRect l="28053"/>
          <a:stretch/>
        </p:blipFill>
        <p:spPr>
          <a:xfrm>
            <a:off x="6025830" y="1140402"/>
            <a:ext cx="6166170" cy="5717598"/>
          </a:xfrm>
          <a:prstGeom prst="rect">
            <a:avLst/>
          </a:prstGeom>
        </p:spPr>
      </p:pic>
    </p:spTree>
    <p:extLst>
      <p:ext uri="{BB962C8B-B14F-4D97-AF65-F5344CB8AC3E}">
        <p14:creationId xmlns:p14="http://schemas.microsoft.com/office/powerpoint/2010/main" val="282813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 Potential UAV detection solution</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11" name="文本框 10">
            <a:extLst>
              <a:ext uri="{FF2B5EF4-FFF2-40B4-BE49-F238E27FC236}">
                <a16:creationId xmlns:a16="http://schemas.microsoft.com/office/drawing/2014/main" id="{AE4F0DC0-BA5A-D99E-A34A-44032D2DA35A}"/>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2/18</a:t>
            </a:r>
            <a:endParaRPr lang="zh-CN" altLang="en-US" sz="2000" b="1" dirty="0">
              <a:solidFill>
                <a:srgbClr val="757575"/>
              </a:solidFill>
              <a:latin typeface="Seravek"/>
            </a:endParaRPr>
          </a:p>
        </p:txBody>
      </p:sp>
      <p:sp>
        <p:nvSpPr>
          <p:cNvPr id="5" name="文本框 4">
            <a:extLst>
              <a:ext uri="{FF2B5EF4-FFF2-40B4-BE49-F238E27FC236}">
                <a16:creationId xmlns:a16="http://schemas.microsoft.com/office/drawing/2014/main" id="{AA652271-9DF2-2A13-43B5-54B194BF8F7A}"/>
              </a:ext>
            </a:extLst>
          </p:cNvPr>
          <p:cNvSpPr txBox="1"/>
          <p:nvPr/>
        </p:nvSpPr>
        <p:spPr>
          <a:xfrm>
            <a:off x="1148592" y="1853941"/>
            <a:ext cx="6094602"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Passive detection</a:t>
            </a:r>
            <a:endParaRPr lang="zh-CN" altLang="en-US" sz="2800" dirty="0"/>
          </a:p>
        </p:txBody>
      </p:sp>
      <p:sp>
        <p:nvSpPr>
          <p:cNvPr id="9" name="文本框 8">
            <a:extLst>
              <a:ext uri="{FF2B5EF4-FFF2-40B4-BE49-F238E27FC236}">
                <a16:creationId xmlns:a16="http://schemas.microsoft.com/office/drawing/2014/main" id="{C555D11C-ACDE-3759-5512-D7071153510B}"/>
              </a:ext>
            </a:extLst>
          </p:cNvPr>
          <p:cNvSpPr txBox="1"/>
          <p:nvPr/>
        </p:nvSpPr>
        <p:spPr>
          <a:xfrm>
            <a:off x="1148592" y="2741446"/>
            <a:ext cx="6094602"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Long-distance detection</a:t>
            </a:r>
            <a:endParaRPr lang="zh-CN" altLang="en-US" sz="2800" dirty="0"/>
          </a:p>
        </p:txBody>
      </p:sp>
      <p:sp>
        <p:nvSpPr>
          <p:cNvPr id="10" name="文本框 9">
            <a:extLst>
              <a:ext uri="{FF2B5EF4-FFF2-40B4-BE49-F238E27FC236}">
                <a16:creationId xmlns:a16="http://schemas.microsoft.com/office/drawing/2014/main" id="{A7FCDCB4-73CB-EAF0-236D-83CEFFA03EE0}"/>
              </a:ext>
            </a:extLst>
          </p:cNvPr>
          <p:cNvSpPr txBox="1"/>
          <p:nvPr/>
        </p:nvSpPr>
        <p:spPr>
          <a:xfrm>
            <a:off x="1148592" y="3637917"/>
            <a:ext cx="6094602"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Low-cost and easy to deploy</a:t>
            </a:r>
            <a:endParaRPr lang="zh-CN" altLang="en-US" sz="2800" dirty="0"/>
          </a:p>
        </p:txBody>
      </p:sp>
      <p:sp>
        <p:nvSpPr>
          <p:cNvPr id="12" name="文本框 11">
            <a:extLst>
              <a:ext uri="{FF2B5EF4-FFF2-40B4-BE49-F238E27FC236}">
                <a16:creationId xmlns:a16="http://schemas.microsoft.com/office/drawing/2014/main" id="{AAC97418-8BDD-2511-CA35-C9AD75739532}"/>
              </a:ext>
            </a:extLst>
          </p:cNvPr>
          <p:cNvSpPr txBox="1"/>
          <p:nvPr/>
        </p:nvSpPr>
        <p:spPr>
          <a:xfrm>
            <a:off x="1148592" y="4507492"/>
            <a:ext cx="4669499"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Generic for various UAVs</a:t>
            </a:r>
            <a:endParaRPr lang="zh-CN" altLang="en-US" sz="2800" dirty="0"/>
          </a:p>
        </p:txBody>
      </p:sp>
      <p:grpSp>
        <p:nvGrpSpPr>
          <p:cNvPr id="2" name="组合 1">
            <a:extLst>
              <a:ext uri="{FF2B5EF4-FFF2-40B4-BE49-F238E27FC236}">
                <a16:creationId xmlns:a16="http://schemas.microsoft.com/office/drawing/2014/main" id="{F6820CD1-1512-6D2E-3394-07D7A039C65B}"/>
              </a:ext>
            </a:extLst>
          </p:cNvPr>
          <p:cNvGrpSpPr>
            <a:grpSpLocks noChangeAspect="1"/>
          </p:cNvGrpSpPr>
          <p:nvPr/>
        </p:nvGrpSpPr>
        <p:grpSpPr>
          <a:xfrm>
            <a:off x="6184526" y="1497327"/>
            <a:ext cx="5618064" cy="4702213"/>
            <a:chOff x="2220539" y="277671"/>
            <a:chExt cx="7591990" cy="6529790"/>
          </a:xfrm>
        </p:grpSpPr>
        <p:sp>
          <p:nvSpPr>
            <p:cNvPr id="3" name="任意多边形: 形状 2">
              <a:extLst>
                <a:ext uri="{FF2B5EF4-FFF2-40B4-BE49-F238E27FC236}">
                  <a16:creationId xmlns:a16="http://schemas.microsoft.com/office/drawing/2014/main" id="{BBA060BE-4A61-663E-F7FC-4CBCA2737BEB}"/>
                </a:ext>
              </a:extLst>
            </p:cNvPr>
            <p:cNvSpPr/>
            <p:nvPr/>
          </p:nvSpPr>
          <p:spPr>
            <a:xfrm>
              <a:off x="2864899" y="580015"/>
              <a:ext cx="3231101" cy="3056243"/>
            </a:xfrm>
            <a:custGeom>
              <a:avLst/>
              <a:gdLst>
                <a:gd name="connsiteX0" fmla="*/ 2109765 w 3231101"/>
                <a:gd name="connsiteY0" fmla="*/ 0 h 3056243"/>
                <a:gd name="connsiteX1" fmla="*/ 2143228 w 3231101"/>
                <a:gd name="connsiteY1" fmla="*/ 9389 h 3056243"/>
                <a:gd name="connsiteX2" fmla="*/ 3207673 w 3231101"/>
                <a:gd name="connsiteY2" fmla="*/ 515009 h 3056243"/>
                <a:gd name="connsiteX3" fmla="*/ 3231101 w 3231101"/>
                <a:gd name="connsiteY3" fmla="*/ 531470 h 3056243"/>
                <a:gd name="connsiteX4" fmla="*/ 3192759 w 3231101"/>
                <a:gd name="connsiteY4" fmla="*/ 553254 h 3056243"/>
                <a:gd name="connsiteX5" fmla="*/ 1635773 w 3231101"/>
                <a:gd name="connsiteY5" fmla="*/ 2247752 h 3056243"/>
                <a:gd name="connsiteX6" fmla="*/ 1560343 w 3231101"/>
                <a:gd name="connsiteY6" fmla="*/ 2412613 h 3056243"/>
                <a:gd name="connsiteX7" fmla="*/ 1382576 w 3231101"/>
                <a:gd name="connsiteY7" fmla="*/ 2453153 h 3056243"/>
                <a:gd name="connsiteX8" fmla="*/ 134369 w 3231101"/>
                <a:gd name="connsiteY8" fmla="*/ 2973317 h 3056243"/>
                <a:gd name="connsiteX9" fmla="*/ 3460 w 3231101"/>
                <a:gd name="connsiteY9" fmla="*/ 3056243 h 3056243"/>
                <a:gd name="connsiteX10" fmla="*/ 0 w 3231101"/>
                <a:gd name="connsiteY10" fmla="*/ 2921043 h 3056243"/>
                <a:gd name="connsiteX11" fmla="*/ 1911396 w 3231101"/>
                <a:gd name="connsiteY11" fmla="*/ 71739 h 3056243"/>
                <a:gd name="connsiteX12" fmla="*/ 2109765 w 3231101"/>
                <a:gd name="connsiteY12" fmla="*/ 0 h 3056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31101" h="3056243">
                  <a:moveTo>
                    <a:pt x="2109765" y="0"/>
                  </a:moveTo>
                  <a:lnTo>
                    <a:pt x="2143228" y="9389"/>
                  </a:lnTo>
                  <a:cubicBezTo>
                    <a:pt x="2525259" y="126799"/>
                    <a:pt x="2883140" y="298368"/>
                    <a:pt x="3207673" y="515009"/>
                  </a:cubicBezTo>
                  <a:lnTo>
                    <a:pt x="3231101" y="531470"/>
                  </a:lnTo>
                  <a:lnTo>
                    <a:pt x="3192759" y="553254"/>
                  </a:lnTo>
                  <a:cubicBezTo>
                    <a:pt x="2521972" y="955982"/>
                    <a:pt x="1978446" y="1545053"/>
                    <a:pt x="1635773" y="2247752"/>
                  </a:cubicBezTo>
                  <a:lnTo>
                    <a:pt x="1560343" y="2412613"/>
                  </a:lnTo>
                  <a:lnTo>
                    <a:pt x="1382576" y="2453153"/>
                  </a:lnTo>
                  <a:cubicBezTo>
                    <a:pt x="937162" y="2566389"/>
                    <a:pt x="517590" y="2743239"/>
                    <a:pt x="134369" y="2973317"/>
                  </a:cubicBezTo>
                  <a:lnTo>
                    <a:pt x="3460" y="3056243"/>
                  </a:lnTo>
                  <a:lnTo>
                    <a:pt x="0" y="2921043"/>
                  </a:lnTo>
                  <a:cubicBezTo>
                    <a:pt x="0" y="1640165"/>
                    <a:pt x="788149" y="541178"/>
                    <a:pt x="1911396" y="71739"/>
                  </a:cubicBezTo>
                  <a:lnTo>
                    <a:pt x="2109765" y="0"/>
                  </a:lnTo>
                  <a:close/>
                </a:path>
              </a:pathLst>
            </a:custGeom>
            <a:solidFill>
              <a:srgbClr val="5D93AB"/>
            </a:solidFill>
            <a:ln w="635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BAE0539E-EC17-8E43-FA48-6C5D01C9323B}"/>
                </a:ext>
              </a:extLst>
            </p:cNvPr>
            <p:cNvSpPr/>
            <p:nvPr/>
          </p:nvSpPr>
          <p:spPr>
            <a:xfrm>
              <a:off x="4024859" y="2697956"/>
              <a:ext cx="3786085" cy="3404161"/>
            </a:xfrm>
            <a:prstGeom prst="rect">
              <a:avLst/>
            </a:prstGeom>
            <a:solidFill>
              <a:srgbClr val="5D93AB"/>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a:extLst>
                <a:ext uri="{FF2B5EF4-FFF2-40B4-BE49-F238E27FC236}">
                  <a16:creationId xmlns:a16="http://schemas.microsoft.com/office/drawing/2014/main" id="{50C6DC4D-60C2-91EB-FAD7-3C5A7467EA31}"/>
                </a:ext>
              </a:extLst>
            </p:cNvPr>
            <p:cNvSpPr/>
            <p:nvPr/>
          </p:nvSpPr>
          <p:spPr>
            <a:xfrm>
              <a:off x="4974664" y="408744"/>
              <a:ext cx="2255016" cy="702740"/>
            </a:xfrm>
            <a:custGeom>
              <a:avLst/>
              <a:gdLst>
                <a:gd name="connsiteX0" fmla="*/ 1019798 w 2255016"/>
                <a:gd name="connsiteY0" fmla="*/ 0 h 702740"/>
                <a:gd name="connsiteX1" fmla="*/ 2237965 w 2255016"/>
                <a:gd name="connsiteY1" fmla="*/ 243009 h 702740"/>
                <a:gd name="connsiteX2" fmla="*/ 2255016 w 2255016"/>
                <a:gd name="connsiteY2" fmla="*/ 251125 h 702740"/>
                <a:gd name="connsiteX3" fmla="*/ 2175421 w 2255016"/>
                <a:gd name="connsiteY3" fmla="*/ 269277 h 702740"/>
                <a:gd name="connsiteX4" fmla="*/ 1253299 w 2255016"/>
                <a:gd name="connsiteY4" fmla="*/ 627766 h 702740"/>
                <a:gd name="connsiteX5" fmla="*/ 1121336 w 2255016"/>
                <a:gd name="connsiteY5" fmla="*/ 702740 h 702740"/>
                <a:gd name="connsiteX6" fmla="*/ 1097908 w 2255016"/>
                <a:gd name="connsiteY6" fmla="*/ 686279 h 702740"/>
                <a:gd name="connsiteX7" fmla="*/ 33463 w 2255016"/>
                <a:gd name="connsiteY7" fmla="*/ 180659 h 702740"/>
                <a:gd name="connsiteX8" fmla="*/ 0 w 2255016"/>
                <a:gd name="connsiteY8" fmla="*/ 171270 h 702740"/>
                <a:gd name="connsiteX9" fmla="*/ 89162 w 2255016"/>
                <a:gd name="connsiteY9" fmla="*/ 139024 h 702740"/>
                <a:gd name="connsiteX10" fmla="*/ 1019798 w 2255016"/>
                <a:gd name="connsiteY10" fmla="*/ 0 h 702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55016" h="702740">
                  <a:moveTo>
                    <a:pt x="1019798" y="0"/>
                  </a:moveTo>
                  <a:cubicBezTo>
                    <a:pt x="1451900" y="0"/>
                    <a:pt x="1863549" y="86530"/>
                    <a:pt x="2237965" y="243009"/>
                  </a:cubicBezTo>
                  <a:lnTo>
                    <a:pt x="2255016" y="251125"/>
                  </a:lnTo>
                  <a:lnTo>
                    <a:pt x="2175421" y="269277"/>
                  </a:lnTo>
                  <a:cubicBezTo>
                    <a:pt x="1850567" y="351863"/>
                    <a:pt x="1541418" y="473113"/>
                    <a:pt x="1253299" y="627766"/>
                  </a:cubicBezTo>
                  <a:lnTo>
                    <a:pt x="1121336" y="702740"/>
                  </a:lnTo>
                  <a:lnTo>
                    <a:pt x="1097908" y="686279"/>
                  </a:lnTo>
                  <a:cubicBezTo>
                    <a:pt x="773375" y="469638"/>
                    <a:pt x="415494" y="298069"/>
                    <a:pt x="33463" y="180659"/>
                  </a:cubicBezTo>
                  <a:lnTo>
                    <a:pt x="0" y="171270"/>
                  </a:lnTo>
                  <a:lnTo>
                    <a:pt x="89162" y="139024"/>
                  </a:lnTo>
                  <a:cubicBezTo>
                    <a:pt x="383150" y="48673"/>
                    <a:pt x="695721" y="0"/>
                    <a:pt x="1019798" y="0"/>
                  </a:cubicBezTo>
                  <a:close/>
                </a:path>
              </a:pathLst>
            </a:custGeom>
            <a:solidFill>
              <a:srgbClr val="5D93AB"/>
            </a:solidFill>
            <a:ln w="635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id="{35617240-BF4C-7199-2F23-F2F77FC77058}"/>
                </a:ext>
              </a:extLst>
            </p:cNvPr>
            <p:cNvSpPr/>
            <p:nvPr/>
          </p:nvSpPr>
          <p:spPr>
            <a:xfrm>
              <a:off x="7784481" y="1014159"/>
              <a:ext cx="1339544" cy="3495184"/>
            </a:xfrm>
            <a:custGeom>
              <a:avLst/>
              <a:gdLst>
                <a:gd name="connsiteX0" fmla="*/ 64362 w 1339544"/>
                <a:gd name="connsiteY0" fmla="*/ 0 h 3495184"/>
                <a:gd name="connsiteX1" fmla="*/ 200674 w 1339544"/>
                <a:gd name="connsiteY1" fmla="*/ 100719 h 3495184"/>
                <a:gd name="connsiteX2" fmla="*/ 1339544 w 1339544"/>
                <a:gd name="connsiteY2" fmla="*/ 2486898 h 3495184"/>
                <a:gd name="connsiteX3" fmla="*/ 1198845 w 1339544"/>
                <a:gd name="connsiteY3" fmla="*/ 3406457 h 3495184"/>
                <a:gd name="connsiteX4" fmla="*/ 1165979 w 1339544"/>
                <a:gd name="connsiteY4" fmla="*/ 3495184 h 3495184"/>
                <a:gd name="connsiteX5" fmla="*/ 1063870 w 1339544"/>
                <a:gd name="connsiteY5" fmla="*/ 3378709 h 3495184"/>
                <a:gd name="connsiteX6" fmla="*/ 33777 w 1339544"/>
                <a:gd name="connsiteY6" fmla="*/ 2539172 h 3495184"/>
                <a:gd name="connsiteX7" fmla="*/ 0 w 1339544"/>
                <a:gd name="connsiteY7" fmla="*/ 2519982 h 3495184"/>
                <a:gd name="connsiteX8" fmla="*/ 55320 w 1339544"/>
                <a:gd name="connsiteY8" fmla="*/ 2358434 h 3495184"/>
                <a:gd name="connsiteX9" fmla="*/ 238155 w 1339544"/>
                <a:gd name="connsiteY9" fmla="*/ 1163486 h 3495184"/>
                <a:gd name="connsiteX10" fmla="*/ 110121 w 1339544"/>
                <a:gd name="connsiteY10" fmla="*/ 159227 h 3495184"/>
                <a:gd name="connsiteX11" fmla="*/ 64362 w 1339544"/>
                <a:gd name="connsiteY11" fmla="*/ 0 h 3495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9544" h="3495184">
                  <a:moveTo>
                    <a:pt x="64362" y="0"/>
                  </a:moveTo>
                  <a:lnTo>
                    <a:pt x="200674" y="100719"/>
                  </a:lnTo>
                  <a:cubicBezTo>
                    <a:pt x="896210" y="667895"/>
                    <a:pt x="1339544" y="1526240"/>
                    <a:pt x="1339544" y="2486898"/>
                  </a:cubicBezTo>
                  <a:cubicBezTo>
                    <a:pt x="1339544" y="2807118"/>
                    <a:pt x="1290285" y="3115969"/>
                    <a:pt x="1198845" y="3406457"/>
                  </a:cubicBezTo>
                  <a:lnTo>
                    <a:pt x="1165979" y="3495184"/>
                  </a:lnTo>
                  <a:lnTo>
                    <a:pt x="1063870" y="3378709"/>
                  </a:lnTo>
                  <a:cubicBezTo>
                    <a:pt x="763865" y="3052559"/>
                    <a:pt x="416997" y="2769251"/>
                    <a:pt x="33777" y="2539172"/>
                  </a:cubicBezTo>
                  <a:lnTo>
                    <a:pt x="0" y="2519982"/>
                  </a:lnTo>
                  <a:lnTo>
                    <a:pt x="55320" y="2358434"/>
                  </a:lnTo>
                  <a:cubicBezTo>
                    <a:pt x="174144" y="1980950"/>
                    <a:pt x="238155" y="1579605"/>
                    <a:pt x="238155" y="1163486"/>
                  </a:cubicBezTo>
                  <a:cubicBezTo>
                    <a:pt x="238155" y="816721"/>
                    <a:pt x="193703" y="480214"/>
                    <a:pt x="110121" y="159227"/>
                  </a:cubicBezTo>
                  <a:lnTo>
                    <a:pt x="64362" y="0"/>
                  </a:lnTo>
                  <a:close/>
                </a:path>
              </a:pathLst>
            </a:custGeom>
            <a:solidFill>
              <a:srgbClr val="5D93AB"/>
            </a:solidFill>
            <a:ln w="635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a:extLst>
                <a:ext uri="{FF2B5EF4-FFF2-40B4-BE49-F238E27FC236}">
                  <a16:creationId xmlns:a16="http://schemas.microsoft.com/office/drawing/2014/main" id="{76E2D65D-8970-E90F-DD8B-5D5FD9B88387}"/>
                </a:ext>
              </a:extLst>
            </p:cNvPr>
            <p:cNvSpPr/>
            <p:nvPr/>
          </p:nvSpPr>
          <p:spPr>
            <a:xfrm>
              <a:off x="4425242" y="1111485"/>
              <a:ext cx="3335094" cy="2408939"/>
            </a:xfrm>
            <a:custGeom>
              <a:avLst/>
              <a:gdLst>
                <a:gd name="connsiteX0" fmla="*/ 1670758 w 3335094"/>
                <a:gd name="connsiteY0" fmla="*/ 0 h 2408939"/>
                <a:gd name="connsiteX1" fmla="*/ 1806775 w 3335094"/>
                <a:gd name="connsiteY1" fmla="*/ 95573 h 2408939"/>
                <a:gd name="connsiteX2" fmla="*/ 3312310 w 3335094"/>
                <a:gd name="connsiteY2" fmla="*/ 2311396 h 2408939"/>
                <a:gd name="connsiteX3" fmla="*/ 3335094 w 3335094"/>
                <a:gd name="connsiteY3" fmla="*/ 2408939 h 2408939"/>
                <a:gd name="connsiteX4" fmla="*/ 3198425 w 3335094"/>
                <a:gd name="connsiteY4" fmla="*/ 2331292 h 2408939"/>
                <a:gd name="connsiteX5" fmla="*/ 983521 w 3335094"/>
                <a:gd name="connsiteY5" fmla="*/ 1777133 h 2408939"/>
                <a:gd name="connsiteX6" fmla="*/ 47044 w 3335094"/>
                <a:gd name="connsiteY6" fmla="*/ 1870414 h 2408939"/>
                <a:gd name="connsiteX7" fmla="*/ 0 w 3335094"/>
                <a:gd name="connsiteY7" fmla="*/ 1881143 h 2408939"/>
                <a:gd name="connsiteX8" fmla="*/ 75430 w 3335094"/>
                <a:gd name="connsiteY8" fmla="*/ 1716282 h 2408939"/>
                <a:gd name="connsiteX9" fmla="*/ 1632416 w 3335094"/>
                <a:gd name="connsiteY9" fmla="*/ 21784 h 2408939"/>
                <a:gd name="connsiteX10" fmla="*/ 1670758 w 3335094"/>
                <a:gd name="connsiteY10" fmla="*/ 0 h 240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35094" h="2408939">
                  <a:moveTo>
                    <a:pt x="1670758" y="0"/>
                  </a:moveTo>
                  <a:lnTo>
                    <a:pt x="1806775" y="95573"/>
                  </a:lnTo>
                  <a:cubicBezTo>
                    <a:pt x="2537484" y="635533"/>
                    <a:pt x="3078283" y="1412630"/>
                    <a:pt x="3312310" y="2311396"/>
                  </a:cubicBezTo>
                  <a:lnTo>
                    <a:pt x="3335094" y="2408939"/>
                  </a:lnTo>
                  <a:lnTo>
                    <a:pt x="3198425" y="2331292"/>
                  </a:lnTo>
                  <a:cubicBezTo>
                    <a:pt x="2540015" y="1977880"/>
                    <a:pt x="1785494" y="1777133"/>
                    <a:pt x="983521" y="1777133"/>
                  </a:cubicBezTo>
                  <a:cubicBezTo>
                    <a:pt x="662732" y="1777133"/>
                    <a:pt x="349535" y="1809253"/>
                    <a:pt x="47044" y="1870414"/>
                  </a:cubicBezTo>
                  <a:lnTo>
                    <a:pt x="0" y="1881143"/>
                  </a:lnTo>
                  <a:lnTo>
                    <a:pt x="75430" y="1716282"/>
                  </a:lnTo>
                  <a:cubicBezTo>
                    <a:pt x="418103" y="1013583"/>
                    <a:pt x="961629" y="424512"/>
                    <a:pt x="1632416" y="21784"/>
                  </a:cubicBezTo>
                  <a:lnTo>
                    <a:pt x="1670758" y="0"/>
                  </a:lnTo>
                  <a:close/>
                </a:path>
              </a:pathLst>
            </a:custGeom>
            <a:solidFill>
              <a:srgbClr val="5D93AB"/>
            </a:solidFill>
            <a:ln w="635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a:extLst>
                <a:ext uri="{FF2B5EF4-FFF2-40B4-BE49-F238E27FC236}">
                  <a16:creationId xmlns:a16="http://schemas.microsoft.com/office/drawing/2014/main" id="{06E6D737-A9B9-282A-B2B1-167E2503EF9E}"/>
                </a:ext>
              </a:extLst>
            </p:cNvPr>
            <p:cNvSpPr/>
            <p:nvPr/>
          </p:nvSpPr>
          <p:spPr>
            <a:xfrm>
              <a:off x="2868359" y="2992628"/>
              <a:ext cx="1566133" cy="3176813"/>
            </a:xfrm>
            <a:custGeom>
              <a:avLst/>
              <a:gdLst>
                <a:gd name="connsiteX0" fmla="*/ 1556883 w 1566133"/>
                <a:gd name="connsiteY0" fmla="*/ 0 h 3176813"/>
                <a:gd name="connsiteX1" fmla="*/ 1550871 w 1566133"/>
                <a:gd name="connsiteY1" fmla="*/ 13138 h 3176813"/>
                <a:gd name="connsiteX2" fmla="*/ 1231282 w 1566133"/>
                <a:gd name="connsiteY2" fmla="*/ 1577279 h 3176813"/>
                <a:gd name="connsiteX3" fmla="*/ 1550871 w 1566133"/>
                <a:gd name="connsiteY3" fmla="*/ 3141420 h 3176813"/>
                <a:gd name="connsiteX4" fmla="*/ 1566133 w 1566133"/>
                <a:gd name="connsiteY4" fmla="*/ 3174775 h 3176813"/>
                <a:gd name="connsiteX5" fmla="*/ 1549901 w 1566133"/>
                <a:gd name="connsiteY5" fmla="*/ 3176813 h 3176813"/>
                <a:gd name="connsiteX6" fmla="*/ 1376335 w 1566133"/>
                <a:gd name="connsiteY6" fmla="*/ 3072624 h 3176813"/>
                <a:gd name="connsiteX7" fmla="*/ 612 w 1566133"/>
                <a:gd name="connsiteY7" fmla="*/ 667560 h 3176813"/>
                <a:gd name="connsiteX8" fmla="*/ 0 w 1566133"/>
                <a:gd name="connsiteY8" fmla="*/ 643630 h 3176813"/>
                <a:gd name="connsiteX9" fmla="*/ 130909 w 1566133"/>
                <a:gd name="connsiteY9" fmla="*/ 560704 h 3176813"/>
                <a:gd name="connsiteX10" fmla="*/ 1379116 w 1566133"/>
                <a:gd name="connsiteY10" fmla="*/ 40540 h 3176813"/>
                <a:gd name="connsiteX11" fmla="*/ 1556883 w 1566133"/>
                <a:gd name="connsiteY11" fmla="*/ 0 h 31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66133" h="3176813">
                  <a:moveTo>
                    <a:pt x="1556883" y="0"/>
                  </a:moveTo>
                  <a:lnTo>
                    <a:pt x="1550871" y="13138"/>
                  </a:lnTo>
                  <a:cubicBezTo>
                    <a:pt x="1345080" y="493893"/>
                    <a:pt x="1231282" y="1022455"/>
                    <a:pt x="1231282" y="1577279"/>
                  </a:cubicBezTo>
                  <a:cubicBezTo>
                    <a:pt x="1231282" y="2132104"/>
                    <a:pt x="1345080" y="2660666"/>
                    <a:pt x="1550871" y="3141420"/>
                  </a:cubicBezTo>
                  <a:lnTo>
                    <a:pt x="1566133" y="3174775"/>
                  </a:lnTo>
                  <a:lnTo>
                    <a:pt x="1549901" y="3176813"/>
                  </a:lnTo>
                  <a:lnTo>
                    <a:pt x="1376335" y="3072624"/>
                  </a:lnTo>
                  <a:cubicBezTo>
                    <a:pt x="585489" y="2544699"/>
                    <a:pt x="51986" y="1668973"/>
                    <a:pt x="612" y="667560"/>
                  </a:cubicBezTo>
                  <a:lnTo>
                    <a:pt x="0" y="643630"/>
                  </a:lnTo>
                  <a:lnTo>
                    <a:pt x="130909" y="560704"/>
                  </a:lnTo>
                  <a:cubicBezTo>
                    <a:pt x="514130" y="330626"/>
                    <a:pt x="933702" y="153776"/>
                    <a:pt x="1379116" y="40540"/>
                  </a:cubicBezTo>
                  <a:lnTo>
                    <a:pt x="1556883" y="0"/>
                  </a:lnTo>
                  <a:close/>
                </a:path>
              </a:pathLst>
            </a:custGeom>
            <a:solidFill>
              <a:srgbClr val="5D93AB"/>
            </a:solidFill>
            <a:ln w="635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a:extLst>
                <a:ext uri="{FF2B5EF4-FFF2-40B4-BE49-F238E27FC236}">
                  <a16:creationId xmlns:a16="http://schemas.microsoft.com/office/drawing/2014/main" id="{7F2E51C6-E10F-77FC-5100-E105BCBAF1FB}"/>
                </a:ext>
              </a:extLst>
            </p:cNvPr>
            <p:cNvSpPr/>
            <p:nvPr/>
          </p:nvSpPr>
          <p:spPr>
            <a:xfrm>
              <a:off x="7760336" y="3520423"/>
              <a:ext cx="24145" cy="49070"/>
            </a:xfrm>
            <a:custGeom>
              <a:avLst/>
              <a:gdLst>
                <a:gd name="connsiteX0" fmla="*/ 0 w 24145"/>
                <a:gd name="connsiteY0" fmla="*/ 0 h 49070"/>
                <a:gd name="connsiteX1" fmla="*/ 24145 w 24145"/>
                <a:gd name="connsiteY1" fmla="*/ 13718 h 49070"/>
                <a:gd name="connsiteX2" fmla="*/ 15528 w 24145"/>
                <a:gd name="connsiteY2" fmla="*/ 38881 h 49070"/>
                <a:gd name="connsiteX3" fmla="*/ 11462 w 24145"/>
                <a:gd name="connsiteY3" fmla="*/ 49070 h 49070"/>
                <a:gd name="connsiteX4" fmla="*/ 0 w 24145"/>
                <a:gd name="connsiteY4" fmla="*/ 0 h 49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45" h="49070">
                  <a:moveTo>
                    <a:pt x="0" y="0"/>
                  </a:moveTo>
                  <a:lnTo>
                    <a:pt x="24145" y="13718"/>
                  </a:lnTo>
                  <a:lnTo>
                    <a:pt x="15528" y="38881"/>
                  </a:lnTo>
                  <a:lnTo>
                    <a:pt x="11462" y="49070"/>
                  </a:lnTo>
                  <a:lnTo>
                    <a:pt x="0" y="0"/>
                  </a:lnTo>
                  <a:close/>
                </a:path>
              </a:pathLst>
            </a:custGeom>
            <a:noFill/>
            <a:ln w="63500">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a:extLst>
                <a:ext uri="{FF2B5EF4-FFF2-40B4-BE49-F238E27FC236}">
                  <a16:creationId xmlns:a16="http://schemas.microsoft.com/office/drawing/2014/main" id="{8FDF7217-2442-0070-95F7-8E4180361B15}"/>
                </a:ext>
              </a:extLst>
            </p:cNvPr>
            <p:cNvSpPr/>
            <p:nvPr/>
          </p:nvSpPr>
          <p:spPr>
            <a:xfrm>
              <a:off x="4434492" y="3569494"/>
              <a:ext cx="3431094" cy="3023877"/>
            </a:xfrm>
            <a:custGeom>
              <a:avLst/>
              <a:gdLst>
                <a:gd name="connsiteX0" fmla="*/ 3337306 w 3431094"/>
                <a:gd name="connsiteY0" fmla="*/ 0 h 3023877"/>
                <a:gd name="connsiteX1" fmla="*/ 3348471 w 3431094"/>
                <a:gd name="connsiteY1" fmla="*/ 47799 h 3023877"/>
                <a:gd name="connsiteX2" fmla="*/ 3431094 w 3431094"/>
                <a:gd name="connsiteY2" fmla="*/ 857646 h 3023877"/>
                <a:gd name="connsiteX3" fmla="*/ 3030063 w 3431094"/>
                <a:gd name="connsiteY3" fmla="*/ 2599786 h 3023877"/>
                <a:gd name="connsiteX4" fmla="*/ 2987973 w 3431094"/>
                <a:gd name="connsiteY4" fmla="*/ 2680988 h 3023877"/>
                <a:gd name="connsiteX5" fmla="*/ 2778137 w 3431094"/>
                <a:gd name="connsiteY5" fmla="*/ 2780868 h 3023877"/>
                <a:gd name="connsiteX6" fmla="*/ 1559970 w 3431094"/>
                <a:gd name="connsiteY6" fmla="*/ 3023877 h 3023877"/>
                <a:gd name="connsiteX7" fmla="*/ 68234 w 3431094"/>
                <a:gd name="connsiteY7" fmla="*/ 2650651 h 3023877"/>
                <a:gd name="connsiteX8" fmla="*/ 7431 w 3431094"/>
                <a:gd name="connsiteY8" fmla="*/ 2614152 h 3023877"/>
                <a:gd name="connsiteX9" fmla="*/ 0 w 3431094"/>
                <a:gd name="connsiteY9" fmla="*/ 2597909 h 3023877"/>
                <a:gd name="connsiteX10" fmla="*/ 140677 w 3431094"/>
                <a:gd name="connsiteY10" fmla="*/ 2580246 h 3023877"/>
                <a:gd name="connsiteX11" fmla="*/ 3268555 w 3431094"/>
                <a:gd name="connsiteY11" fmla="*/ 172293 h 3023877"/>
                <a:gd name="connsiteX12" fmla="*/ 3337306 w 3431094"/>
                <a:gd name="connsiteY12" fmla="*/ 0 h 302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1094" h="3023877">
                  <a:moveTo>
                    <a:pt x="3337306" y="0"/>
                  </a:moveTo>
                  <a:lnTo>
                    <a:pt x="3348471" y="47799"/>
                  </a:lnTo>
                  <a:cubicBezTo>
                    <a:pt x="3402644" y="309387"/>
                    <a:pt x="3431094" y="580234"/>
                    <a:pt x="3431094" y="857646"/>
                  </a:cubicBezTo>
                  <a:cubicBezTo>
                    <a:pt x="3431094" y="1481824"/>
                    <a:pt x="3287068" y="2072763"/>
                    <a:pt x="3030063" y="2599786"/>
                  </a:cubicBezTo>
                  <a:lnTo>
                    <a:pt x="2987973" y="2680988"/>
                  </a:lnTo>
                  <a:lnTo>
                    <a:pt x="2778137" y="2780868"/>
                  </a:lnTo>
                  <a:cubicBezTo>
                    <a:pt x="2403721" y="2937347"/>
                    <a:pt x="1992072" y="3023877"/>
                    <a:pt x="1559970" y="3023877"/>
                  </a:cubicBezTo>
                  <a:cubicBezTo>
                    <a:pt x="1019842" y="3023877"/>
                    <a:pt x="511673" y="2888675"/>
                    <a:pt x="68234" y="2650651"/>
                  </a:cubicBezTo>
                  <a:lnTo>
                    <a:pt x="7431" y="2614152"/>
                  </a:lnTo>
                  <a:lnTo>
                    <a:pt x="0" y="2597909"/>
                  </a:lnTo>
                  <a:lnTo>
                    <a:pt x="140677" y="2580246"/>
                  </a:lnTo>
                  <a:cubicBezTo>
                    <a:pt x="1554259" y="2366826"/>
                    <a:pt x="2728352" y="1434272"/>
                    <a:pt x="3268555" y="172293"/>
                  </a:cubicBezTo>
                  <a:lnTo>
                    <a:pt x="3337306" y="0"/>
                  </a:lnTo>
                  <a:close/>
                </a:path>
              </a:pathLst>
            </a:custGeom>
            <a:solidFill>
              <a:srgbClr val="5D93AB"/>
            </a:solidFill>
            <a:ln w="635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a:extLst>
                <a:ext uri="{FF2B5EF4-FFF2-40B4-BE49-F238E27FC236}">
                  <a16:creationId xmlns:a16="http://schemas.microsoft.com/office/drawing/2014/main" id="{88A34D5F-79F1-8E0C-C6F5-B7A61EF5D89D}"/>
                </a:ext>
              </a:extLst>
            </p:cNvPr>
            <p:cNvSpPr/>
            <p:nvPr/>
          </p:nvSpPr>
          <p:spPr>
            <a:xfrm>
              <a:off x="6096000" y="659869"/>
              <a:ext cx="1926636" cy="2874272"/>
            </a:xfrm>
            <a:custGeom>
              <a:avLst/>
              <a:gdLst>
                <a:gd name="connsiteX0" fmla="*/ 1133680 w 1926636"/>
                <a:gd name="connsiteY0" fmla="*/ 0 h 2874272"/>
                <a:gd name="connsiteX1" fmla="*/ 1390198 w 1926636"/>
                <a:gd name="connsiteY1" fmla="*/ 122101 h 2874272"/>
                <a:gd name="connsiteX2" fmla="*/ 1648230 w 1926636"/>
                <a:gd name="connsiteY2" fmla="*/ 276994 h 2874272"/>
                <a:gd name="connsiteX3" fmla="*/ 1752843 w 1926636"/>
                <a:gd name="connsiteY3" fmla="*/ 354290 h 2874272"/>
                <a:gd name="connsiteX4" fmla="*/ 1798602 w 1926636"/>
                <a:gd name="connsiteY4" fmla="*/ 513517 h 2874272"/>
                <a:gd name="connsiteX5" fmla="*/ 1926636 w 1926636"/>
                <a:gd name="connsiteY5" fmla="*/ 1517776 h 2874272"/>
                <a:gd name="connsiteX6" fmla="*/ 1743801 w 1926636"/>
                <a:gd name="connsiteY6" fmla="*/ 2712724 h 2874272"/>
                <a:gd name="connsiteX7" fmla="*/ 1688481 w 1926636"/>
                <a:gd name="connsiteY7" fmla="*/ 2874272 h 2874272"/>
                <a:gd name="connsiteX8" fmla="*/ 1664336 w 1926636"/>
                <a:gd name="connsiteY8" fmla="*/ 2860554 h 2874272"/>
                <a:gd name="connsiteX9" fmla="*/ 1641552 w 1926636"/>
                <a:gd name="connsiteY9" fmla="*/ 2763011 h 2874272"/>
                <a:gd name="connsiteX10" fmla="*/ 136017 w 1926636"/>
                <a:gd name="connsiteY10" fmla="*/ 547188 h 2874272"/>
                <a:gd name="connsiteX11" fmla="*/ 0 w 1926636"/>
                <a:gd name="connsiteY11" fmla="*/ 451615 h 2874272"/>
                <a:gd name="connsiteX12" fmla="*/ 131963 w 1926636"/>
                <a:gd name="connsiteY12" fmla="*/ 376641 h 2874272"/>
                <a:gd name="connsiteX13" fmla="*/ 1054085 w 1926636"/>
                <a:gd name="connsiteY13" fmla="*/ 18152 h 2874272"/>
                <a:gd name="connsiteX14" fmla="*/ 1133680 w 1926636"/>
                <a:gd name="connsiteY14" fmla="*/ 0 h 287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26636" h="2874272">
                  <a:moveTo>
                    <a:pt x="1133680" y="0"/>
                  </a:moveTo>
                  <a:lnTo>
                    <a:pt x="1390198" y="122101"/>
                  </a:lnTo>
                  <a:cubicBezTo>
                    <a:pt x="1478885" y="169705"/>
                    <a:pt x="1564984" y="221423"/>
                    <a:pt x="1648230" y="276994"/>
                  </a:cubicBezTo>
                  <a:lnTo>
                    <a:pt x="1752843" y="354290"/>
                  </a:lnTo>
                  <a:lnTo>
                    <a:pt x="1798602" y="513517"/>
                  </a:lnTo>
                  <a:cubicBezTo>
                    <a:pt x="1882184" y="834504"/>
                    <a:pt x="1926636" y="1171011"/>
                    <a:pt x="1926636" y="1517776"/>
                  </a:cubicBezTo>
                  <a:cubicBezTo>
                    <a:pt x="1926636" y="1933895"/>
                    <a:pt x="1862625" y="2335240"/>
                    <a:pt x="1743801" y="2712724"/>
                  </a:cubicBezTo>
                  <a:lnTo>
                    <a:pt x="1688481" y="2874272"/>
                  </a:lnTo>
                  <a:lnTo>
                    <a:pt x="1664336" y="2860554"/>
                  </a:lnTo>
                  <a:lnTo>
                    <a:pt x="1641552" y="2763011"/>
                  </a:lnTo>
                  <a:cubicBezTo>
                    <a:pt x="1407525" y="1864245"/>
                    <a:pt x="866726" y="1087148"/>
                    <a:pt x="136017" y="547188"/>
                  </a:cubicBezTo>
                  <a:lnTo>
                    <a:pt x="0" y="451615"/>
                  </a:lnTo>
                  <a:lnTo>
                    <a:pt x="131963" y="376641"/>
                  </a:lnTo>
                  <a:cubicBezTo>
                    <a:pt x="420082" y="221988"/>
                    <a:pt x="729231" y="100738"/>
                    <a:pt x="1054085" y="18152"/>
                  </a:cubicBezTo>
                  <a:lnTo>
                    <a:pt x="1133680" y="0"/>
                  </a:lnTo>
                  <a:close/>
                </a:path>
              </a:pathLst>
            </a:custGeom>
            <a:solidFill>
              <a:srgbClr val="5D93AB"/>
            </a:solidFill>
            <a:ln w="635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545D8010-38EA-94A0-ACBE-9C043A969C9F}"/>
                </a:ext>
              </a:extLst>
            </p:cNvPr>
            <p:cNvSpPr/>
            <p:nvPr/>
          </p:nvSpPr>
          <p:spPr>
            <a:xfrm>
              <a:off x="7422465" y="3534141"/>
              <a:ext cx="1527995" cy="2716340"/>
            </a:xfrm>
            <a:custGeom>
              <a:avLst/>
              <a:gdLst>
                <a:gd name="connsiteX0" fmla="*/ 362016 w 1527995"/>
                <a:gd name="connsiteY0" fmla="*/ 0 h 2716340"/>
                <a:gd name="connsiteX1" fmla="*/ 395793 w 1527995"/>
                <a:gd name="connsiteY1" fmla="*/ 19190 h 2716340"/>
                <a:gd name="connsiteX2" fmla="*/ 1425886 w 1527995"/>
                <a:gd name="connsiteY2" fmla="*/ 858727 h 2716340"/>
                <a:gd name="connsiteX3" fmla="*/ 1527995 w 1527995"/>
                <a:gd name="connsiteY3" fmla="*/ 975202 h 2716340"/>
                <a:gd name="connsiteX4" fmla="*/ 1455623 w 1527995"/>
                <a:gd name="connsiteY4" fmla="*/ 1170584 h 2716340"/>
                <a:gd name="connsiteX5" fmla="*/ 63733 w 1527995"/>
                <a:gd name="connsiteY5" fmla="*/ 2686003 h 2716340"/>
                <a:gd name="connsiteX6" fmla="*/ 0 w 1527995"/>
                <a:gd name="connsiteY6" fmla="*/ 2716340 h 2716340"/>
                <a:gd name="connsiteX7" fmla="*/ 42090 w 1527995"/>
                <a:gd name="connsiteY7" fmla="*/ 2635138 h 2716340"/>
                <a:gd name="connsiteX8" fmla="*/ 443121 w 1527995"/>
                <a:gd name="connsiteY8" fmla="*/ 892998 h 2716340"/>
                <a:gd name="connsiteX9" fmla="*/ 360498 w 1527995"/>
                <a:gd name="connsiteY9" fmla="*/ 83151 h 2716340"/>
                <a:gd name="connsiteX10" fmla="*/ 349333 w 1527995"/>
                <a:gd name="connsiteY10" fmla="*/ 35352 h 2716340"/>
                <a:gd name="connsiteX11" fmla="*/ 353399 w 1527995"/>
                <a:gd name="connsiteY11" fmla="*/ 25163 h 2716340"/>
                <a:gd name="connsiteX12" fmla="*/ 362016 w 1527995"/>
                <a:gd name="connsiteY12" fmla="*/ 0 h 2716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27995" h="2716340">
                  <a:moveTo>
                    <a:pt x="362016" y="0"/>
                  </a:moveTo>
                  <a:lnTo>
                    <a:pt x="395793" y="19190"/>
                  </a:lnTo>
                  <a:cubicBezTo>
                    <a:pt x="779013" y="249269"/>
                    <a:pt x="1125881" y="532577"/>
                    <a:pt x="1425886" y="858727"/>
                  </a:cubicBezTo>
                  <a:lnTo>
                    <a:pt x="1527995" y="975202"/>
                  </a:lnTo>
                  <a:lnTo>
                    <a:pt x="1455623" y="1170584"/>
                  </a:lnTo>
                  <a:cubicBezTo>
                    <a:pt x="1178486" y="1818012"/>
                    <a:pt x="684546" y="2352772"/>
                    <a:pt x="63733" y="2686003"/>
                  </a:cubicBezTo>
                  <a:lnTo>
                    <a:pt x="0" y="2716340"/>
                  </a:lnTo>
                  <a:lnTo>
                    <a:pt x="42090" y="2635138"/>
                  </a:lnTo>
                  <a:cubicBezTo>
                    <a:pt x="299095" y="2108115"/>
                    <a:pt x="443121" y="1517176"/>
                    <a:pt x="443121" y="892998"/>
                  </a:cubicBezTo>
                  <a:cubicBezTo>
                    <a:pt x="443121" y="615586"/>
                    <a:pt x="414671" y="344739"/>
                    <a:pt x="360498" y="83151"/>
                  </a:cubicBezTo>
                  <a:lnTo>
                    <a:pt x="349333" y="35352"/>
                  </a:lnTo>
                  <a:lnTo>
                    <a:pt x="353399" y="25163"/>
                  </a:lnTo>
                  <a:lnTo>
                    <a:pt x="362016" y="0"/>
                  </a:lnTo>
                  <a:close/>
                </a:path>
              </a:pathLst>
            </a:custGeom>
            <a:solidFill>
              <a:srgbClr val="5D93AB"/>
            </a:solidFill>
            <a:ln w="635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a:extLst>
                <a:ext uri="{FF2B5EF4-FFF2-40B4-BE49-F238E27FC236}">
                  <a16:creationId xmlns:a16="http://schemas.microsoft.com/office/drawing/2014/main" id="{B882AC14-1893-010C-255F-5E804D24EDCF}"/>
                </a:ext>
              </a:extLst>
            </p:cNvPr>
            <p:cNvSpPr/>
            <p:nvPr/>
          </p:nvSpPr>
          <p:spPr>
            <a:xfrm>
              <a:off x="4418260" y="6167403"/>
              <a:ext cx="23663" cy="16243"/>
            </a:xfrm>
            <a:custGeom>
              <a:avLst/>
              <a:gdLst>
                <a:gd name="connsiteX0" fmla="*/ 16232 w 23663"/>
                <a:gd name="connsiteY0" fmla="*/ 0 h 16243"/>
                <a:gd name="connsiteX1" fmla="*/ 23663 w 23663"/>
                <a:gd name="connsiteY1" fmla="*/ 16243 h 16243"/>
                <a:gd name="connsiteX2" fmla="*/ 0 w 23663"/>
                <a:gd name="connsiteY2" fmla="*/ 2038 h 16243"/>
                <a:gd name="connsiteX3" fmla="*/ 16232 w 23663"/>
                <a:gd name="connsiteY3" fmla="*/ 0 h 16243"/>
              </a:gdLst>
              <a:ahLst/>
              <a:cxnLst>
                <a:cxn ang="0">
                  <a:pos x="connsiteX0" y="connsiteY0"/>
                </a:cxn>
                <a:cxn ang="0">
                  <a:pos x="connsiteX1" y="connsiteY1"/>
                </a:cxn>
                <a:cxn ang="0">
                  <a:pos x="connsiteX2" y="connsiteY2"/>
                </a:cxn>
                <a:cxn ang="0">
                  <a:pos x="connsiteX3" y="connsiteY3"/>
                </a:cxn>
              </a:cxnLst>
              <a:rect l="l" t="t" r="r" b="b"/>
              <a:pathLst>
                <a:path w="23663" h="16243">
                  <a:moveTo>
                    <a:pt x="16232" y="0"/>
                  </a:moveTo>
                  <a:lnTo>
                    <a:pt x="23663" y="16243"/>
                  </a:lnTo>
                  <a:lnTo>
                    <a:pt x="0" y="2038"/>
                  </a:lnTo>
                  <a:lnTo>
                    <a:pt x="16232" y="0"/>
                  </a:lnTo>
                  <a:close/>
                </a:path>
              </a:pathLst>
            </a:custGeom>
            <a:noFill/>
            <a:ln w="63500">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A9540E3-8C29-F8D1-2960-15017D38789D}"/>
                </a:ext>
              </a:extLst>
            </p:cNvPr>
            <p:cNvSpPr/>
            <p:nvPr/>
          </p:nvSpPr>
          <p:spPr>
            <a:xfrm>
              <a:off x="3897261" y="5587442"/>
              <a:ext cx="1041997" cy="1054596"/>
            </a:xfrm>
            <a:prstGeom prst="ellipse">
              <a:avLst/>
            </a:prstGeom>
            <a:solidFill>
              <a:schemeClr val="bg1"/>
            </a:solidFill>
            <a:ln w="63500">
              <a:solidFill>
                <a:srgbClr val="FDB91A"/>
              </a:solidFill>
              <a:prstDash val="solid"/>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0F02E123-B1E2-B91E-B83D-53C66045558A}"/>
                </a:ext>
              </a:extLst>
            </p:cNvPr>
            <p:cNvSpPr/>
            <p:nvPr/>
          </p:nvSpPr>
          <p:spPr>
            <a:xfrm>
              <a:off x="5603415" y="691782"/>
              <a:ext cx="939017" cy="959840"/>
            </a:xfrm>
            <a:prstGeom prst="ellipse">
              <a:avLst/>
            </a:prstGeom>
            <a:solidFill>
              <a:schemeClr val="bg1"/>
            </a:solidFill>
            <a:ln w="63500">
              <a:solidFill>
                <a:srgbClr val="FDB91A"/>
              </a:solidFill>
              <a:prstDash val="solid"/>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F0DD2765-27C4-92CC-04BC-9F3D959B6466}"/>
                </a:ext>
              </a:extLst>
            </p:cNvPr>
            <p:cNvPicPr>
              <a:picLocks noChangeAspect="1"/>
            </p:cNvPicPr>
            <p:nvPr/>
          </p:nvPicPr>
          <p:blipFill>
            <a:blip r:embed="rId3"/>
            <a:stretch>
              <a:fillRect/>
            </a:stretch>
          </p:blipFill>
          <p:spPr>
            <a:xfrm>
              <a:off x="5765119" y="845469"/>
              <a:ext cx="627581" cy="623242"/>
            </a:xfrm>
            <a:prstGeom prst="rect">
              <a:avLst/>
            </a:prstGeom>
          </p:spPr>
        </p:pic>
        <p:sp>
          <p:nvSpPr>
            <p:cNvPr id="23" name="椭圆 22">
              <a:extLst>
                <a:ext uri="{FF2B5EF4-FFF2-40B4-BE49-F238E27FC236}">
                  <a16:creationId xmlns:a16="http://schemas.microsoft.com/office/drawing/2014/main" id="{AECAE9E5-C71C-E648-534E-E6669457A66A}"/>
                </a:ext>
              </a:extLst>
            </p:cNvPr>
            <p:cNvSpPr/>
            <p:nvPr/>
          </p:nvSpPr>
          <p:spPr>
            <a:xfrm>
              <a:off x="4674161" y="277671"/>
              <a:ext cx="569373" cy="589604"/>
            </a:xfrm>
            <a:prstGeom prst="ellipse">
              <a:avLst/>
            </a:prstGeom>
            <a:solidFill>
              <a:schemeClr val="bg1"/>
            </a:solidFill>
            <a:ln w="63500">
              <a:solidFill>
                <a:srgbClr val="FDB91A"/>
              </a:solidFill>
              <a:prstDash val="solid"/>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76897F58-B748-3D0A-4D98-EEEEDE26BEDB}"/>
                </a:ext>
              </a:extLst>
            </p:cNvPr>
            <p:cNvSpPr/>
            <p:nvPr/>
          </p:nvSpPr>
          <p:spPr>
            <a:xfrm>
              <a:off x="6825508" y="335668"/>
              <a:ext cx="524527" cy="543165"/>
            </a:xfrm>
            <a:prstGeom prst="ellipse">
              <a:avLst/>
            </a:prstGeom>
            <a:solidFill>
              <a:schemeClr val="bg1"/>
            </a:solidFill>
            <a:ln w="63500">
              <a:solidFill>
                <a:srgbClr val="FDB91A"/>
              </a:solidFill>
              <a:prstDash val="solid"/>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a:extLst>
                <a:ext uri="{FF2B5EF4-FFF2-40B4-BE49-F238E27FC236}">
                  <a16:creationId xmlns:a16="http://schemas.microsoft.com/office/drawing/2014/main" id="{263FF02B-7FFF-D3CB-1D1E-DD7CB77C9DFD}"/>
                </a:ext>
              </a:extLst>
            </p:cNvPr>
            <p:cNvGrpSpPr/>
            <p:nvPr/>
          </p:nvGrpSpPr>
          <p:grpSpPr>
            <a:xfrm>
              <a:off x="6866019" y="2726610"/>
              <a:ext cx="1553019" cy="1562381"/>
              <a:chOff x="6189854" y="1943064"/>
              <a:chExt cx="1789265" cy="1800051"/>
            </a:xfrm>
            <a:effectLst>
              <a:outerShdw blurRad="50800" dist="38100" dir="18900000" algn="bl" rotWithShape="0">
                <a:prstClr val="black">
                  <a:alpha val="40000"/>
                </a:prstClr>
              </a:outerShdw>
            </a:effectLst>
          </p:grpSpPr>
          <p:sp>
            <p:nvSpPr>
              <p:cNvPr id="55" name="椭圆 54">
                <a:extLst>
                  <a:ext uri="{FF2B5EF4-FFF2-40B4-BE49-F238E27FC236}">
                    <a16:creationId xmlns:a16="http://schemas.microsoft.com/office/drawing/2014/main" id="{EFE75E93-3C11-5B16-C51D-D3E6E0F65A54}"/>
                  </a:ext>
                </a:extLst>
              </p:cNvPr>
              <p:cNvSpPr/>
              <p:nvPr/>
            </p:nvSpPr>
            <p:spPr>
              <a:xfrm>
                <a:off x="6189854" y="1943064"/>
                <a:ext cx="1760434" cy="1800051"/>
              </a:xfrm>
              <a:prstGeom prst="ellipse">
                <a:avLst/>
              </a:prstGeom>
              <a:solidFill>
                <a:schemeClr val="bg1"/>
              </a:solidFill>
              <a:ln w="63500">
                <a:solidFill>
                  <a:srgbClr val="FDB91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6" name="图片 55">
                <a:extLst>
                  <a:ext uri="{FF2B5EF4-FFF2-40B4-BE49-F238E27FC236}">
                    <a16:creationId xmlns:a16="http://schemas.microsoft.com/office/drawing/2014/main" id="{2199246D-E3C8-A73D-AE03-9733CB04C01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93201" y="2084417"/>
                <a:ext cx="1602403" cy="1201801"/>
              </a:xfrm>
              <a:prstGeom prst="rect">
                <a:avLst/>
              </a:prstGeom>
            </p:spPr>
          </p:pic>
          <p:sp>
            <p:nvSpPr>
              <p:cNvPr id="57" name="矩形 56">
                <a:extLst>
                  <a:ext uri="{FF2B5EF4-FFF2-40B4-BE49-F238E27FC236}">
                    <a16:creationId xmlns:a16="http://schemas.microsoft.com/office/drawing/2014/main" id="{59625590-1523-5450-EDB0-D22C49AC0FDF}"/>
                  </a:ext>
                </a:extLst>
              </p:cNvPr>
              <p:cNvSpPr/>
              <p:nvPr/>
            </p:nvSpPr>
            <p:spPr>
              <a:xfrm>
                <a:off x="6318946" y="3035306"/>
                <a:ext cx="1660173" cy="541655"/>
              </a:xfrm>
              <a:prstGeom prst="rect">
                <a:avLst/>
              </a:prstGeom>
            </p:spPr>
            <p:txBody>
              <a:bodyPr wrap="none">
                <a:spAutoFit/>
              </a:bodyPr>
              <a:lstStyle/>
              <a:p>
                <a:r>
                  <a:rPr lang="en-US" altLang="zh-CN" sz="1600" b="1" dirty="0"/>
                  <a:t>mmWave</a:t>
                </a:r>
              </a:p>
            </p:txBody>
          </p:sp>
        </p:grpSp>
        <p:grpSp>
          <p:nvGrpSpPr>
            <p:cNvPr id="26" name="组合 25">
              <a:extLst>
                <a:ext uri="{FF2B5EF4-FFF2-40B4-BE49-F238E27FC236}">
                  <a16:creationId xmlns:a16="http://schemas.microsoft.com/office/drawing/2014/main" id="{DDDBDD2E-2CAD-BAC4-F8C9-E8A1A1AED688}"/>
                </a:ext>
              </a:extLst>
            </p:cNvPr>
            <p:cNvGrpSpPr/>
            <p:nvPr/>
          </p:nvGrpSpPr>
          <p:grpSpPr>
            <a:xfrm>
              <a:off x="3618073" y="2114131"/>
              <a:ext cx="1683752" cy="1721644"/>
              <a:chOff x="9545068" y="2635025"/>
              <a:chExt cx="1548678" cy="1583530"/>
            </a:xfrm>
            <a:effectLst>
              <a:outerShdw blurRad="50800" dist="38100" dir="18900000" algn="bl" rotWithShape="0">
                <a:prstClr val="black">
                  <a:alpha val="40000"/>
                </a:prstClr>
              </a:outerShdw>
            </a:effectLst>
          </p:grpSpPr>
          <p:sp>
            <p:nvSpPr>
              <p:cNvPr id="52" name="椭圆 51">
                <a:extLst>
                  <a:ext uri="{FF2B5EF4-FFF2-40B4-BE49-F238E27FC236}">
                    <a16:creationId xmlns:a16="http://schemas.microsoft.com/office/drawing/2014/main" id="{44E7D741-D715-47DB-A647-DADFF1A2ADD1}"/>
                  </a:ext>
                </a:extLst>
              </p:cNvPr>
              <p:cNvSpPr/>
              <p:nvPr/>
            </p:nvSpPr>
            <p:spPr>
              <a:xfrm>
                <a:off x="9545068" y="2635025"/>
                <a:ext cx="1548678" cy="1583530"/>
              </a:xfrm>
              <a:prstGeom prst="ellipse">
                <a:avLst/>
              </a:prstGeom>
              <a:solidFill>
                <a:schemeClr val="bg1"/>
              </a:solidFill>
              <a:ln w="63500">
                <a:solidFill>
                  <a:srgbClr val="FDB91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Picture 6" descr="Free Microphone Icon. SVG, EPS, JPG, PNG. Download Microphone Icon.">
                <a:extLst>
                  <a:ext uri="{FF2B5EF4-FFF2-40B4-BE49-F238E27FC236}">
                    <a16:creationId xmlns:a16="http://schemas.microsoft.com/office/drawing/2014/main" id="{EE237E68-DA1E-28AA-6853-6B0FE3DA048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509" t="23501" r="32939" b="23282"/>
              <a:stretch/>
            </p:blipFill>
            <p:spPr bwMode="auto">
              <a:xfrm>
                <a:off x="9997707" y="2811684"/>
                <a:ext cx="587452" cy="904808"/>
              </a:xfrm>
              <a:prstGeom prst="rect">
                <a:avLst/>
              </a:prstGeom>
              <a:noFill/>
              <a:extLst>
                <a:ext uri="{909E8E84-426E-40DD-AFC4-6F175D3DCCD1}">
                  <a14:hiddenFill xmlns:a14="http://schemas.microsoft.com/office/drawing/2010/main">
                    <a:solidFill>
                      <a:srgbClr val="FFFFFF"/>
                    </a:solidFill>
                  </a14:hiddenFill>
                </a:ext>
              </a:extLst>
            </p:spPr>
          </p:pic>
          <p:sp>
            <p:nvSpPr>
              <p:cNvPr id="54" name="矩形 53">
                <a:extLst>
                  <a:ext uri="{FF2B5EF4-FFF2-40B4-BE49-F238E27FC236}">
                    <a16:creationId xmlns:a16="http://schemas.microsoft.com/office/drawing/2014/main" id="{D9C05EB0-1897-1D57-B9A9-4013007785A8}"/>
                  </a:ext>
                </a:extLst>
              </p:cNvPr>
              <p:cNvSpPr/>
              <p:nvPr/>
            </p:nvSpPr>
            <p:spPr>
              <a:xfrm>
                <a:off x="9700624" y="3653983"/>
                <a:ext cx="1317405" cy="432422"/>
              </a:xfrm>
              <a:prstGeom prst="rect">
                <a:avLst/>
              </a:prstGeom>
            </p:spPr>
            <p:txBody>
              <a:bodyPr wrap="none">
                <a:spAutoFit/>
              </a:bodyPr>
              <a:lstStyle/>
              <a:p>
                <a:r>
                  <a:rPr lang="en-US" altLang="zh-CN" sz="1600" b="1" dirty="0"/>
                  <a:t>Acoustics</a:t>
                </a:r>
                <a:endParaRPr lang="en-US" altLang="zh-CN" b="1" dirty="0"/>
              </a:p>
            </p:txBody>
          </p:sp>
        </p:grpSp>
        <p:pic>
          <p:nvPicPr>
            <p:cNvPr id="27" name="Picture 4" descr="LoRa®️ · GitHub">
              <a:extLst>
                <a:ext uri="{FF2B5EF4-FFF2-40B4-BE49-F238E27FC236}">
                  <a16:creationId xmlns:a16="http://schemas.microsoft.com/office/drawing/2014/main" id="{2188AD5B-A133-F72B-06FA-39796C61190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4940" t="27499" r="11721" b="27233"/>
            <a:stretch/>
          </p:blipFill>
          <p:spPr bwMode="auto">
            <a:xfrm>
              <a:off x="4028500" y="5942276"/>
              <a:ext cx="816959" cy="504270"/>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组合 27">
              <a:extLst>
                <a:ext uri="{FF2B5EF4-FFF2-40B4-BE49-F238E27FC236}">
                  <a16:creationId xmlns:a16="http://schemas.microsoft.com/office/drawing/2014/main" id="{9CD06F0F-0A20-F105-0B7F-7E42221440D5}"/>
                </a:ext>
              </a:extLst>
            </p:cNvPr>
            <p:cNvGrpSpPr/>
            <p:nvPr/>
          </p:nvGrpSpPr>
          <p:grpSpPr>
            <a:xfrm>
              <a:off x="8570886" y="3892421"/>
              <a:ext cx="1241643" cy="1162521"/>
              <a:chOff x="8832195" y="3729243"/>
              <a:chExt cx="1241643" cy="1162521"/>
            </a:xfrm>
          </p:grpSpPr>
          <p:sp>
            <p:nvSpPr>
              <p:cNvPr id="49" name="椭圆 48">
                <a:extLst>
                  <a:ext uri="{FF2B5EF4-FFF2-40B4-BE49-F238E27FC236}">
                    <a16:creationId xmlns:a16="http://schemas.microsoft.com/office/drawing/2014/main" id="{61F676CE-7403-C0DB-74BD-7ABA59C37664}"/>
                  </a:ext>
                </a:extLst>
              </p:cNvPr>
              <p:cNvSpPr/>
              <p:nvPr/>
            </p:nvSpPr>
            <p:spPr>
              <a:xfrm>
                <a:off x="8832195" y="3729243"/>
                <a:ext cx="1136935" cy="1162521"/>
              </a:xfrm>
              <a:prstGeom prst="ellipse">
                <a:avLst/>
              </a:prstGeom>
              <a:solidFill>
                <a:schemeClr val="bg1"/>
              </a:solidFill>
              <a:ln w="63500">
                <a:solidFill>
                  <a:srgbClr val="FDB91A"/>
                </a:solidFill>
                <a:prstDash val="solid"/>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05AFDCE6-A6A9-6427-FDE1-AB7E81BE75C5}"/>
                  </a:ext>
                </a:extLst>
              </p:cNvPr>
              <p:cNvSpPr/>
              <p:nvPr/>
            </p:nvSpPr>
            <p:spPr>
              <a:xfrm>
                <a:off x="8866819" y="4278920"/>
                <a:ext cx="1207019" cy="470138"/>
              </a:xfrm>
              <a:prstGeom prst="rect">
                <a:avLst/>
              </a:prstGeom>
            </p:spPr>
            <p:txBody>
              <a:bodyPr wrap="none">
                <a:spAutoFit/>
              </a:bodyPr>
              <a:lstStyle/>
              <a:p>
                <a:r>
                  <a:rPr lang="en-US" altLang="zh-CN" sz="1600" b="1" dirty="0"/>
                  <a:t>Camera</a:t>
                </a:r>
              </a:p>
            </p:txBody>
          </p:sp>
          <p:pic>
            <p:nvPicPr>
              <p:cNvPr id="51" name="Picture 6" descr="VIVOTEK ::">
                <a:extLst>
                  <a:ext uri="{FF2B5EF4-FFF2-40B4-BE49-F238E27FC236}">
                    <a16:creationId xmlns:a16="http://schemas.microsoft.com/office/drawing/2014/main" id="{CDE3CE90-E303-EA84-85A6-29CD4FB56AF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99647" y="3799301"/>
                <a:ext cx="1018572" cy="664286"/>
              </a:xfrm>
              <a:prstGeom prst="rect">
                <a:avLst/>
              </a:prstGeom>
              <a:noFill/>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nvGrpSpPr>
            <p:cNvPr id="29" name="组合 28">
              <a:extLst>
                <a:ext uri="{FF2B5EF4-FFF2-40B4-BE49-F238E27FC236}">
                  <a16:creationId xmlns:a16="http://schemas.microsoft.com/office/drawing/2014/main" id="{770A284E-0413-B7F7-78B3-B5D80261A0EF}"/>
                </a:ext>
              </a:extLst>
            </p:cNvPr>
            <p:cNvGrpSpPr/>
            <p:nvPr/>
          </p:nvGrpSpPr>
          <p:grpSpPr>
            <a:xfrm>
              <a:off x="7466203" y="521153"/>
              <a:ext cx="1058699" cy="1116265"/>
              <a:chOff x="7526188" y="5562217"/>
              <a:chExt cx="1058699" cy="1116265"/>
            </a:xfrm>
          </p:grpSpPr>
          <p:sp>
            <p:nvSpPr>
              <p:cNvPr id="46" name="椭圆 45">
                <a:extLst>
                  <a:ext uri="{FF2B5EF4-FFF2-40B4-BE49-F238E27FC236}">
                    <a16:creationId xmlns:a16="http://schemas.microsoft.com/office/drawing/2014/main" id="{BB591312-4BF2-6E38-A101-E268716036C5}"/>
                  </a:ext>
                </a:extLst>
              </p:cNvPr>
              <p:cNvSpPr/>
              <p:nvPr/>
            </p:nvSpPr>
            <p:spPr>
              <a:xfrm>
                <a:off x="7526188" y="5562217"/>
                <a:ext cx="1058699" cy="1082524"/>
              </a:xfrm>
              <a:prstGeom prst="ellipse">
                <a:avLst/>
              </a:prstGeom>
              <a:solidFill>
                <a:schemeClr val="bg1"/>
              </a:solidFill>
              <a:ln w="63500">
                <a:solidFill>
                  <a:srgbClr val="FDB91A"/>
                </a:solidFill>
                <a:prstDash val="solid"/>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7" name="图片 46">
                <a:extLst>
                  <a:ext uri="{FF2B5EF4-FFF2-40B4-BE49-F238E27FC236}">
                    <a16:creationId xmlns:a16="http://schemas.microsoft.com/office/drawing/2014/main" id="{3C2080C9-7826-4983-DD1E-114A0D96DD45}"/>
                  </a:ext>
                </a:extLst>
              </p:cNvPr>
              <p:cNvPicPr>
                <a:picLocks noChangeAspect="1"/>
              </p:cNvPicPr>
              <p:nvPr/>
            </p:nvPicPr>
            <p:blipFill>
              <a:blip r:embed="rId8"/>
              <a:stretch>
                <a:fillRect/>
              </a:stretch>
            </p:blipFill>
            <p:spPr>
              <a:xfrm>
                <a:off x="7788996" y="5715096"/>
                <a:ext cx="576008" cy="569713"/>
              </a:xfrm>
              <a:prstGeom prst="rect">
                <a:avLst/>
              </a:prstGeom>
            </p:spPr>
          </p:pic>
          <p:sp>
            <p:nvSpPr>
              <p:cNvPr id="48" name="矩形 47">
                <a:extLst>
                  <a:ext uri="{FF2B5EF4-FFF2-40B4-BE49-F238E27FC236}">
                    <a16:creationId xmlns:a16="http://schemas.microsoft.com/office/drawing/2014/main" id="{B740A042-33C0-CBE1-1839-9199015CBA15}"/>
                  </a:ext>
                </a:extLst>
              </p:cNvPr>
              <p:cNvSpPr/>
              <p:nvPr/>
            </p:nvSpPr>
            <p:spPr>
              <a:xfrm>
                <a:off x="7714675" y="6208345"/>
                <a:ext cx="773776" cy="470137"/>
              </a:xfrm>
              <a:prstGeom prst="rect">
                <a:avLst/>
              </a:prstGeom>
            </p:spPr>
            <p:txBody>
              <a:bodyPr wrap="none">
                <a:spAutoFit/>
              </a:bodyPr>
              <a:lstStyle/>
              <a:p>
                <a:r>
                  <a:rPr lang="en-US" altLang="zh-CN" sz="1600" b="1" dirty="0"/>
                  <a:t>NFC</a:t>
                </a:r>
              </a:p>
            </p:txBody>
          </p:sp>
        </p:grpSp>
        <p:grpSp>
          <p:nvGrpSpPr>
            <p:cNvPr id="33" name="组合 32">
              <a:extLst>
                <a:ext uri="{FF2B5EF4-FFF2-40B4-BE49-F238E27FC236}">
                  <a16:creationId xmlns:a16="http://schemas.microsoft.com/office/drawing/2014/main" id="{B4DF52E7-39C4-7C35-2811-BF17B8356807}"/>
                </a:ext>
              </a:extLst>
            </p:cNvPr>
            <p:cNvGrpSpPr/>
            <p:nvPr/>
          </p:nvGrpSpPr>
          <p:grpSpPr>
            <a:xfrm>
              <a:off x="7115370" y="5722019"/>
              <a:ext cx="1031386" cy="1085442"/>
              <a:chOff x="9820500" y="316709"/>
              <a:chExt cx="1506596" cy="1585560"/>
            </a:xfrm>
            <a:effectLst>
              <a:outerShdw blurRad="50800" dist="38100" dir="18900000" algn="bl" rotWithShape="0">
                <a:prstClr val="black">
                  <a:alpha val="40000"/>
                </a:prstClr>
              </a:outerShdw>
            </a:effectLst>
          </p:grpSpPr>
          <p:sp>
            <p:nvSpPr>
              <p:cNvPr id="44" name="椭圆 43">
                <a:extLst>
                  <a:ext uri="{FF2B5EF4-FFF2-40B4-BE49-F238E27FC236}">
                    <a16:creationId xmlns:a16="http://schemas.microsoft.com/office/drawing/2014/main" id="{86F522A7-5EF4-9BE2-BDDE-B8D421443916}"/>
                  </a:ext>
                </a:extLst>
              </p:cNvPr>
              <p:cNvSpPr/>
              <p:nvPr/>
            </p:nvSpPr>
            <p:spPr>
              <a:xfrm>
                <a:off x="9820500" y="316709"/>
                <a:ext cx="1506596" cy="1540501"/>
              </a:xfrm>
              <a:prstGeom prst="ellipse">
                <a:avLst/>
              </a:prstGeom>
              <a:solidFill>
                <a:schemeClr val="bg1"/>
              </a:solidFill>
              <a:ln w="63500">
                <a:solidFill>
                  <a:srgbClr val="FDB91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矩形 44">
                <a:extLst>
                  <a:ext uri="{FF2B5EF4-FFF2-40B4-BE49-F238E27FC236}">
                    <a16:creationId xmlns:a16="http://schemas.microsoft.com/office/drawing/2014/main" id="{E331E666-0A58-E4AA-1F2C-E15ECC439F7F}"/>
                  </a:ext>
                </a:extLst>
              </p:cNvPr>
              <p:cNvSpPr/>
              <p:nvPr/>
            </p:nvSpPr>
            <p:spPr>
              <a:xfrm>
                <a:off x="10288136" y="1215515"/>
                <a:ext cx="845503" cy="686754"/>
              </a:xfrm>
              <a:prstGeom prst="rect">
                <a:avLst/>
              </a:prstGeom>
            </p:spPr>
            <p:txBody>
              <a:bodyPr wrap="none">
                <a:spAutoFit/>
              </a:bodyPr>
              <a:lstStyle/>
              <a:p>
                <a:r>
                  <a:rPr lang="en-US" altLang="zh-CN" sz="1600" b="1" dirty="0"/>
                  <a:t>IR</a:t>
                </a:r>
                <a:r>
                  <a:rPr lang="en-US" altLang="zh-CN" sz="1600" dirty="0"/>
                  <a:t> </a:t>
                </a:r>
                <a:endParaRPr lang="en-US" altLang="zh-CN" sz="1600" b="1" dirty="0"/>
              </a:p>
            </p:txBody>
          </p:sp>
        </p:grpSp>
        <p:pic>
          <p:nvPicPr>
            <p:cNvPr id="35" name="Picture 8" descr="DJI - Official Website">
              <a:extLst>
                <a:ext uri="{FF2B5EF4-FFF2-40B4-BE49-F238E27FC236}">
                  <a16:creationId xmlns:a16="http://schemas.microsoft.com/office/drawing/2014/main" id="{0A951663-91E9-D828-3771-96E38220405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9023" t="29574" r="8774" b="30267"/>
            <a:stretch/>
          </p:blipFill>
          <p:spPr bwMode="auto">
            <a:xfrm rot="653482">
              <a:off x="4358779" y="3703707"/>
              <a:ext cx="2723132" cy="1330360"/>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组合 37">
              <a:extLst>
                <a:ext uri="{FF2B5EF4-FFF2-40B4-BE49-F238E27FC236}">
                  <a16:creationId xmlns:a16="http://schemas.microsoft.com/office/drawing/2014/main" id="{0ED93205-9936-B2AB-9127-722AC63769E8}"/>
                </a:ext>
              </a:extLst>
            </p:cNvPr>
            <p:cNvGrpSpPr/>
            <p:nvPr/>
          </p:nvGrpSpPr>
          <p:grpSpPr>
            <a:xfrm>
              <a:off x="2220539" y="3013624"/>
              <a:ext cx="1031386" cy="1101815"/>
              <a:chOff x="9820500" y="316709"/>
              <a:chExt cx="1506596" cy="1609476"/>
            </a:xfrm>
            <a:effectLst>
              <a:outerShdw blurRad="50800" dist="38100" dir="18900000" algn="bl" rotWithShape="0">
                <a:prstClr val="black">
                  <a:alpha val="40000"/>
                </a:prstClr>
              </a:outerShdw>
            </a:effectLst>
          </p:grpSpPr>
          <p:sp>
            <p:nvSpPr>
              <p:cNvPr id="41" name="椭圆 40">
                <a:extLst>
                  <a:ext uri="{FF2B5EF4-FFF2-40B4-BE49-F238E27FC236}">
                    <a16:creationId xmlns:a16="http://schemas.microsoft.com/office/drawing/2014/main" id="{AA3C69C4-3BD1-356F-A5B2-3F9D5B2FE801}"/>
                  </a:ext>
                </a:extLst>
              </p:cNvPr>
              <p:cNvSpPr/>
              <p:nvPr/>
            </p:nvSpPr>
            <p:spPr>
              <a:xfrm>
                <a:off x="9820500" y="316709"/>
                <a:ext cx="1506596" cy="1540501"/>
              </a:xfrm>
              <a:prstGeom prst="ellipse">
                <a:avLst/>
              </a:prstGeom>
              <a:solidFill>
                <a:schemeClr val="bg1"/>
              </a:solidFill>
              <a:ln w="63500">
                <a:solidFill>
                  <a:srgbClr val="FDB91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2" name="Picture 2" descr="3D LiDAR sensors | MRS1000 SICK">
                <a:extLst>
                  <a:ext uri="{FF2B5EF4-FFF2-40B4-BE49-F238E27FC236}">
                    <a16:creationId xmlns:a16="http://schemas.microsoft.com/office/drawing/2014/main" id="{0D142F86-DDB2-0D77-3D94-818ABCD3D64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877703" y="508803"/>
                <a:ext cx="1354031" cy="915296"/>
              </a:xfrm>
              <a:prstGeom prst="rect">
                <a:avLst/>
              </a:prstGeom>
              <a:noFill/>
              <a:extLst>
                <a:ext uri="{909E8E84-426E-40DD-AFC4-6F175D3DCCD1}">
                  <a14:hiddenFill xmlns:a14="http://schemas.microsoft.com/office/drawing/2010/main">
                    <a:solidFill>
                      <a:srgbClr val="FFFFFF"/>
                    </a:solidFill>
                  </a14:hiddenFill>
                </a:ext>
              </a:extLst>
            </p:spPr>
          </p:pic>
          <p:sp>
            <p:nvSpPr>
              <p:cNvPr id="43" name="矩形 42">
                <a:extLst>
                  <a:ext uri="{FF2B5EF4-FFF2-40B4-BE49-F238E27FC236}">
                    <a16:creationId xmlns:a16="http://schemas.microsoft.com/office/drawing/2014/main" id="{B45C046E-FA6C-AE05-37CF-3B42509DF50F}"/>
                  </a:ext>
                </a:extLst>
              </p:cNvPr>
              <p:cNvSpPr/>
              <p:nvPr/>
            </p:nvSpPr>
            <p:spPr>
              <a:xfrm>
                <a:off x="10005285" y="1239431"/>
                <a:ext cx="1272686" cy="686754"/>
              </a:xfrm>
              <a:prstGeom prst="rect">
                <a:avLst/>
              </a:prstGeom>
            </p:spPr>
            <p:txBody>
              <a:bodyPr wrap="none">
                <a:spAutoFit/>
              </a:bodyPr>
              <a:lstStyle/>
              <a:p>
                <a:r>
                  <a:rPr lang="en-US" altLang="zh-CN" sz="1600" b="1" dirty="0"/>
                  <a:t>Lidar</a:t>
                </a:r>
              </a:p>
            </p:txBody>
          </p:sp>
        </p:grpSp>
        <p:pic>
          <p:nvPicPr>
            <p:cNvPr id="39" name="图片 38">
              <a:extLst>
                <a:ext uri="{FF2B5EF4-FFF2-40B4-BE49-F238E27FC236}">
                  <a16:creationId xmlns:a16="http://schemas.microsoft.com/office/drawing/2014/main" id="{85D7CFE7-C8EF-EDB2-47C7-4E468FD0292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185747" y="5840078"/>
              <a:ext cx="872078" cy="581386"/>
            </a:xfrm>
            <a:prstGeom prst="rect">
              <a:avLst/>
            </a:prstGeom>
          </p:spPr>
        </p:pic>
      </p:grpSp>
    </p:spTree>
    <p:extLst>
      <p:ext uri="{BB962C8B-B14F-4D97-AF65-F5344CB8AC3E}">
        <p14:creationId xmlns:p14="http://schemas.microsoft.com/office/powerpoint/2010/main" val="3859887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Advantages of the mmWave radar</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11" name="文本框 10">
            <a:extLst>
              <a:ext uri="{FF2B5EF4-FFF2-40B4-BE49-F238E27FC236}">
                <a16:creationId xmlns:a16="http://schemas.microsoft.com/office/drawing/2014/main" id="{AE4F0DC0-BA5A-D99E-A34A-44032D2DA35A}"/>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3/18</a:t>
            </a:r>
            <a:endParaRPr lang="zh-CN" altLang="en-US" sz="2000" b="1" dirty="0">
              <a:solidFill>
                <a:srgbClr val="757575"/>
              </a:solidFill>
              <a:latin typeface="Seravek"/>
            </a:endParaRPr>
          </a:p>
        </p:txBody>
      </p:sp>
      <p:sp>
        <p:nvSpPr>
          <p:cNvPr id="5" name="文本框 4">
            <a:extLst>
              <a:ext uri="{FF2B5EF4-FFF2-40B4-BE49-F238E27FC236}">
                <a16:creationId xmlns:a16="http://schemas.microsoft.com/office/drawing/2014/main" id="{AA652271-9DF2-2A13-43B5-54B194BF8F7A}"/>
              </a:ext>
            </a:extLst>
          </p:cNvPr>
          <p:cNvSpPr txBox="1"/>
          <p:nvPr/>
        </p:nvSpPr>
        <p:spPr>
          <a:xfrm>
            <a:off x="2707047" y="2219702"/>
            <a:ext cx="7915895"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Accurate tracking capability </a:t>
            </a:r>
            <a:endParaRPr lang="zh-CN" altLang="en-US" sz="2800" dirty="0"/>
          </a:p>
        </p:txBody>
      </p:sp>
      <p:sp>
        <p:nvSpPr>
          <p:cNvPr id="9" name="文本框 8">
            <a:extLst>
              <a:ext uri="{FF2B5EF4-FFF2-40B4-BE49-F238E27FC236}">
                <a16:creationId xmlns:a16="http://schemas.microsoft.com/office/drawing/2014/main" id="{C555D11C-ACDE-3759-5512-D7071153510B}"/>
              </a:ext>
            </a:extLst>
          </p:cNvPr>
          <p:cNvSpPr txBox="1"/>
          <p:nvPr/>
        </p:nvSpPr>
        <p:spPr>
          <a:xfrm>
            <a:off x="2707048" y="3107207"/>
            <a:ext cx="8313460"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Wide detection </a:t>
            </a:r>
            <a:r>
              <a:rPr lang="en-US" altLang="zh-CN" sz="2800" dirty="0" err="1">
                <a:latin typeface="Seravek"/>
              </a:rPr>
              <a:t>FoV</a:t>
            </a:r>
            <a:endParaRPr lang="zh-CN" altLang="en-US" sz="2800" dirty="0"/>
          </a:p>
        </p:txBody>
      </p:sp>
      <p:sp>
        <p:nvSpPr>
          <p:cNvPr id="10" name="文本框 9">
            <a:extLst>
              <a:ext uri="{FF2B5EF4-FFF2-40B4-BE49-F238E27FC236}">
                <a16:creationId xmlns:a16="http://schemas.microsoft.com/office/drawing/2014/main" id="{A7FCDCB4-73CB-EAF0-236D-83CEFFA03EE0}"/>
              </a:ext>
            </a:extLst>
          </p:cNvPr>
          <p:cNvSpPr txBox="1"/>
          <p:nvPr/>
        </p:nvSpPr>
        <p:spPr>
          <a:xfrm>
            <a:off x="2707048" y="4003678"/>
            <a:ext cx="7899992"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Work in various illumination and noise conditions</a:t>
            </a:r>
            <a:endParaRPr lang="zh-CN" altLang="en-US" sz="2800" dirty="0"/>
          </a:p>
        </p:txBody>
      </p:sp>
      <p:sp>
        <p:nvSpPr>
          <p:cNvPr id="12" name="文本框 11">
            <a:extLst>
              <a:ext uri="{FF2B5EF4-FFF2-40B4-BE49-F238E27FC236}">
                <a16:creationId xmlns:a16="http://schemas.microsoft.com/office/drawing/2014/main" id="{AAC97418-8BDD-2511-CA35-C9AD75739532}"/>
              </a:ext>
            </a:extLst>
          </p:cNvPr>
          <p:cNvSpPr txBox="1"/>
          <p:nvPr/>
        </p:nvSpPr>
        <p:spPr>
          <a:xfrm>
            <a:off x="2707048" y="4873253"/>
            <a:ext cx="6301780"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Low-cost and easy to deploy</a:t>
            </a:r>
            <a:endParaRPr lang="zh-CN" altLang="en-US" sz="2800" dirty="0"/>
          </a:p>
        </p:txBody>
      </p:sp>
      <p:pic>
        <p:nvPicPr>
          <p:cNvPr id="56" name="图片 55">
            <a:extLst>
              <a:ext uri="{FF2B5EF4-FFF2-40B4-BE49-F238E27FC236}">
                <a16:creationId xmlns:a16="http://schemas.microsoft.com/office/drawing/2014/main" id="{2199246D-E3C8-A73D-AE03-9733CB04C0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2617" y="4879573"/>
            <a:ext cx="2048190" cy="1494869"/>
          </a:xfrm>
          <a:prstGeom prst="rect">
            <a:avLst/>
          </a:prstGeom>
        </p:spPr>
      </p:pic>
      <p:pic>
        <p:nvPicPr>
          <p:cNvPr id="35" name="Picture 8" descr="DJI - Official Website">
            <a:extLst>
              <a:ext uri="{FF2B5EF4-FFF2-40B4-BE49-F238E27FC236}">
                <a16:creationId xmlns:a16="http://schemas.microsoft.com/office/drawing/2014/main" id="{0A951663-91E9-D828-3771-96E38220405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023" t="29574" r="8774" b="30267"/>
          <a:stretch/>
        </p:blipFill>
        <p:spPr bwMode="auto">
          <a:xfrm rot="653482">
            <a:off x="9698985" y="1658596"/>
            <a:ext cx="2015115" cy="958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450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Challenge of mmWave-based UAV detection system</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11" name="文本框 10">
            <a:extLst>
              <a:ext uri="{FF2B5EF4-FFF2-40B4-BE49-F238E27FC236}">
                <a16:creationId xmlns:a16="http://schemas.microsoft.com/office/drawing/2014/main" id="{AE4F0DC0-BA5A-D99E-A34A-44032D2DA35A}"/>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4/18</a:t>
            </a:r>
            <a:endParaRPr lang="zh-CN" altLang="en-US" sz="2000" b="1" dirty="0">
              <a:solidFill>
                <a:srgbClr val="757575"/>
              </a:solidFill>
              <a:latin typeface="Seravek"/>
            </a:endParaRPr>
          </a:p>
        </p:txBody>
      </p:sp>
      <p:sp>
        <p:nvSpPr>
          <p:cNvPr id="5" name="文本框 4">
            <a:extLst>
              <a:ext uri="{FF2B5EF4-FFF2-40B4-BE49-F238E27FC236}">
                <a16:creationId xmlns:a16="http://schemas.microsoft.com/office/drawing/2014/main" id="{AA652271-9DF2-2A13-43B5-54B194BF8F7A}"/>
              </a:ext>
            </a:extLst>
          </p:cNvPr>
          <p:cNvSpPr txBox="1"/>
          <p:nvPr/>
        </p:nvSpPr>
        <p:spPr>
          <a:xfrm>
            <a:off x="774881" y="2092480"/>
            <a:ext cx="10444411"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The </a:t>
            </a:r>
            <a:r>
              <a:rPr lang="en-US" altLang="zh-CN" sz="2800" b="1" dirty="0">
                <a:latin typeface="Seravek"/>
              </a:rPr>
              <a:t>weak</a:t>
            </a:r>
            <a:r>
              <a:rPr lang="en-US" altLang="zh-CN" sz="2800" dirty="0">
                <a:latin typeface="Seravek"/>
              </a:rPr>
              <a:t> reflected signal from the small UAV at height </a:t>
            </a:r>
            <a:endParaRPr lang="zh-CN" altLang="en-US" sz="2800" dirty="0"/>
          </a:p>
        </p:txBody>
      </p:sp>
      <p:sp>
        <p:nvSpPr>
          <p:cNvPr id="9" name="文本框 8">
            <a:extLst>
              <a:ext uri="{FF2B5EF4-FFF2-40B4-BE49-F238E27FC236}">
                <a16:creationId xmlns:a16="http://schemas.microsoft.com/office/drawing/2014/main" id="{C555D11C-ACDE-3759-5512-D7071153510B}"/>
              </a:ext>
            </a:extLst>
          </p:cNvPr>
          <p:cNvSpPr txBox="1"/>
          <p:nvPr/>
        </p:nvSpPr>
        <p:spPr>
          <a:xfrm>
            <a:off x="774882" y="2979985"/>
            <a:ext cx="10810170"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The </a:t>
            </a:r>
            <a:r>
              <a:rPr lang="en-US" altLang="zh-CN" sz="2800" b="1" dirty="0">
                <a:latin typeface="Seravek"/>
              </a:rPr>
              <a:t>dynamic and unpredictable </a:t>
            </a:r>
            <a:r>
              <a:rPr lang="en-US" altLang="zh-CN" sz="2800" dirty="0">
                <a:latin typeface="Seravek"/>
              </a:rPr>
              <a:t>motion of the non-cooperative UAV</a:t>
            </a:r>
            <a:endParaRPr lang="zh-CN" altLang="en-US" sz="2800" dirty="0"/>
          </a:p>
        </p:txBody>
      </p:sp>
      <p:sp>
        <p:nvSpPr>
          <p:cNvPr id="10" name="文本框 9">
            <a:extLst>
              <a:ext uri="{FF2B5EF4-FFF2-40B4-BE49-F238E27FC236}">
                <a16:creationId xmlns:a16="http://schemas.microsoft.com/office/drawing/2014/main" id="{A7FCDCB4-73CB-EAF0-236D-83CEFFA03EE0}"/>
              </a:ext>
            </a:extLst>
          </p:cNvPr>
          <p:cNvSpPr txBox="1"/>
          <p:nvPr/>
        </p:nvSpPr>
        <p:spPr>
          <a:xfrm>
            <a:off x="774881" y="3876456"/>
            <a:ext cx="11096418"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latin typeface="Seravek"/>
              </a:rPr>
              <a:t>The </a:t>
            </a:r>
            <a:r>
              <a:rPr lang="en-US" altLang="zh-CN" sz="2800" b="1" dirty="0">
                <a:latin typeface="Seravek"/>
              </a:rPr>
              <a:t>tightly coupled </a:t>
            </a:r>
            <a:r>
              <a:rPr lang="en-US" altLang="zh-CN" sz="2800" dirty="0">
                <a:latin typeface="Seravek"/>
              </a:rPr>
              <a:t>inherent UAV features and motion-related features </a:t>
            </a:r>
            <a:endParaRPr lang="zh-CN" altLang="en-US" sz="2800" dirty="0"/>
          </a:p>
        </p:txBody>
      </p:sp>
      <p:sp>
        <p:nvSpPr>
          <p:cNvPr id="2" name="TextBox 10">
            <a:extLst>
              <a:ext uri="{FF2B5EF4-FFF2-40B4-BE49-F238E27FC236}">
                <a16:creationId xmlns:a16="http://schemas.microsoft.com/office/drawing/2014/main" id="{615E5904-7EF8-951C-B7F0-2A522B6263DD}"/>
              </a:ext>
            </a:extLst>
          </p:cNvPr>
          <p:cNvSpPr txBox="1"/>
          <p:nvPr/>
        </p:nvSpPr>
        <p:spPr>
          <a:xfrm>
            <a:off x="381000" y="4780449"/>
            <a:ext cx="11332028" cy="1328023"/>
          </a:xfrm>
          <a:prstGeom prst="roundRect">
            <a:avLst/>
          </a:prstGeom>
          <a:solidFill>
            <a:srgbClr val="0D0D0D">
              <a:alpha val="80000"/>
            </a:srgbClr>
          </a:solidFill>
        </p:spPr>
        <p:txBody>
          <a:bodyPr wrap="square" rtlCol="0">
            <a:spAutoFit/>
          </a:bodyPr>
          <a:lstStyle/>
          <a:p>
            <a:pPr algn="ctr"/>
            <a:r>
              <a:rPr lang="en-US" altLang="zh-CN" sz="3600" dirty="0">
                <a:solidFill>
                  <a:schemeClr val="bg1"/>
                </a:solidFill>
                <a:latin typeface="Seravek" charset="0"/>
                <a:ea typeface="Seravek" charset="0"/>
                <a:cs typeface="Seravek" charset="0"/>
              </a:rPr>
              <a:t>The above factors lead to the </a:t>
            </a:r>
            <a:r>
              <a:rPr lang="en-US" altLang="zh-CN" sz="3600" dirty="0">
                <a:solidFill>
                  <a:srgbClr val="92D050"/>
                </a:solidFill>
                <a:latin typeface="Seravek" charset="0"/>
                <a:ea typeface="Seravek" charset="0"/>
                <a:cs typeface="Seravek" charset="0"/>
              </a:rPr>
              <a:t>very low SNR </a:t>
            </a:r>
            <a:r>
              <a:rPr lang="en-US" altLang="zh-CN" sz="3600" dirty="0">
                <a:solidFill>
                  <a:schemeClr val="bg1"/>
                </a:solidFill>
                <a:latin typeface="Seravek" charset="0"/>
                <a:ea typeface="Seravek" charset="0"/>
                <a:cs typeface="Seravek" charset="0"/>
              </a:rPr>
              <a:t>and the </a:t>
            </a:r>
            <a:r>
              <a:rPr lang="en-US" altLang="zh-CN" sz="3600" dirty="0">
                <a:solidFill>
                  <a:srgbClr val="92D050"/>
                </a:solidFill>
                <a:latin typeface="Seravek" charset="0"/>
                <a:ea typeface="Seravek" charset="0"/>
                <a:cs typeface="Seravek" charset="0"/>
              </a:rPr>
              <a:t>uncertainty</a:t>
            </a:r>
            <a:r>
              <a:rPr lang="en-US" altLang="zh-CN" sz="3600" dirty="0">
                <a:solidFill>
                  <a:schemeClr val="bg1"/>
                </a:solidFill>
                <a:latin typeface="Seravek" charset="0"/>
                <a:ea typeface="Seravek" charset="0"/>
                <a:cs typeface="Seravek" charset="0"/>
              </a:rPr>
              <a:t> of the UAV-reflected signals </a:t>
            </a:r>
            <a:endParaRPr lang="en-US" sz="3600" dirty="0">
              <a:solidFill>
                <a:schemeClr val="bg1"/>
              </a:solidFill>
              <a:latin typeface="Seravek" charset="0"/>
              <a:ea typeface="Seravek" charset="0"/>
              <a:cs typeface="Seravek" charset="0"/>
            </a:endParaRPr>
          </a:p>
        </p:txBody>
      </p:sp>
    </p:spTree>
    <p:extLst>
      <p:ext uri="{BB962C8B-B14F-4D97-AF65-F5344CB8AC3E}">
        <p14:creationId xmlns:p14="http://schemas.microsoft.com/office/powerpoint/2010/main" val="381247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Periodic micro-motion (PMM) feature </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6" name="文本框 5">
            <a:extLst>
              <a:ext uri="{FF2B5EF4-FFF2-40B4-BE49-F238E27FC236}">
                <a16:creationId xmlns:a16="http://schemas.microsoft.com/office/drawing/2014/main" id="{5F4F68A7-000F-7E63-ED17-636FDC586E57}"/>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5/18</a:t>
            </a:r>
            <a:endParaRPr lang="zh-CN" altLang="en-US" sz="2000" b="1" dirty="0">
              <a:solidFill>
                <a:srgbClr val="757575"/>
              </a:solidFill>
              <a:latin typeface="Seravek"/>
            </a:endParaRPr>
          </a:p>
        </p:txBody>
      </p:sp>
      <p:pic>
        <p:nvPicPr>
          <p:cNvPr id="2" name="图片 1">
            <a:extLst>
              <a:ext uri="{FF2B5EF4-FFF2-40B4-BE49-F238E27FC236}">
                <a16:creationId xmlns:a16="http://schemas.microsoft.com/office/drawing/2014/main" id="{7AACE701-D1C7-E261-B446-F75CDBFED5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900" y="3453322"/>
            <a:ext cx="3856567" cy="2142537"/>
          </a:xfrm>
          <a:prstGeom prst="rect">
            <a:avLst/>
          </a:prstGeom>
        </p:spPr>
      </p:pic>
      <p:pic>
        <p:nvPicPr>
          <p:cNvPr id="7" name="图片 6">
            <a:extLst>
              <a:ext uri="{FF2B5EF4-FFF2-40B4-BE49-F238E27FC236}">
                <a16:creationId xmlns:a16="http://schemas.microsoft.com/office/drawing/2014/main" id="{DD909D67-45E0-E8C7-10E8-13DE548CE190}"/>
              </a:ext>
            </a:extLst>
          </p:cNvPr>
          <p:cNvPicPr>
            <a:picLocks noChangeAspect="1"/>
          </p:cNvPicPr>
          <p:nvPr/>
        </p:nvPicPr>
        <p:blipFill>
          <a:blip r:embed="rId4"/>
          <a:stretch>
            <a:fillRect/>
          </a:stretch>
        </p:blipFill>
        <p:spPr>
          <a:xfrm>
            <a:off x="5344205" y="3494313"/>
            <a:ext cx="6072609" cy="2398258"/>
          </a:xfrm>
          <a:prstGeom prst="rect">
            <a:avLst/>
          </a:prstGeom>
        </p:spPr>
      </p:pic>
      <p:sp>
        <p:nvSpPr>
          <p:cNvPr id="8" name="文本框 7">
            <a:extLst>
              <a:ext uri="{FF2B5EF4-FFF2-40B4-BE49-F238E27FC236}">
                <a16:creationId xmlns:a16="http://schemas.microsoft.com/office/drawing/2014/main" id="{C95ADACB-647C-2095-B3B6-4702F161D9E5}"/>
              </a:ext>
            </a:extLst>
          </p:cNvPr>
          <p:cNvSpPr txBox="1"/>
          <p:nvPr/>
        </p:nvSpPr>
        <p:spPr>
          <a:xfrm>
            <a:off x="707571" y="1417232"/>
            <a:ext cx="10918372" cy="523220"/>
          </a:xfrm>
          <a:prstGeom prst="rect">
            <a:avLst/>
          </a:prstGeom>
          <a:noFill/>
        </p:spPr>
        <p:txBody>
          <a:bodyPr wrap="square">
            <a:spAutoFit/>
          </a:bodyPr>
          <a:lstStyle/>
          <a:p>
            <a:r>
              <a:rPr lang="en-US" altLang="zh-CN" sz="2800" dirty="0">
                <a:latin typeface="Seravek"/>
              </a:rPr>
              <a:t>A unique signal feature is required to extract the UAV-reflected signals</a:t>
            </a:r>
          </a:p>
        </p:txBody>
      </p:sp>
      <p:sp>
        <p:nvSpPr>
          <p:cNvPr id="9" name="文本框 8">
            <a:extLst>
              <a:ext uri="{FF2B5EF4-FFF2-40B4-BE49-F238E27FC236}">
                <a16:creationId xmlns:a16="http://schemas.microsoft.com/office/drawing/2014/main" id="{20A65E1E-70C7-5F18-73C6-041F2C509E00}"/>
              </a:ext>
            </a:extLst>
          </p:cNvPr>
          <p:cNvSpPr txBox="1"/>
          <p:nvPr/>
        </p:nvSpPr>
        <p:spPr>
          <a:xfrm>
            <a:off x="997992" y="2143502"/>
            <a:ext cx="3867924"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b="0" i="0" dirty="0">
                <a:solidFill>
                  <a:srgbClr val="000000"/>
                </a:solidFill>
                <a:effectLst/>
                <a:latin typeface="LinLibertineT"/>
              </a:rPr>
              <a:t>Motion-independent</a:t>
            </a:r>
            <a:endParaRPr lang="zh-CN" altLang="en-US" sz="2800" dirty="0"/>
          </a:p>
        </p:txBody>
      </p:sp>
      <p:sp>
        <p:nvSpPr>
          <p:cNvPr id="10" name="文本框 9">
            <a:extLst>
              <a:ext uri="{FF2B5EF4-FFF2-40B4-BE49-F238E27FC236}">
                <a16:creationId xmlns:a16="http://schemas.microsoft.com/office/drawing/2014/main" id="{79590A86-EBF4-9517-2987-99993E5A64A5}"/>
              </a:ext>
            </a:extLst>
          </p:cNvPr>
          <p:cNvSpPr txBox="1"/>
          <p:nvPr/>
        </p:nvSpPr>
        <p:spPr>
          <a:xfrm>
            <a:off x="6364649" y="2143502"/>
            <a:ext cx="3867924"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b="0" i="0" dirty="0">
                <a:solidFill>
                  <a:srgbClr val="000000"/>
                </a:solidFill>
                <a:effectLst/>
                <a:latin typeface="LinLibertineT"/>
              </a:rPr>
              <a:t>Stable over time</a:t>
            </a:r>
            <a:endParaRPr lang="zh-CN" altLang="en-US" sz="2800" dirty="0"/>
          </a:p>
        </p:txBody>
      </p:sp>
      <p:sp>
        <p:nvSpPr>
          <p:cNvPr id="11" name="文本框 10">
            <a:extLst>
              <a:ext uri="{FF2B5EF4-FFF2-40B4-BE49-F238E27FC236}">
                <a16:creationId xmlns:a16="http://schemas.microsoft.com/office/drawing/2014/main" id="{D3DAF33D-9817-D0DD-79AF-55D89E1137CC}"/>
              </a:ext>
            </a:extLst>
          </p:cNvPr>
          <p:cNvSpPr txBox="1"/>
          <p:nvPr/>
        </p:nvSpPr>
        <p:spPr>
          <a:xfrm>
            <a:off x="1008876" y="2731331"/>
            <a:ext cx="5261295"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b="0" i="0" dirty="0">
                <a:solidFill>
                  <a:srgbClr val="000000"/>
                </a:solidFill>
                <a:effectLst/>
                <a:latin typeface="LinLibertineT"/>
              </a:rPr>
              <a:t>Consistent across various UAVs </a:t>
            </a:r>
            <a:endParaRPr lang="zh-CN" altLang="en-US" sz="2800" dirty="0"/>
          </a:p>
        </p:txBody>
      </p:sp>
      <p:sp>
        <p:nvSpPr>
          <p:cNvPr id="12" name="文本框 11">
            <a:extLst>
              <a:ext uri="{FF2B5EF4-FFF2-40B4-BE49-F238E27FC236}">
                <a16:creationId xmlns:a16="http://schemas.microsoft.com/office/drawing/2014/main" id="{AD4892E3-BFD3-AF2E-245F-F9DF20CFD739}"/>
              </a:ext>
            </a:extLst>
          </p:cNvPr>
          <p:cNvSpPr txBox="1"/>
          <p:nvPr/>
        </p:nvSpPr>
        <p:spPr>
          <a:xfrm>
            <a:off x="6386419" y="2720445"/>
            <a:ext cx="5609637" cy="523220"/>
          </a:xfrm>
          <a:prstGeom prst="rect">
            <a:avLst/>
          </a:prstGeom>
          <a:noFill/>
        </p:spPr>
        <p:txBody>
          <a:bodyPr wrap="square">
            <a:spAutoFit/>
          </a:bodyPr>
          <a:lstStyle/>
          <a:p>
            <a:pPr marL="457200" indent="-457200">
              <a:buFont typeface="Wingdings" panose="05000000000000000000" pitchFamily="2" charset="2"/>
              <a:buChar char="l"/>
            </a:pPr>
            <a:r>
              <a:rPr lang="en-US" altLang="zh-CN" sz="2800" dirty="0">
                <a:solidFill>
                  <a:srgbClr val="000000"/>
                </a:solidFill>
                <a:latin typeface="LinLibertineT"/>
              </a:rPr>
              <a:t>D</a:t>
            </a:r>
            <a:r>
              <a:rPr lang="en-US" altLang="zh-CN" sz="2800" b="0" i="0" dirty="0">
                <a:solidFill>
                  <a:srgbClr val="000000"/>
                </a:solidFill>
                <a:effectLst/>
                <a:latin typeface="LinLibertineT"/>
              </a:rPr>
              <a:t>istinguishable from noise</a:t>
            </a:r>
            <a:endParaRPr lang="zh-CN" altLang="en-US" sz="2800" dirty="0"/>
          </a:p>
        </p:txBody>
      </p:sp>
      <p:sp>
        <p:nvSpPr>
          <p:cNvPr id="14" name="文本框 13">
            <a:extLst>
              <a:ext uri="{FF2B5EF4-FFF2-40B4-BE49-F238E27FC236}">
                <a16:creationId xmlns:a16="http://schemas.microsoft.com/office/drawing/2014/main" id="{79506447-213E-C822-5027-8B475A93FE66}"/>
              </a:ext>
            </a:extLst>
          </p:cNvPr>
          <p:cNvSpPr txBox="1"/>
          <p:nvPr/>
        </p:nvSpPr>
        <p:spPr>
          <a:xfrm>
            <a:off x="783771" y="5891260"/>
            <a:ext cx="4082143" cy="523220"/>
          </a:xfrm>
          <a:prstGeom prst="rect">
            <a:avLst/>
          </a:prstGeom>
          <a:noFill/>
        </p:spPr>
        <p:txBody>
          <a:bodyPr wrap="square">
            <a:spAutoFit/>
          </a:bodyPr>
          <a:lstStyle/>
          <a:p>
            <a:pPr algn="ctr"/>
            <a:r>
              <a:rPr lang="en-US" altLang="zh-CN" sz="2800" dirty="0">
                <a:latin typeface="Seravek"/>
              </a:rPr>
              <a:t>Periodic propeller rotation</a:t>
            </a:r>
          </a:p>
        </p:txBody>
      </p:sp>
      <p:sp>
        <p:nvSpPr>
          <p:cNvPr id="15" name="文本框 14">
            <a:extLst>
              <a:ext uri="{FF2B5EF4-FFF2-40B4-BE49-F238E27FC236}">
                <a16:creationId xmlns:a16="http://schemas.microsoft.com/office/drawing/2014/main" id="{5043528E-5F7E-2C49-58E6-95B645F759F6}"/>
              </a:ext>
            </a:extLst>
          </p:cNvPr>
          <p:cNvSpPr txBox="1"/>
          <p:nvPr/>
        </p:nvSpPr>
        <p:spPr>
          <a:xfrm>
            <a:off x="4898570" y="5903893"/>
            <a:ext cx="6814458" cy="523220"/>
          </a:xfrm>
          <a:prstGeom prst="rect">
            <a:avLst/>
          </a:prstGeom>
          <a:noFill/>
        </p:spPr>
        <p:txBody>
          <a:bodyPr wrap="square">
            <a:spAutoFit/>
          </a:bodyPr>
          <a:lstStyle/>
          <a:p>
            <a:pPr algn="ctr"/>
            <a:r>
              <a:rPr lang="en-US" altLang="zh-CN" sz="2800" dirty="0">
                <a:latin typeface="Seravek"/>
              </a:rPr>
              <a:t>The PMM feature of a six-wing UAV</a:t>
            </a:r>
          </a:p>
        </p:txBody>
      </p:sp>
    </p:spTree>
    <p:extLst>
      <p:ext uri="{BB962C8B-B14F-4D97-AF65-F5344CB8AC3E}">
        <p14:creationId xmlns:p14="http://schemas.microsoft.com/office/powerpoint/2010/main" val="420799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a:extLst>
              <a:ext uri="{FF2B5EF4-FFF2-40B4-BE49-F238E27FC236}">
                <a16:creationId xmlns:a16="http://schemas.microsoft.com/office/drawing/2014/main" id="{A2FCF8F0-88EC-236D-8C32-F04799726659}"/>
              </a:ext>
            </a:extLst>
          </p:cNvPr>
          <p:cNvSpPr/>
          <p:nvPr/>
        </p:nvSpPr>
        <p:spPr>
          <a:xfrm>
            <a:off x="7357533" y="1507067"/>
            <a:ext cx="4453467" cy="239606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The model of UAV-reflected signal</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6" name="文本框 5">
            <a:extLst>
              <a:ext uri="{FF2B5EF4-FFF2-40B4-BE49-F238E27FC236}">
                <a16:creationId xmlns:a16="http://schemas.microsoft.com/office/drawing/2014/main" id="{5F4F68A7-000F-7E63-ED17-636FDC586E57}"/>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6/18</a:t>
            </a:r>
            <a:endParaRPr lang="zh-CN" altLang="en-US" sz="2000" b="1" dirty="0">
              <a:solidFill>
                <a:srgbClr val="757575"/>
              </a:solidFill>
              <a:latin typeface="Seravek"/>
            </a:endParaRPr>
          </a:p>
        </p:txBody>
      </p:sp>
      <p:pic>
        <p:nvPicPr>
          <p:cNvPr id="8" name="图片 7">
            <a:extLst>
              <a:ext uri="{FF2B5EF4-FFF2-40B4-BE49-F238E27FC236}">
                <a16:creationId xmlns:a16="http://schemas.microsoft.com/office/drawing/2014/main" id="{961E3112-4216-31D5-7C4A-1001BCA0BB77}"/>
              </a:ext>
            </a:extLst>
          </p:cNvPr>
          <p:cNvPicPr>
            <a:picLocks noChangeAspect="1"/>
          </p:cNvPicPr>
          <p:nvPr/>
        </p:nvPicPr>
        <p:blipFill>
          <a:blip r:embed="rId3"/>
          <a:stretch>
            <a:fillRect/>
          </a:stretch>
        </p:blipFill>
        <p:spPr>
          <a:xfrm>
            <a:off x="320369" y="2282774"/>
            <a:ext cx="6684135" cy="3305226"/>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9C6B7E3-EE19-2241-7CB1-762FD8A11674}"/>
                  </a:ext>
                </a:extLst>
              </p:cNvPr>
              <p:cNvSpPr txBox="1"/>
              <p:nvPr/>
            </p:nvSpPr>
            <p:spPr>
              <a:xfrm>
                <a:off x="7811940" y="3478559"/>
                <a:ext cx="3703963" cy="312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𝑓</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𝐹𝐹𝑇</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e>
                      </m:d>
                      <m:r>
                        <a:rPr lang="en-US" altLang="zh-CN" b="0" i="1" smtClean="0">
                          <a:latin typeface="Cambria Math" panose="02040503050406030204" pitchFamily="18" charset="0"/>
                        </a:rPr>
                        <m:t>=</m:t>
                      </m:r>
                      <m:r>
                        <a:rPr lang="en-US" altLang="zh-CN" b="0" i="1" smtClean="0">
                          <a:latin typeface="Cambria Math" panose="02040503050406030204" pitchFamily="18" charset="0"/>
                        </a:rPr>
                        <m:t>𝛼𝛿</m:t>
                      </m:r>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−2</m:t>
                      </m:r>
                      <m:r>
                        <a:rPr lang="en-US" altLang="zh-CN" b="0" i="1" smtClean="0">
                          <a:solidFill>
                            <a:srgbClr val="FF0000"/>
                          </a:solidFill>
                          <a:latin typeface="Cambria Math" panose="02040503050406030204" pitchFamily="18" charset="0"/>
                        </a:rPr>
                        <m:t>𝑣</m:t>
                      </m:r>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𝑓</m:t>
                          </m:r>
                        </m:e>
                        <m:sub>
                          <m:r>
                            <a:rPr lang="en-US" altLang="zh-CN" b="0" i="1" smtClean="0">
                              <a:solidFill>
                                <a:srgbClr val="FF0000"/>
                              </a:solidFill>
                              <a:latin typeface="Cambria Math" panose="02040503050406030204" pitchFamily="18" charset="0"/>
                            </a:rPr>
                            <m:t>𝑐</m:t>
                          </m:r>
                        </m:sub>
                      </m:sSub>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𝑐</m:t>
                      </m:r>
                      <m:r>
                        <a:rPr lang="en-US" altLang="zh-CN" b="0" i="1" smtClean="0">
                          <a:latin typeface="Cambria Math" panose="02040503050406030204" pitchFamily="18" charset="0"/>
                        </a:rPr>
                        <m:t>)</m:t>
                      </m:r>
                    </m:oMath>
                  </m:oMathPara>
                </a14:m>
                <a:endParaRPr lang="zh-CN" altLang="en-US" dirty="0"/>
              </a:p>
            </p:txBody>
          </p:sp>
        </mc:Choice>
        <mc:Fallback xmlns="">
          <p:sp>
            <p:nvSpPr>
              <p:cNvPr id="14" name="文本框 13">
                <a:extLst>
                  <a:ext uri="{FF2B5EF4-FFF2-40B4-BE49-F238E27FC236}">
                    <a16:creationId xmlns:a16="http://schemas.microsoft.com/office/drawing/2014/main" id="{69C6B7E3-EE19-2241-7CB1-762FD8A11674}"/>
                  </a:ext>
                </a:extLst>
              </p:cNvPr>
              <p:cNvSpPr txBox="1">
                <a:spLocks noRot="1" noChangeAspect="1" noMove="1" noResize="1" noEditPoints="1" noAdjustHandles="1" noChangeArrowheads="1" noChangeShapeType="1" noTextEdit="1"/>
              </p:cNvSpPr>
              <p:nvPr/>
            </p:nvSpPr>
            <p:spPr>
              <a:xfrm>
                <a:off x="7811940" y="3478559"/>
                <a:ext cx="3703963" cy="312650"/>
              </a:xfrm>
              <a:prstGeom prst="rect">
                <a:avLst/>
              </a:prstGeom>
              <a:blipFill>
                <a:blip r:embed="rId4"/>
                <a:stretch>
                  <a:fillRect l="-822" r="-1645" b="-27451"/>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33F8274A-70DA-D1C0-2B80-0FCF32B924DD}"/>
              </a:ext>
            </a:extLst>
          </p:cNvPr>
          <p:cNvSpPr txBox="1"/>
          <p:nvPr/>
        </p:nvSpPr>
        <p:spPr>
          <a:xfrm>
            <a:off x="7605111" y="2876121"/>
            <a:ext cx="2451400" cy="461665"/>
          </a:xfrm>
          <a:prstGeom prst="rect">
            <a:avLst/>
          </a:prstGeom>
          <a:noFill/>
        </p:spPr>
        <p:txBody>
          <a:bodyPr wrap="square">
            <a:spAutoFit/>
          </a:bodyPr>
          <a:lstStyle/>
          <a:p>
            <a:r>
              <a:rPr lang="en-US" altLang="zh-CN" sz="2400" dirty="0">
                <a:latin typeface="Seravek"/>
              </a:rPr>
              <a:t>After Doppler-FFT:</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7DAED85-3E97-DC54-440C-A69CD66495A9}"/>
                  </a:ext>
                </a:extLst>
              </p:cNvPr>
              <p:cNvSpPr txBox="1"/>
              <p:nvPr/>
            </p:nvSpPr>
            <p:spPr>
              <a:xfrm>
                <a:off x="8148633" y="2052219"/>
                <a:ext cx="2730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𝛼</m:t>
                      </m:r>
                      <m:r>
                        <m:rPr>
                          <m:sty m:val="p"/>
                        </m:rPr>
                        <a:rPr lang="en-US" altLang="zh-CN" b="0" i="0" smtClean="0">
                          <a:latin typeface="Cambria Math" panose="02040503050406030204" pitchFamily="18" charset="0"/>
                        </a:rPr>
                        <m:t>exp</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4</m:t>
                      </m:r>
                      <m:r>
                        <a:rPr lang="en-US" altLang="zh-CN" b="0" i="1" smtClean="0">
                          <a:latin typeface="Cambria Math" panose="02040503050406030204" pitchFamily="18" charset="0"/>
                        </a:rPr>
                        <m:t>𝜋</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𝑐</m:t>
                          </m:r>
                        </m:sub>
                      </m:sSub>
                      <m:r>
                        <a:rPr lang="en-US" altLang="zh-CN" b="0" i="1" smtClean="0">
                          <a:solidFill>
                            <a:srgbClr val="FF0000"/>
                          </a:solidFill>
                          <a:latin typeface="Cambria Math" panose="02040503050406030204" pitchFamily="18" charset="0"/>
                        </a:rPr>
                        <m:t>𝑅</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𝑡</m:t>
                      </m:r>
                      <m:r>
                        <a:rPr lang="en-US" altLang="zh-CN" b="0" i="1" smtClean="0">
                          <a:solidFill>
                            <a:srgbClr val="FF0000"/>
                          </a:solidFill>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oMath>
                  </m:oMathPara>
                </a14:m>
                <a:endParaRPr lang="zh-CN" altLang="en-US" dirty="0"/>
              </a:p>
            </p:txBody>
          </p:sp>
        </mc:Choice>
        <mc:Fallback xmlns="">
          <p:sp>
            <p:nvSpPr>
              <p:cNvPr id="17" name="文本框 16">
                <a:extLst>
                  <a:ext uri="{FF2B5EF4-FFF2-40B4-BE49-F238E27FC236}">
                    <a16:creationId xmlns:a16="http://schemas.microsoft.com/office/drawing/2014/main" id="{27DAED85-3E97-DC54-440C-A69CD66495A9}"/>
                  </a:ext>
                </a:extLst>
              </p:cNvPr>
              <p:cNvSpPr txBox="1">
                <a:spLocks noRot="1" noChangeAspect="1" noMove="1" noResize="1" noEditPoints="1" noAdjustHandles="1" noChangeArrowheads="1" noChangeShapeType="1" noTextEdit="1"/>
              </p:cNvSpPr>
              <p:nvPr/>
            </p:nvSpPr>
            <p:spPr>
              <a:xfrm>
                <a:off x="8148633" y="2052219"/>
                <a:ext cx="2730491" cy="276999"/>
              </a:xfrm>
              <a:prstGeom prst="rect">
                <a:avLst/>
              </a:prstGeom>
              <a:blipFill>
                <a:blip r:embed="rId5"/>
                <a:stretch>
                  <a:fillRect t="-4444" r="-670" b="-37778"/>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8BAFE61E-4AF4-D753-0502-C4AAC151E04B}"/>
              </a:ext>
            </a:extLst>
          </p:cNvPr>
          <p:cNvSpPr txBox="1"/>
          <p:nvPr/>
        </p:nvSpPr>
        <p:spPr>
          <a:xfrm>
            <a:off x="7560065" y="1476415"/>
            <a:ext cx="2701454" cy="461665"/>
          </a:xfrm>
          <a:prstGeom prst="rect">
            <a:avLst/>
          </a:prstGeom>
          <a:noFill/>
        </p:spPr>
        <p:txBody>
          <a:bodyPr wrap="square">
            <a:spAutoFit/>
          </a:bodyPr>
          <a:lstStyle/>
          <a:p>
            <a:r>
              <a:rPr lang="en-US" altLang="zh-CN" sz="2400" dirty="0">
                <a:latin typeface="Seravek"/>
              </a:rPr>
              <a:t>After Range-FFT:</a:t>
            </a:r>
          </a:p>
        </p:txBody>
      </p:sp>
    </p:spTree>
    <p:extLst>
      <p:ext uri="{BB962C8B-B14F-4D97-AF65-F5344CB8AC3E}">
        <p14:creationId xmlns:p14="http://schemas.microsoft.com/office/powerpoint/2010/main" val="210433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4" grpId="0"/>
      <p:bldP spid="16" grpId="0"/>
      <p:bldP spid="17"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DDBCFF8-7062-E993-D909-C791697DC65B}"/>
              </a:ext>
            </a:extLst>
          </p:cNvPr>
          <p:cNvPicPr>
            <a:picLocks noChangeAspect="1"/>
          </p:cNvPicPr>
          <p:nvPr/>
        </p:nvPicPr>
        <p:blipFill>
          <a:blip r:embed="rId3"/>
          <a:stretch>
            <a:fillRect/>
          </a:stretch>
        </p:blipFill>
        <p:spPr>
          <a:xfrm>
            <a:off x="349275" y="2301650"/>
            <a:ext cx="7063320" cy="3304800"/>
          </a:xfrm>
          <a:prstGeom prst="rect">
            <a:avLst/>
          </a:prstGeom>
        </p:spPr>
      </p:pic>
      <p:sp>
        <p:nvSpPr>
          <p:cNvPr id="24" name="矩形: 圆角 23">
            <a:extLst>
              <a:ext uri="{FF2B5EF4-FFF2-40B4-BE49-F238E27FC236}">
                <a16:creationId xmlns:a16="http://schemas.microsoft.com/office/drawing/2014/main" id="{FA388EAE-331C-BAFC-44C7-5FC2F344B753}"/>
              </a:ext>
            </a:extLst>
          </p:cNvPr>
          <p:cNvSpPr/>
          <p:nvPr/>
        </p:nvSpPr>
        <p:spPr>
          <a:xfrm>
            <a:off x="7358399" y="4428067"/>
            <a:ext cx="4672733" cy="175260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94CDBCF5-D1ED-1576-569E-1F2F29DEE119}"/>
              </a:ext>
            </a:extLst>
          </p:cNvPr>
          <p:cNvSpPr/>
          <p:nvPr/>
        </p:nvSpPr>
        <p:spPr>
          <a:xfrm>
            <a:off x="7358400" y="3412067"/>
            <a:ext cx="4672800" cy="92286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33B1F0F7-19CE-0FD0-7BC7-4AE8C35213F1}"/>
              </a:ext>
            </a:extLst>
          </p:cNvPr>
          <p:cNvSpPr/>
          <p:nvPr/>
        </p:nvSpPr>
        <p:spPr>
          <a:xfrm>
            <a:off x="7357533" y="1413933"/>
            <a:ext cx="4672800" cy="190500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The model of UAV-reflected signal</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6" name="文本框 5">
            <a:extLst>
              <a:ext uri="{FF2B5EF4-FFF2-40B4-BE49-F238E27FC236}">
                <a16:creationId xmlns:a16="http://schemas.microsoft.com/office/drawing/2014/main" id="{5F4F68A7-000F-7E63-ED17-636FDC586E57}"/>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7/18</a:t>
            </a:r>
            <a:endParaRPr lang="zh-CN" altLang="en-US" sz="2000" b="1" dirty="0">
              <a:solidFill>
                <a:srgbClr val="757575"/>
              </a:solidFill>
              <a:latin typeface="Seravek"/>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C0A35B7-D86B-8829-9FB9-EBEA9E4D0E0E}"/>
                  </a:ext>
                </a:extLst>
              </p:cNvPr>
              <p:cNvSpPr txBox="1"/>
              <p:nvPr/>
            </p:nvSpPr>
            <p:spPr>
              <a:xfrm>
                <a:off x="8116737" y="4943293"/>
                <a:ext cx="3703963" cy="312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𝑓</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𝐹𝐹𝑇</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e>
                      </m:d>
                      <m:r>
                        <a:rPr lang="en-US" altLang="zh-CN" b="0" i="1" smtClean="0">
                          <a:latin typeface="Cambria Math" panose="02040503050406030204" pitchFamily="18" charset="0"/>
                        </a:rPr>
                        <m:t>=</m:t>
                      </m:r>
                      <m:r>
                        <a:rPr lang="en-US" altLang="zh-CN" b="0" i="1" smtClean="0">
                          <a:latin typeface="Cambria Math" panose="02040503050406030204" pitchFamily="18" charset="0"/>
                        </a:rPr>
                        <m:t>𝛼𝛿</m:t>
                      </m:r>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−2</m:t>
                      </m:r>
                      <m:r>
                        <a:rPr lang="en-US" altLang="zh-CN" b="1" i="1" smtClean="0">
                          <a:solidFill>
                            <a:srgbClr val="FF0000"/>
                          </a:solidFill>
                          <a:latin typeface="Cambria Math" panose="02040503050406030204" pitchFamily="18" charset="0"/>
                        </a:rPr>
                        <m:t>𝒗</m:t>
                      </m:r>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𝑓</m:t>
                          </m:r>
                        </m:e>
                        <m:sub>
                          <m:r>
                            <a:rPr lang="en-US" altLang="zh-CN" b="0" i="1" smtClean="0">
                              <a:solidFill>
                                <a:srgbClr val="FF0000"/>
                              </a:solidFill>
                              <a:latin typeface="Cambria Math" panose="02040503050406030204" pitchFamily="18" charset="0"/>
                            </a:rPr>
                            <m:t>𝑐</m:t>
                          </m:r>
                        </m:sub>
                      </m:sSub>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𝑐</m:t>
                      </m:r>
                      <m:r>
                        <a:rPr lang="en-US" altLang="zh-CN" b="0" i="1" smtClean="0">
                          <a:latin typeface="Cambria Math" panose="02040503050406030204" pitchFamily="18" charset="0"/>
                        </a:rPr>
                        <m:t>)</m:t>
                      </m:r>
                    </m:oMath>
                  </m:oMathPara>
                </a14:m>
                <a:endParaRPr lang="zh-CN" altLang="en-US" dirty="0"/>
              </a:p>
            </p:txBody>
          </p:sp>
        </mc:Choice>
        <mc:Fallback xmlns="">
          <p:sp>
            <p:nvSpPr>
              <p:cNvPr id="10" name="文本框 9">
                <a:extLst>
                  <a:ext uri="{FF2B5EF4-FFF2-40B4-BE49-F238E27FC236}">
                    <a16:creationId xmlns:a16="http://schemas.microsoft.com/office/drawing/2014/main" id="{FC0A35B7-D86B-8829-9FB9-EBEA9E4D0E0E}"/>
                  </a:ext>
                </a:extLst>
              </p:cNvPr>
              <p:cNvSpPr txBox="1">
                <a:spLocks noRot="1" noChangeAspect="1" noMove="1" noResize="1" noEditPoints="1" noAdjustHandles="1" noChangeArrowheads="1" noChangeShapeType="1" noTextEdit="1"/>
              </p:cNvSpPr>
              <p:nvPr/>
            </p:nvSpPr>
            <p:spPr>
              <a:xfrm>
                <a:off x="8116737" y="4943293"/>
                <a:ext cx="3703963" cy="312650"/>
              </a:xfrm>
              <a:prstGeom prst="rect">
                <a:avLst/>
              </a:prstGeom>
              <a:blipFill>
                <a:blip r:embed="rId4"/>
                <a:stretch>
                  <a:fillRect l="-987" r="-1645" b="-27451"/>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82FB1B3F-0354-B4BE-731D-3A7D671EB6C9}"/>
              </a:ext>
            </a:extLst>
          </p:cNvPr>
          <p:cNvSpPr txBox="1"/>
          <p:nvPr/>
        </p:nvSpPr>
        <p:spPr>
          <a:xfrm>
            <a:off x="7588175" y="4408589"/>
            <a:ext cx="2451400" cy="461665"/>
          </a:xfrm>
          <a:prstGeom prst="rect">
            <a:avLst/>
          </a:prstGeom>
          <a:noFill/>
        </p:spPr>
        <p:txBody>
          <a:bodyPr wrap="square">
            <a:spAutoFit/>
          </a:bodyPr>
          <a:lstStyle/>
          <a:p>
            <a:r>
              <a:rPr lang="en-US" altLang="zh-CN" sz="2400" dirty="0">
                <a:latin typeface="Seravek"/>
              </a:rPr>
              <a:t>After Doppler-FFT:</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41D87EF-428C-4D92-AE33-EEE7AA45B352}"/>
                  </a:ext>
                </a:extLst>
              </p:cNvPr>
              <p:cNvSpPr txBox="1"/>
              <p:nvPr/>
            </p:nvSpPr>
            <p:spPr>
              <a:xfrm>
                <a:off x="7505165" y="2365486"/>
                <a:ext cx="4388766" cy="810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𝑞</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𝑄</m:t>
                          </m:r>
                        </m:sup>
                        <m:e>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𝑝</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𝑃</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𝛽</m:t>
                                  </m:r>
                                </m:e>
                                <m:sub>
                                  <m:r>
                                    <a:rPr lang="en-US" altLang="zh-CN" b="0" i="1" smtClean="0">
                                      <a:latin typeface="Cambria Math" panose="02040503050406030204" pitchFamily="18" charset="0"/>
                                    </a:rPr>
                                    <m:t>𝑝𝑞</m:t>
                                  </m:r>
                                </m:sub>
                              </m:sSub>
                              <m:r>
                                <m:rPr>
                                  <m:sty m:val="p"/>
                                </m:rPr>
                                <a:rPr lang="en-US" altLang="zh-CN" b="0" i="0" smtClean="0">
                                  <a:latin typeface="Cambria Math" panose="02040503050406030204" pitchFamily="18" charset="0"/>
                                </a:rPr>
                                <m:t>exp</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4</m:t>
                              </m:r>
                              <m:r>
                                <a:rPr lang="en-US" altLang="zh-CN" b="0" i="1" smtClean="0">
                                  <a:latin typeface="Cambria Math" panose="02040503050406030204" pitchFamily="18" charset="0"/>
                                </a:rPr>
                                <m:t>𝜋</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𝑐</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𝑞</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sSub>
                                <m:sSubPr>
                                  <m:ctrlPr>
                                    <a:rPr lang="en-US" altLang="zh-CN" b="1" i="1" smtClean="0">
                                      <a:solidFill>
                                        <a:srgbClr val="2F5597"/>
                                      </a:solidFill>
                                      <a:latin typeface="Cambria Math" panose="02040503050406030204" pitchFamily="18" charset="0"/>
                                    </a:rPr>
                                  </m:ctrlPr>
                                </m:sSubPr>
                                <m:e>
                                  <m:r>
                                    <a:rPr lang="en-US" altLang="zh-CN" b="1" i="1" smtClean="0">
                                      <a:solidFill>
                                        <a:srgbClr val="2F5597"/>
                                      </a:solidFill>
                                      <a:latin typeface="Cambria Math" panose="02040503050406030204" pitchFamily="18" charset="0"/>
                                    </a:rPr>
                                    <m:t>𝑹</m:t>
                                  </m:r>
                                </m:e>
                                <m:sub>
                                  <m:r>
                                    <a:rPr lang="en-US" altLang="zh-CN" b="1" i="1" smtClean="0">
                                      <a:solidFill>
                                        <a:srgbClr val="2F5597"/>
                                      </a:solidFill>
                                      <a:latin typeface="Cambria Math" panose="02040503050406030204" pitchFamily="18" charset="0"/>
                                    </a:rPr>
                                    <m:t>𝒑𝒒</m:t>
                                  </m:r>
                                </m:sub>
                              </m:sSub>
                              <m:r>
                                <a:rPr lang="en-US" altLang="zh-CN" b="1" i="1" smtClean="0">
                                  <a:solidFill>
                                    <a:srgbClr val="2F5597"/>
                                  </a:solidFill>
                                  <a:latin typeface="Cambria Math" panose="02040503050406030204" pitchFamily="18" charset="0"/>
                                </a:rPr>
                                <m:t>(</m:t>
                              </m:r>
                              <m:r>
                                <a:rPr lang="en-US" altLang="zh-CN" b="1" i="1" smtClean="0">
                                  <a:solidFill>
                                    <a:srgbClr val="2F5597"/>
                                  </a:solidFill>
                                  <a:latin typeface="Cambria Math" panose="02040503050406030204" pitchFamily="18" charset="0"/>
                                </a:rPr>
                                <m:t>𝒕</m:t>
                              </m:r>
                              <m:r>
                                <a:rPr lang="en-US" altLang="zh-CN" b="1" i="1" smtClean="0">
                                  <a:solidFill>
                                    <a:srgbClr val="2F5597"/>
                                  </a:solidFill>
                                  <a:latin typeface="Cambria Math" panose="02040503050406030204" pitchFamily="18" charset="0"/>
                                </a:rPr>
                                <m:t>)</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e>
                          </m:nary>
                        </m:e>
                      </m:nary>
                    </m:oMath>
                  </m:oMathPara>
                </a14:m>
                <a:endParaRPr lang="zh-CN" altLang="en-US" dirty="0"/>
              </a:p>
            </p:txBody>
          </p:sp>
        </mc:Choice>
        <mc:Fallback xmlns="">
          <p:sp>
            <p:nvSpPr>
              <p:cNvPr id="13" name="文本框 12">
                <a:extLst>
                  <a:ext uri="{FF2B5EF4-FFF2-40B4-BE49-F238E27FC236}">
                    <a16:creationId xmlns:a16="http://schemas.microsoft.com/office/drawing/2014/main" id="{241D87EF-428C-4D92-AE33-EEE7AA45B352}"/>
                  </a:ext>
                </a:extLst>
              </p:cNvPr>
              <p:cNvSpPr txBox="1">
                <a:spLocks noRot="1" noChangeAspect="1" noMove="1" noResize="1" noEditPoints="1" noAdjustHandles="1" noChangeArrowheads="1" noChangeShapeType="1" noTextEdit="1"/>
              </p:cNvSpPr>
              <p:nvPr/>
            </p:nvSpPr>
            <p:spPr>
              <a:xfrm>
                <a:off x="7505165" y="2365486"/>
                <a:ext cx="4388766" cy="81092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C5D231E-8414-04D9-705D-C7FFBBB4449F}"/>
                  </a:ext>
                </a:extLst>
              </p:cNvPr>
              <p:cNvSpPr txBox="1"/>
              <p:nvPr/>
            </p:nvSpPr>
            <p:spPr>
              <a:xfrm>
                <a:off x="8148632" y="3940283"/>
                <a:ext cx="2936509"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𝑝𝑞</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𝑟</m:t>
                          </m:r>
                        </m:e>
                        <m:sub>
                          <m:r>
                            <a:rPr lang="en-US" altLang="zh-CN" b="0" i="1" smtClean="0">
                              <a:latin typeface="Cambria Math" panose="02040503050406030204" pitchFamily="18" charset="0"/>
                              <a:ea typeface="Cambria Math" panose="02040503050406030204" pitchFamily="18" charset="0"/>
                            </a:rPr>
                            <m:t>𝑝𝑞</m:t>
                          </m:r>
                        </m:sub>
                      </m:sSub>
                      <m:r>
                        <a:rPr lang="en-US" altLang="zh-CN" b="0"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cos</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𝜔</m:t>
                      </m:r>
                      <m:r>
                        <a:rPr lang="en-US" altLang="zh-CN" b="0" i="1" smtClean="0">
                          <a:latin typeface="Cambria Math" panose="02040503050406030204" pitchFamily="18" charset="0"/>
                          <a:ea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zh-CN" altLang="en-US" b="0" i="1" smtClean="0">
                              <a:latin typeface="Cambria Math" panose="02040503050406030204" pitchFamily="18" charset="0"/>
                              <a:ea typeface="Cambria Math" panose="02040503050406030204" pitchFamily="18" charset="0"/>
                            </a:rPr>
                            <m:t>𝜑</m:t>
                          </m:r>
                        </m:e>
                        <m:sub>
                          <m:r>
                            <a:rPr lang="en-US" altLang="zh-CN" b="0" i="1" smtClean="0">
                              <a:latin typeface="Cambria Math" panose="02040503050406030204" pitchFamily="18" charset="0"/>
                              <a:ea typeface="Cambria Math" panose="02040503050406030204" pitchFamily="18" charset="0"/>
                            </a:rPr>
                            <m:t>𝑝𝑞</m:t>
                          </m:r>
                        </m:sub>
                      </m:sSub>
                      <m:r>
                        <a:rPr lang="en-US" altLang="zh-CN" b="0" i="1" smtClean="0">
                          <a:latin typeface="Cambria Math" panose="02040503050406030204" pitchFamily="18" charset="0"/>
                          <a:ea typeface="Cambria Math" panose="02040503050406030204" pitchFamily="18" charset="0"/>
                        </a:rPr>
                        <m:t>)</m:t>
                      </m:r>
                    </m:oMath>
                  </m:oMathPara>
                </a14:m>
                <a:endParaRPr lang="zh-CN" altLang="en-US" dirty="0"/>
              </a:p>
            </p:txBody>
          </p:sp>
        </mc:Choice>
        <mc:Fallback xmlns="">
          <p:sp>
            <p:nvSpPr>
              <p:cNvPr id="14" name="文本框 13">
                <a:extLst>
                  <a:ext uri="{FF2B5EF4-FFF2-40B4-BE49-F238E27FC236}">
                    <a16:creationId xmlns:a16="http://schemas.microsoft.com/office/drawing/2014/main" id="{2C5D231E-8414-04D9-705D-C7FFBBB4449F}"/>
                  </a:ext>
                </a:extLst>
              </p:cNvPr>
              <p:cNvSpPr txBox="1">
                <a:spLocks noRot="1" noChangeAspect="1" noMove="1" noResize="1" noEditPoints="1" noAdjustHandles="1" noChangeArrowheads="1" noChangeShapeType="1" noTextEdit="1"/>
              </p:cNvSpPr>
              <p:nvPr/>
            </p:nvSpPr>
            <p:spPr>
              <a:xfrm>
                <a:off x="8148632" y="3940283"/>
                <a:ext cx="2936509" cy="298415"/>
              </a:xfrm>
              <a:prstGeom prst="rect">
                <a:avLst/>
              </a:prstGeom>
              <a:blipFill>
                <a:blip r:embed="rId6"/>
                <a:stretch>
                  <a:fillRect l="-1455" r="-2495" b="-26531"/>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5B07D520-B019-17D4-F142-53DDFDA81C8E}"/>
              </a:ext>
            </a:extLst>
          </p:cNvPr>
          <p:cNvSpPr txBox="1"/>
          <p:nvPr/>
        </p:nvSpPr>
        <p:spPr>
          <a:xfrm>
            <a:off x="7576997" y="3364481"/>
            <a:ext cx="2701454" cy="461665"/>
          </a:xfrm>
          <a:prstGeom prst="rect">
            <a:avLst/>
          </a:prstGeom>
          <a:noFill/>
        </p:spPr>
        <p:txBody>
          <a:bodyPr wrap="square">
            <a:spAutoFit/>
          </a:bodyPr>
          <a:lstStyle/>
          <a:p>
            <a:r>
              <a:rPr lang="en-US" altLang="zh-CN" sz="2400" dirty="0">
                <a:latin typeface="Seravek"/>
              </a:rPr>
              <a:t>Propeller position:</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C195633-B953-57F0-97CD-108670331557}"/>
                  </a:ext>
                </a:extLst>
              </p:cNvPr>
              <p:cNvSpPr txBox="1"/>
              <p:nvPr/>
            </p:nvSpPr>
            <p:spPr>
              <a:xfrm>
                <a:off x="7361231" y="5303418"/>
                <a:ext cx="4655057" cy="810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𝑞</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𝑄</m:t>
                          </m:r>
                        </m:sup>
                        <m:e>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𝑝</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𝑃</m:t>
                              </m:r>
                            </m:sup>
                            <m:e>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𝑚</m:t>
                                  </m:r>
                                  <m:r>
                                    <a:rPr lang="en-US" altLang="zh-CN" b="0" i="1" smtClean="0">
                                      <a:latin typeface="Cambria Math" panose="02040503050406030204" pitchFamily="18" charset="0"/>
                                    </a:rPr>
                                    <m:t>=−∞</m:t>
                                  </m:r>
                                </m:sub>
                                <m:sup>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up>
                                <m:e>
                                  <m:sSub>
                                    <m:sSubPr>
                                      <m:ctrlPr>
                                        <a:rPr lang="en-US" altLang="zh-CN" b="0"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𝛾</m:t>
                                      </m:r>
                                    </m:e>
                                    <m:sub>
                                      <m:r>
                                        <a:rPr lang="en-US" altLang="zh-CN" b="0" i="1" smtClean="0">
                                          <a:latin typeface="Cambria Math" panose="02040503050406030204" pitchFamily="18" charset="0"/>
                                          <a:ea typeface="Cambria Math" panose="02040503050406030204" pitchFamily="18" charset="0"/>
                                        </a:rPr>
                                        <m:t>𝑝𝑞𝑚</m:t>
                                      </m:r>
                                    </m:sub>
                                  </m:sSub>
                                  <m:r>
                                    <a:rPr lang="en-US" altLang="zh-CN" b="0" i="1" smtClean="0">
                                      <a:latin typeface="Cambria Math" panose="02040503050406030204" pitchFamily="18" charset="0"/>
                                      <a:ea typeface="Cambria Math" panose="02040503050406030204" pitchFamily="18" charset="0"/>
                                    </a:rPr>
                                    <m:t>𝛿</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r>
                                    <a:rPr lang="en-US" altLang="zh-CN" b="0" i="1" smtClean="0">
                                      <a:latin typeface="Cambria Math" panose="02040503050406030204" pitchFamily="18" charset="0"/>
                                      <a:ea typeface="Cambria Math" panose="02040503050406030204" pitchFamily="18" charset="0"/>
                                    </a:rPr>
                                    <m:t>−2</m:t>
                                  </m:r>
                                  <m:r>
                                    <a:rPr lang="en-US" altLang="zh-CN" i="1" smtClean="0">
                                      <a:solidFill>
                                        <a:srgbClr val="FF0000"/>
                                      </a:solidFill>
                                      <a:latin typeface="Cambria Math" panose="02040503050406030204" pitchFamily="18" charset="0"/>
                                    </a:rPr>
                                    <m:t>𝑣</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𝑓</m:t>
                                      </m:r>
                                    </m:e>
                                    <m:sub>
                                      <m:r>
                                        <a:rPr lang="en-US" altLang="zh-CN" i="1">
                                          <a:solidFill>
                                            <a:srgbClr val="FF0000"/>
                                          </a:solidFill>
                                          <a:latin typeface="Cambria Math" panose="02040503050406030204" pitchFamily="18" charset="0"/>
                                        </a:rPr>
                                        <m:t>𝑐</m:t>
                                      </m:r>
                                    </m:sub>
                                  </m:sSub>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m:t>
                                  </m:r>
                                  <m:r>
                                    <a:rPr lang="zh-CN" altLang="en-US" b="1" i="1" smtClean="0">
                                      <a:solidFill>
                                        <a:schemeClr val="accent1">
                                          <a:lumMod val="75000"/>
                                        </a:schemeClr>
                                      </a:solidFill>
                                      <a:latin typeface="Cambria Math" panose="02040503050406030204" pitchFamily="18" charset="0"/>
                                      <a:ea typeface="Cambria Math" panose="02040503050406030204" pitchFamily="18" charset="0"/>
                                    </a:rPr>
                                    <m:t>𝝎</m:t>
                                  </m:r>
                                  <m:r>
                                    <a:rPr lang="en-US" altLang="zh-CN" b="1" i="1" smtClean="0">
                                      <a:solidFill>
                                        <a:schemeClr val="accent1">
                                          <a:lumMod val="75000"/>
                                        </a:schemeClr>
                                      </a:solidFill>
                                      <a:latin typeface="Cambria Math" panose="02040503050406030204" pitchFamily="18" charset="0"/>
                                      <a:ea typeface="Cambria Math" panose="02040503050406030204" pitchFamily="18" charset="0"/>
                                    </a:rPr>
                                    <m:t>𝒎</m:t>
                                  </m:r>
                                  <m:r>
                                    <a:rPr lang="en-US" altLang="zh-CN" b="1" i="1" smtClean="0">
                                      <a:solidFill>
                                        <a:schemeClr val="accent1">
                                          <a:lumMod val="75000"/>
                                        </a:schemeClr>
                                      </a:solidFill>
                                      <a:latin typeface="Cambria Math" panose="02040503050406030204" pitchFamily="18" charset="0"/>
                                      <a:ea typeface="Cambria Math" panose="02040503050406030204" pitchFamily="18" charset="0"/>
                                    </a:rPr>
                                    <m:t>/</m:t>
                                  </m:r>
                                  <m:r>
                                    <a:rPr lang="en-US" altLang="zh-CN" b="1" i="1" smtClean="0">
                                      <a:solidFill>
                                        <a:schemeClr val="accent1">
                                          <a:lumMod val="75000"/>
                                        </a:schemeClr>
                                      </a:solidFill>
                                      <a:latin typeface="Cambria Math" panose="02040503050406030204" pitchFamily="18" charset="0"/>
                                      <a:ea typeface="Cambria Math" panose="02040503050406030204" pitchFamily="18" charset="0"/>
                                    </a:rPr>
                                    <m:t>𝟐</m:t>
                                  </m:r>
                                  <m:r>
                                    <a:rPr lang="en-US" altLang="zh-CN" b="1" i="1" smtClean="0">
                                      <a:solidFill>
                                        <a:schemeClr val="accent1">
                                          <a:lumMod val="75000"/>
                                        </a:schemeClr>
                                      </a:solidFill>
                                      <a:latin typeface="Cambria Math" panose="02040503050406030204" pitchFamily="18" charset="0"/>
                                      <a:ea typeface="Cambria Math" panose="02040503050406030204" pitchFamily="18" charset="0"/>
                                    </a:rPr>
                                    <m:t>𝝅</m:t>
                                  </m:r>
                                  <m:r>
                                    <a:rPr lang="en-US" altLang="zh-CN" b="0" i="1" smtClean="0">
                                      <a:latin typeface="Cambria Math" panose="02040503050406030204" pitchFamily="18" charset="0"/>
                                      <a:ea typeface="Cambria Math" panose="02040503050406030204" pitchFamily="18" charset="0"/>
                                    </a:rPr>
                                    <m:t>)</m:t>
                                  </m:r>
                                </m:e>
                              </m:nary>
                              <m:r>
                                <a:rPr lang="en-US" altLang="zh-CN" b="0" i="1" smtClean="0">
                                  <a:latin typeface="Cambria Math" panose="02040503050406030204" pitchFamily="18" charset="0"/>
                                </a:rPr>
                                <m:t>}</m:t>
                              </m:r>
                            </m:e>
                          </m:nary>
                        </m:e>
                      </m:nary>
                    </m:oMath>
                  </m:oMathPara>
                </a14:m>
                <a:endParaRPr lang="zh-CN" altLang="en-US" dirty="0"/>
              </a:p>
            </p:txBody>
          </p:sp>
        </mc:Choice>
        <mc:Fallback xmlns="">
          <p:sp>
            <p:nvSpPr>
              <p:cNvPr id="16" name="文本框 15">
                <a:extLst>
                  <a:ext uri="{FF2B5EF4-FFF2-40B4-BE49-F238E27FC236}">
                    <a16:creationId xmlns:a16="http://schemas.microsoft.com/office/drawing/2014/main" id="{BC195633-B953-57F0-97CD-108670331557}"/>
                  </a:ext>
                </a:extLst>
              </p:cNvPr>
              <p:cNvSpPr txBox="1">
                <a:spLocks noRot="1" noChangeAspect="1" noMove="1" noResize="1" noEditPoints="1" noAdjustHandles="1" noChangeArrowheads="1" noChangeShapeType="1" noTextEdit="1"/>
              </p:cNvSpPr>
              <p:nvPr/>
            </p:nvSpPr>
            <p:spPr>
              <a:xfrm>
                <a:off x="7361231" y="5303418"/>
                <a:ext cx="4655057" cy="810928"/>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4022BBF7-274A-57A5-EFAD-A306B5762D0A}"/>
                  </a:ext>
                </a:extLst>
              </p:cNvPr>
              <p:cNvSpPr txBox="1"/>
              <p:nvPr/>
            </p:nvSpPr>
            <p:spPr>
              <a:xfrm>
                <a:off x="8148633" y="1959085"/>
                <a:ext cx="2730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𝛼</m:t>
                      </m:r>
                      <m:r>
                        <m:rPr>
                          <m:sty m:val="p"/>
                        </m:rPr>
                        <a:rPr lang="en-US" altLang="zh-CN" b="0" i="0" smtClean="0">
                          <a:latin typeface="Cambria Math" panose="02040503050406030204" pitchFamily="18" charset="0"/>
                        </a:rPr>
                        <m:t>exp</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4</m:t>
                      </m:r>
                      <m:r>
                        <a:rPr lang="en-US" altLang="zh-CN" b="0" i="1" smtClean="0">
                          <a:latin typeface="Cambria Math" panose="02040503050406030204" pitchFamily="18" charset="0"/>
                        </a:rPr>
                        <m:t>𝜋</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𝑐</m:t>
                          </m:r>
                        </m:sub>
                      </m:sSub>
                      <m:r>
                        <a:rPr lang="en-US" altLang="zh-CN" b="0" i="1" smtClean="0">
                          <a:solidFill>
                            <a:srgbClr val="FF0000"/>
                          </a:solidFill>
                          <a:latin typeface="Cambria Math" panose="02040503050406030204" pitchFamily="18" charset="0"/>
                        </a:rPr>
                        <m:t>𝑅</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𝑡</m:t>
                      </m:r>
                      <m:r>
                        <a:rPr lang="en-US" altLang="zh-CN" b="0" i="1" smtClean="0">
                          <a:solidFill>
                            <a:srgbClr val="FF0000"/>
                          </a:solidFill>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oMath>
                  </m:oMathPara>
                </a14:m>
                <a:endParaRPr lang="zh-CN" altLang="en-US" dirty="0"/>
              </a:p>
            </p:txBody>
          </p:sp>
        </mc:Choice>
        <mc:Fallback xmlns="">
          <p:sp>
            <p:nvSpPr>
              <p:cNvPr id="20" name="文本框 19">
                <a:extLst>
                  <a:ext uri="{FF2B5EF4-FFF2-40B4-BE49-F238E27FC236}">
                    <a16:creationId xmlns:a16="http://schemas.microsoft.com/office/drawing/2014/main" id="{4022BBF7-274A-57A5-EFAD-A306B5762D0A}"/>
                  </a:ext>
                </a:extLst>
              </p:cNvPr>
              <p:cNvSpPr txBox="1">
                <a:spLocks noRot="1" noChangeAspect="1" noMove="1" noResize="1" noEditPoints="1" noAdjustHandles="1" noChangeArrowheads="1" noChangeShapeType="1" noTextEdit="1"/>
              </p:cNvSpPr>
              <p:nvPr/>
            </p:nvSpPr>
            <p:spPr>
              <a:xfrm>
                <a:off x="8148633" y="1959085"/>
                <a:ext cx="2730491" cy="276999"/>
              </a:xfrm>
              <a:prstGeom prst="rect">
                <a:avLst/>
              </a:prstGeom>
              <a:blipFill>
                <a:blip r:embed="rId8"/>
                <a:stretch>
                  <a:fillRect t="-2174" r="-670" b="-36957"/>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14996ABD-EFA4-472B-11AC-5F8D487576A3}"/>
              </a:ext>
            </a:extLst>
          </p:cNvPr>
          <p:cNvSpPr txBox="1"/>
          <p:nvPr/>
        </p:nvSpPr>
        <p:spPr>
          <a:xfrm>
            <a:off x="7560065" y="1383281"/>
            <a:ext cx="2701454" cy="461665"/>
          </a:xfrm>
          <a:prstGeom prst="rect">
            <a:avLst/>
          </a:prstGeom>
          <a:noFill/>
        </p:spPr>
        <p:txBody>
          <a:bodyPr wrap="square">
            <a:spAutoFit/>
          </a:bodyPr>
          <a:lstStyle/>
          <a:p>
            <a:r>
              <a:rPr lang="en-US" altLang="zh-CN" sz="2400" dirty="0">
                <a:latin typeface="Seravek"/>
              </a:rPr>
              <a:t>After Range-FFT:</a:t>
            </a:r>
          </a:p>
        </p:txBody>
      </p:sp>
    </p:spTree>
    <p:extLst>
      <p:ext uri="{BB962C8B-B14F-4D97-AF65-F5344CB8AC3E}">
        <p14:creationId xmlns:p14="http://schemas.microsoft.com/office/powerpoint/2010/main" val="2731042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3" grpId="0" animBg="1"/>
      <p:bldP spid="22" grpId="0" animBg="1"/>
      <p:bldP spid="10" grpId="0"/>
      <p:bldP spid="12" grpId="0"/>
      <p:bldP spid="13" grpId="0"/>
      <p:bldP spid="14" grpId="0"/>
      <p:bldP spid="15" grpId="0"/>
      <p:bldP spid="16"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6F394FF3-198C-90D6-35DA-FA4D7C6E6A35}"/>
              </a:ext>
            </a:extLst>
          </p:cNvPr>
          <p:cNvPicPr>
            <a:picLocks noChangeAspect="1"/>
          </p:cNvPicPr>
          <p:nvPr/>
        </p:nvPicPr>
        <p:blipFill>
          <a:blip r:embed="rId3"/>
          <a:stretch>
            <a:fillRect/>
          </a:stretch>
        </p:blipFill>
        <p:spPr>
          <a:xfrm>
            <a:off x="349275" y="2301650"/>
            <a:ext cx="7063320" cy="3304800"/>
          </a:xfrm>
          <a:prstGeom prst="rect">
            <a:avLst/>
          </a:prstGeom>
        </p:spPr>
      </p:pic>
      <p:sp>
        <p:nvSpPr>
          <p:cNvPr id="22" name="矩形: 圆角 21">
            <a:extLst>
              <a:ext uri="{FF2B5EF4-FFF2-40B4-BE49-F238E27FC236}">
                <a16:creationId xmlns:a16="http://schemas.microsoft.com/office/drawing/2014/main" id="{E03B47D2-3509-BF95-16A3-F3D734245CBA}"/>
              </a:ext>
            </a:extLst>
          </p:cNvPr>
          <p:cNvSpPr/>
          <p:nvPr/>
        </p:nvSpPr>
        <p:spPr>
          <a:xfrm>
            <a:off x="7332133" y="1888065"/>
            <a:ext cx="4521200" cy="1989667"/>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The model of UAV-reflected signal</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6" name="文本框 5">
            <a:extLst>
              <a:ext uri="{FF2B5EF4-FFF2-40B4-BE49-F238E27FC236}">
                <a16:creationId xmlns:a16="http://schemas.microsoft.com/office/drawing/2014/main" id="{5F4F68A7-000F-7E63-ED17-636FDC586E57}"/>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8/18</a:t>
            </a:r>
            <a:endParaRPr lang="zh-CN" altLang="en-US" sz="2000" b="1" dirty="0">
              <a:solidFill>
                <a:srgbClr val="757575"/>
              </a:solidFill>
              <a:latin typeface="Seravek"/>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20A6531-7A77-6FA2-72DC-97B700BC579C}"/>
                  </a:ext>
                </a:extLst>
              </p:cNvPr>
              <p:cNvSpPr txBox="1"/>
              <p:nvPr/>
            </p:nvSpPr>
            <p:spPr>
              <a:xfrm>
                <a:off x="7886164" y="2484019"/>
                <a:ext cx="29204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𝑃𝑒𝑎𝑘</m:t>
                      </m:r>
                      <m:r>
                        <a:rPr lang="en-US" altLang="zh-CN" b="0" i="1" smtClean="0">
                          <a:latin typeface="Cambria Math" panose="02040503050406030204" pitchFamily="18" charset="0"/>
                        </a:rPr>
                        <m:t> </m:t>
                      </m:r>
                      <m:r>
                        <a:rPr lang="en-US" altLang="zh-CN" b="0" i="1" smtClean="0">
                          <a:latin typeface="Cambria Math" panose="02040503050406030204" pitchFamily="18" charset="0"/>
                        </a:rPr>
                        <m:t>𝑃𝑜𝑠</m:t>
                      </m:r>
                      <m:r>
                        <a:rPr lang="en-US" altLang="zh-CN" b="0" i="1" smtClean="0">
                          <a:latin typeface="Cambria Math" panose="02040503050406030204" pitchFamily="18" charset="0"/>
                        </a:rPr>
                        <m:t>: 2</m:t>
                      </m:r>
                      <m:r>
                        <a:rPr lang="en-US" altLang="zh-CN" b="1" i="1">
                          <a:solidFill>
                            <a:schemeClr val="tx1"/>
                          </a:solidFill>
                          <a:latin typeface="Cambria Math" panose="02040503050406030204" pitchFamily="18" charset="0"/>
                        </a:rPr>
                        <m:t>𝒗</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𝑓</m:t>
                          </m:r>
                        </m:e>
                        <m:sub>
                          <m:r>
                            <a:rPr lang="en-US" altLang="zh-CN" i="1">
                              <a:solidFill>
                                <a:schemeClr val="tx1"/>
                              </a:solidFill>
                              <a:latin typeface="Cambria Math" panose="02040503050406030204" pitchFamily="18" charset="0"/>
                            </a:rPr>
                            <m:t>𝑐</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𝑐</m:t>
                      </m:r>
                      <m:r>
                        <a:rPr lang="en-US" altLang="zh-CN" b="1" i="1" smtClean="0">
                          <a:solidFill>
                            <a:schemeClr val="tx1"/>
                          </a:solidFill>
                          <a:latin typeface="Cambria Math" panose="02040503050406030204" pitchFamily="18" charset="0"/>
                        </a:rPr>
                        <m:t>+</m:t>
                      </m:r>
                      <m:r>
                        <a:rPr lang="zh-CN" altLang="en-US" b="0" i="1">
                          <a:solidFill>
                            <a:schemeClr val="tx1"/>
                          </a:solidFill>
                          <a:latin typeface="Cambria Math" panose="02040503050406030204" pitchFamily="18" charset="0"/>
                          <a:ea typeface="Cambria Math" panose="02040503050406030204" pitchFamily="18" charset="0"/>
                        </a:rPr>
                        <m:t>𝜔</m:t>
                      </m:r>
                      <m:r>
                        <a:rPr lang="en-US" altLang="zh-CN" b="0" i="1">
                          <a:solidFill>
                            <a:schemeClr val="tx1"/>
                          </a:solidFill>
                          <a:latin typeface="Cambria Math" panose="02040503050406030204" pitchFamily="18" charset="0"/>
                          <a:ea typeface="Cambria Math" panose="02040503050406030204" pitchFamily="18" charset="0"/>
                        </a:rPr>
                        <m:t>𝑚</m:t>
                      </m:r>
                      <m:r>
                        <a:rPr lang="en-US" altLang="zh-CN" b="0" i="1">
                          <a:solidFill>
                            <a:schemeClr val="tx1"/>
                          </a:solidFill>
                          <a:latin typeface="Cambria Math" panose="02040503050406030204" pitchFamily="18" charset="0"/>
                          <a:ea typeface="Cambria Math" panose="02040503050406030204" pitchFamily="18" charset="0"/>
                        </a:rPr>
                        <m:t>/2</m:t>
                      </m:r>
                      <m:r>
                        <a:rPr lang="en-US" altLang="zh-CN" b="0" i="1">
                          <a:solidFill>
                            <a:schemeClr val="tx1"/>
                          </a:solidFill>
                          <a:latin typeface="Cambria Math" panose="02040503050406030204" pitchFamily="18" charset="0"/>
                          <a:ea typeface="Cambria Math" panose="02040503050406030204" pitchFamily="18" charset="0"/>
                        </a:rPr>
                        <m:t>𝜋</m:t>
                      </m:r>
                    </m:oMath>
                  </m:oMathPara>
                </a14:m>
                <a:endParaRPr lang="zh-CN" altLang="en-US" dirty="0"/>
              </a:p>
            </p:txBody>
          </p:sp>
        </mc:Choice>
        <mc:Fallback xmlns="">
          <p:sp>
            <p:nvSpPr>
              <p:cNvPr id="2" name="文本框 1">
                <a:extLst>
                  <a:ext uri="{FF2B5EF4-FFF2-40B4-BE49-F238E27FC236}">
                    <a16:creationId xmlns:a16="http://schemas.microsoft.com/office/drawing/2014/main" id="{520A6531-7A77-6FA2-72DC-97B700BC579C}"/>
                  </a:ext>
                </a:extLst>
              </p:cNvPr>
              <p:cNvSpPr txBox="1">
                <a:spLocks noRot="1" noChangeAspect="1" noMove="1" noResize="1" noEditPoints="1" noAdjustHandles="1" noChangeArrowheads="1" noChangeShapeType="1" noTextEdit="1"/>
              </p:cNvSpPr>
              <p:nvPr/>
            </p:nvSpPr>
            <p:spPr>
              <a:xfrm>
                <a:off x="7886164" y="2484019"/>
                <a:ext cx="2920478" cy="276999"/>
              </a:xfrm>
              <a:prstGeom prst="rect">
                <a:avLst/>
              </a:prstGeom>
              <a:blipFill>
                <a:blip r:embed="rId4"/>
                <a:stretch>
                  <a:fillRect l="-418" t="-2174" r="-209" b="-32609"/>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0CF6C79-64B3-7FE1-5D3A-E12819E34FF7}"/>
              </a:ext>
            </a:extLst>
          </p:cNvPr>
          <p:cNvSpPr txBox="1"/>
          <p:nvPr/>
        </p:nvSpPr>
        <p:spPr>
          <a:xfrm>
            <a:off x="7407665" y="1865882"/>
            <a:ext cx="2701454" cy="461665"/>
          </a:xfrm>
          <a:prstGeom prst="rect">
            <a:avLst/>
          </a:prstGeom>
          <a:noFill/>
        </p:spPr>
        <p:txBody>
          <a:bodyPr wrap="square">
            <a:spAutoFit/>
          </a:bodyPr>
          <a:lstStyle/>
          <a:p>
            <a:r>
              <a:rPr lang="en-US" altLang="zh-CN" sz="2400" dirty="0">
                <a:latin typeface="Seravek"/>
              </a:rPr>
              <a:t>The PMM feature:</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F6E6323-DEC8-7821-539B-FA50220CC0DF}"/>
                  </a:ext>
                </a:extLst>
              </p:cNvPr>
              <p:cNvSpPr txBox="1"/>
              <p:nvPr/>
            </p:nvSpPr>
            <p:spPr>
              <a:xfrm>
                <a:off x="7886166" y="2992019"/>
                <a:ext cx="2514727" cy="810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𝑃𝑒𝑎𝑘</m:t>
                      </m:r>
                      <m:r>
                        <a:rPr lang="en-US" altLang="zh-CN" b="0" i="1" smtClean="0">
                          <a:latin typeface="Cambria Math" panose="02040503050406030204" pitchFamily="18" charset="0"/>
                        </a:rPr>
                        <m:t> </m:t>
                      </m:r>
                      <m:r>
                        <a:rPr lang="en-US" altLang="zh-CN" b="0" i="1" smtClean="0">
                          <a:latin typeface="Cambria Math" panose="02040503050406030204" pitchFamily="18" charset="0"/>
                        </a:rPr>
                        <m:t>𝑣𝑎𝑙𝑢𝑒</m:t>
                      </m:r>
                      <m:r>
                        <a:rPr lang="en-US" altLang="zh-CN" b="0" i="1" smtClean="0">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𝑞</m:t>
                          </m:r>
                          <m:r>
                            <a:rPr lang="en-US" altLang="zh-CN" i="1">
                              <a:latin typeface="Cambria Math" panose="02040503050406030204" pitchFamily="18" charset="0"/>
                            </a:rPr>
                            <m:t>=1</m:t>
                          </m:r>
                        </m:sub>
                        <m:sup>
                          <m:r>
                            <a:rPr lang="en-US" altLang="zh-CN" i="1">
                              <a:latin typeface="Cambria Math" panose="02040503050406030204" pitchFamily="18" charset="0"/>
                            </a:rPr>
                            <m:t>𝑄</m:t>
                          </m:r>
                        </m:sup>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𝑝</m:t>
                              </m:r>
                              <m:r>
                                <a:rPr lang="en-US" altLang="zh-CN" i="1">
                                  <a:latin typeface="Cambria Math" panose="02040503050406030204" pitchFamily="18" charset="0"/>
                                </a:rPr>
                                <m:t>=1</m:t>
                              </m:r>
                            </m:sub>
                            <m:sup>
                              <m:r>
                                <a:rPr lang="en-US" altLang="zh-CN" i="1">
                                  <a:latin typeface="Cambria Math" panose="02040503050406030204" pitchFamily="18" charset="0"/>
                                </a:rPr>
                                <m:t>𝑃</m:t>
                              </m:r>
                            </m:sup>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𝛾</m:t>
                                  </m:r>
                                </m:e>
                                <m:sub>
                                  <m:r>
                                    <a:rPr lang="en-US" altLang="zh-CN" i="1">
                                      <a:latin typeface="Cambria Math" panose="02040503050406030204" pitchFamily="18" charset="0"/>
                                      <a:ea typeface="Cambria Math" panose="02040503050406030204" pitchFamily="18" charset="0"/>
                                    </a:rPr>
                                    <m:t>𝑝𝑞𝑚</m:t>
                                  </m:r>
                                </m:sub>
                              </m:sSub>
                            </m:e>
                          </m:nary>
                        </m:e>
                      </m:nary>
                    </m:oMath>
                  </m:oMathPara>
                </a14:m>
                <a:endParaRPr lang="zh-CN" altLang="en-US" dirty="0"/>
              </a:p>
            </p:txBody>
          </p:sp>
        </mc:Choice>
        <mc:Fallback xmlns="">
          <p:sp>
            <p:nvSpPr>
              <p:cNvPr id="11" name="文本框 10">
                <a:extLst>
                  <a:ext uri="{FF2B5EF4-FFF2-40B4-BE49-F238E27FC236}">
                    <a16:creationId xmlns:a16="http://schemas.microsoft.com/office/drawing/2014/main" id="{9F6E6323-DEC8-7821-539B-FA50220CC0DF}"/>
                  </a:ext>
                </a:extLst>
              </p:cNvPr>
              <p:cNvSpPr txBox="1">
                <a:spLocks noRot="1" noChangeAspect="1" noMove="1" noResize="1" noEditPoints="1" noAdjustHandles="1" noChangeArrowheads="1" noChangeShapeType="1" noTextEdit="1"/>
              </p:cNvSpPr>
              <p:nvPr/>
            </p:nvSpPr>
            <p:spPr>
              <a:xfrm>
                <a:off x="7886166" y="2992019"/>
                <a:ext cx="2514727" cy="81092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3064CC0A-749F-6A8A-2D0F-E9AB4C697058}"/>
                  </a:ext>
                </a:extLst>
              </p:cNvPr>
              <p:cNvSpPr txBox="1"/>
              <p:nvPr/>
            </p:nvSpPr>
            <p:spPr>
              <a:xfrm>
                <a:off x="11061165" y="3305286"/>
                <a:ext cx="67486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𝑚</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𝑍</m:t>
                      </m:r>
                    </m:oMath>
                  </m:oMathPara>
                </a14:m>
                <a:endParaRPr lang="zh-CN" altLang="en-US" dirty="0"/>
              </a:p>
            </p:txBody>
          </p:sp>
        </mc:Choice>
        <mc:Fallback xmlns="">
          <p:sp>
            <p:nvSpPr>
              <p:cNvPr id="17" name="文本框 16">
                <a:extLst>
                  <a:ext uri="{FF2B5EF4-FFF2-40B4-BE49-F238E27FC236}">
                    <a16:creationId xmlns:a16="http://schemas.microsoft.com/office/drawing/2014/main" id="{3064CC0A-749F-6A8A-2D0F-E9AB4C697058}"/>
                  </a:ext>
                </a:extLst>
              </p:cNvPr>
              <p:cNvSpPr txBox="1">
                <a:spLocks noRot="1" noChangeAspect="1" noMove="1" noResize="1" noEditPoints="1" noAdjustHandles="1" noChangeArrowheads="1" noChangeShapeType="1" noTextEdit="1"/>
              </p:cNvSpPr>
              <p:nvPr/>
            </p:nvSpPr>
            <p:spPr>
              <a:xfrm>
                <a:off x="11061165" y="3305286"/>
                <a:ext cx="674865" cy="276999"/>
              </a:xfrm>
              <a:prstGeom prst="rect">
                <a:avLst/>
              </a:prstGeom>
              <a:blipFill>
                <a:blip r:embed="rId6"/>
                <a:stretch>
                  <a:fillRect l="-3604" r="-7207" b="-6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C80E9BFF-45AD-B6DC-9515-821298C365D6}"/>
                  </a:ext>
                </a:extLst>
              </p:cNvPr>
              <p:cNvSpPr txBox="1"/>
              <p:nvPr/>
            </p:nvSpPr>
            <p:spPr>
              <a:xfrm>
                <a:off x="11018833" y="2484020"/>
                <a:ext cx="67486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𝑚</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𝑍</m:t>
                      </m:r>
                    </m:oMath>
                  </m:oMathPara>
                </a14:m>
                <a:endParaRPr lang="zh-CN" altLang="en-US" dirty="0"/>
              </a:p>
            </p:txBody>
          </p:sp>
        </mc:Choice>
        <mc:Fallback xmlns="">
          <p:sp>
            <p:nvSpPr>
              <p:cNvPr id="19" name="文本框 18">
                <a:extLst>
                  <a:ext uri="{FF2B5EF4-FFF2-40B4-BE49-F238E27FC236}">
                    <a16:creationId xmlns:a16="http://schemas.microsoft.com/office/drawing/2014/main" id="{C80E9BFF-45AD-B6DC-9515-821298C365D6}"/>
                  </a:ext>
                </a:extLst>
              </p:cNvPr>
              <p:cNvSpPr txBox="1">
                <a:spLocks noRot="1" noChangeAspect="1" noMove="1" noResize="1" noEditPoints="1" noAdjustHandles="1" noChangeArrowheads="1" noChangeShapeType="1" noTextEdit="1"/>
              </p:cNvSpPr>
              <p:nvPr/>
            </p:nvSpPr>
            <p:spPr>
              <a:xfrm>
                <a:off x="11018833" y="2484020"/>
                <a:ext cx="674865" cy="276999"/>
              </a:xfrm>
              <a:prstGeom prst="rect">
                <a:avLst/>
              </a:prstGeom>
              <a:blipFill>
                <a:blip r:embed="rId7"/>
                <a:stretch>
                  <a:fillRect l="-3636" r="-7273" b="-6522"/>
                </a:stretch>
              </a:blipFill>
            </p:spPr>
            <p:txBody>
              <a:bodyPr/>
              <a:lstStyle/>
              <a:p>
                <a:r>
                  <a:rPr lang="zh-CN" altLang="en-US">
                    <a:noFill/>
                  </a:rPr>
                  <a:t> </a:t>
                </a:r>
              </a:p>
            </p:txBody>
          </p:sp>
        </mc:Fallback>
      </mc:AlternateContent>
      <p:sp>
        <p:nvSpPr>
          <p:cNvPr id="23" name="左大括号 22">
            <a:extLst>
              <a:ext uri="{FF2B5EF4-FFF2-40B4-BE49-F238E27FC236}">
                <a16:creationId xmlns:a16="http://schemas.microsoft.com/office/drawing/2014/main" id="{A058B3FE-D227-9DDC-5CFB-79E311799FF4}"/>
              </a:ext>
            </a:extLst>
          </p:cNvPr>
          <p:cNvSpPr/>
          <p:nvPr/>
        </p:nvSpPr>
        <p:spPr>
          <a:xfrm>
            <a:off x="7662335" y="2582335"/>
            <a:ext cx="169334" cy="86360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001736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err="1">
                <a:solidFill>
                  <a:schemeClr val="bg1"/>
                </a:solidFill>
                <a:latin typeface="Arial" panose="020B0604020202020204" pitchFamily="34" charset="0"/>
                <a:ea typeface="Sathu" charset="-34"/>
                <a:cs typeface="Arial" panose="020B0604020202020204" pitchFamily="34" charset="0"/>
              </a:rPr>
              <a:t>mmHawkeye</a:t>
            </a:r>
            <a:r>
              <a:rPr lang="en-US" altLang="zh-CN" sz="3200" dirty="0">
                <a:solidFill>
                  <a:schemeClr val="bg1"/>
                </a:solidFill>
                <a:latin typeface="Arial" panose="020B0604020202020204" pitchFamily="34" charset="0"/>
                <a:ea typeface="Sathu" charset="-34"/>
                <a:cs typeface="Arial" panose="020B0604020202020204" pitchFamily="34" charset="0"/>
              </a:rPr>
              <a:t>: Passive UAV detection with the PMM feature</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9" name="文本框 8">
            <a:extLst>
              <a:ext uri="{FF2B5EF4-FFF2-40B4-BE49-F238E27FC236}">
                <a16:creationId xmlns:a16="http://schemas.microsoft.com/office/drawing/2014/main" id="{C2BDCFE0-9DE0-50D7-D993-934069454DAC}"/>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9/18</a:t>
            </a:r>
            <a:endParaRPr lang="zh-CN" altLang="en-US" sz="2000" b="1" dirty="0">
              <a:solidFill>
                <a:srgbClr val="757575"/>
              </a:solidFill>
              <a:latin typeface="Seravek"/>
            </a:endParaRPr>
          </a:p>
        </p:txBody>
      </p:sp>
      <p:pic>
        <p:nvPicPr>
          <p:cNvPr id="3" name="图片 2">
            <a:extLst>
              <a:ext uri="{FF2B5EF4-FFF2-40B4-BE49-F238E27FC236}">
                <a16:creationId xmlns:a16="http://schemas.microsoft.com/office/drawing/2014/main" id="{05013EFD-02A6-65CD-815A-1245965AB7DF}"/>
              </a:ext>
            </a:extLst>
          </p:cNvPr>
          <p:cNvPicPr>
            <a:picLocks noChangeAspect="1"/>
          </p:cNvPicPr>
          <p:nvPr/>
        </p:nvPicPr>
        <p:blipFill rotWithShape="1">
          <a:blip r:embed="rId3"/>
          <a:srcRect r="88534"/>
          <a:stretch/>
        </p:blipFill>
        <p:spPr>
          <a:xfrm>
            <a:off x="546266" y="2025686"/>
            <a:ext cx="1223752" cy="3567591"/>
          </a:xfrm>
          <a:prstGeom prst="rect">
            <a:avLst/>
          </a:prstGeom>
        </p:spPr>
      </p:pic>
      <p:pic>
        <p:nvPicPr>
          <p:cNvPr id="5" name="图片 4">
            <a:extLst>
              <a:ext uri="{FF2B5EF4-FFF2-40B4-BE49-F238E27FC236}">
                <a16:creationId xmlns:a16="http://schemas.microsoft.com/office/drawing/2014/main" id="{BE7432F7-D547-C520-9587-2C6885FC244F}"/>
              </a:ext>
            </a:extLst>
          </p:cNvPr>
          <p:cNvPicPr>
            <a:picLocks noChangeAspect="1"/>
          </p:cNvPicPr>
          <p:nvPr/>
        </p:nvPicPr>
        <p:blipFill rotWithShape="1">
          <a:blip r:embed="rId3"/>
          <a:srcRect l="11506" r="65607"/>
          <a:stretch/>
        </p:blipFill>
        <p:spPr>
          <a:xfrm>
            <a:off x="1783443" y="2026800"/>
            <a:ext cx="2442754" cy="3567591"/>
          </a:xfrm>
          <a:prstGeom prst="rect">
            <a:avLst/>
          </a:prstGeom>
        </p:spPr>
      </p:pic>
      <p:pic>
        <p:nvPicPr>
          <p:cNvPr id="6" name="图片 5">
            <a:extLst>
              <a:ext uri="{FF2B5EF4-FFF2-40B4-BE49-F238E27FC236}">
                <a16:creationId xmlns:a16="http://schemas.microsoft.com/office/drawing/2014/main" id="{70866109-5E28-FF4C-8DC7-76899FD7DFFA}"/>
              </a:ext>
            </a:extLst>
          </p:cNvPr>
          <p:cNvPicPr>
            <a:picLocks noChangeAspect="1"/>
          </p:cNvPicPr>
          <p:nvPr/>
        </p:nvPicPr>
        <p:blipFill rotWithShape="1">
          <a:blip r:embed="rId3"/>
          <a:srcRect l="34471" r="42214"/>
          <a:stretch/>
        </p:blipFill>
        <p:spPr>
          <a:xfrm>
            <a:off x="4222387" y="2026800"/>
            <a:ext cx="2488474" cy="3567591"/>
          </a:xfrm>
          <a:prstGeom prst="rect">
            <a:avLst/>
          </a:prstGeom>
        </p:spPr>
      </p:pic>
      <p:pic>
        <p:nvPicPr>
          <p:cNvPr id="7" name="图片 6">
            <a:extLst>
              <a:ext uri="{FF2B5EF4-FFF2-40B4-BE49-F238E27FC236}">
                <a16:creationId xmlns:a16="http://schemas.microsoft.com/office/drawing/2014/main" id="{001423B1-89B1-4442-666E-13D6ED6DC137}"/>
              </a:ext>
            </a:extLst>
          </p:cNvPr>
          <p:cNvPicPr>
            <a:picLocks noChangeAspect="1"/>
          </p:cNvPicPr>
          <p:nvPr/>
        </p:nvPicPr>
        <p:blipFill rotWithShape="1">
          <a:blip r:embed="rId3"/>
          <a:srcRect l="57969"/>
          <a:stretch/>
        </p:blipFill>
        <p:spPr>
          <a:xfrm>
            <a:off x="6685098" y="2026800"/>
            <a:ext cx="4486045" cy="3567591"/>
          </a:xfrm>
          <a:prstGeom prst="rect">
            <a:avLst/>
          </a:prstGeom>
        </p:spPr>
      </p:pic>
    </p:spTree>
    <p:extLst>
      <p:ext uri="{BB962C8B-B14F-4D97-AF65-F5344CB8AC3E}">
        <p14:creationId xmlns:p14="http://schemas.microsoft.com/office/powerpoint/2010/main" val="1546914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Feature extraction</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5" name="文本框 4">
            <a:extLst>
              <a:ext uri="{FF2B5EF4-FFF2-40B4-BE49-F238E27FC236}">
                <a16:creationId xmlns:a16="http://schemas.microsoft.com/office/drawing/2014/main" id="{374F33D6-998A-1E41-3F20-41F7C6D71A93}"/>
              </a:ext>
            </a:extLst>
          </p:cNvPr>
          <p:cNvSpPr txBox="1"/>
          <p:nvPr/>
        </p:nvSpPr>
        <p:spPr>
          <a:xfrm>
            <a:off x="538993" y="1199517"/>
            <a:ext cx="11054592" cy="523220"/>
          </a:xfrm>
          <a:prstGeom prst="rect">
            <a:avLst/>
          </a:prstGeom>
          <a:noFill/>
        </p:spPr>
        <p:txBody>
          <a:bodyPr wrap="square">
            <a:spAutoFit/>
          </a:bodyPr>
          <a:lstStyle/>
          <a:p>
            <a:r>
              <a:rPr lang="en-US" altLang="zh-CN" sz="2800" dirty="0">
                <a:solidFill>
                  <a:srgbClr val="C00000"/>
                </a:solidFill>
                <a:latin typeface="Seravek" charset="0"/>
                <a:ea typeface="Seravek" charset="0"/>
                <a:cs typeface="Seravek" charset="0"/>
              </a:rPr>
              <a:t>Challenge 1</a:t>
            </a:r>
            <a:r>
              <a:rPr lang="en-US" altLang="zh-CN" sz="2800" dirty="0">
                <a:solidFill>
                  <a:srgbClr val="C00000"/>
                </a:solidFill>
                <a:latin typeface="Seravek" charset="0"/>
              </a:rPr>
              <a:t>: The weak reflected signal from the small UAV at height.</a:t>
            </a:r>
            <a:endParaRPr lang="zh-CN" altLang="en-US" sz="2800" dirty="0">
              <a:solidFill>
                <a:srgbClr val="C00000"/>
              </a:solidFill>
              <a:latin typeface="Seravek" charset="0"/>
            </a:endParaRPr>
          </a:p>
        </p:txBody>
      </p:sp>
      <p:sp>
        <p:nvSpPr>
          <p:cNvPr id="19" name="文本框 18">
            <a:extLst>
              <a:ext uri="{FF2B5EF4-FFF2-40B4-BE49-F238E27FC236}">
                <a16:creationId xmlns:a16="http://schemas.microsoft.com/office/drawing/2014/main" id="{A517E505-D1DD-31C1-BDC1-62B85E8B10B9}"/>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10/18</a:t>
            </a:r>
            <a:endParaRPr lang="zh-CN" altLang="en-US" sz="2000" b="1" dirty="0">
              <a:solidFill>
                <a:srgbClr val="757575"/>
              </a:solidFill>
              <a:latin typeface="Seravek"/>
            </a:endParaRPr>
          </a:p>
        </p:txBody>
      </p:sp>
      <p:pic>
        <p:nvPicPr>
          <p:cNvPr id="15" name="图片 14">
            <a:extLst>
              <a:ext uri="{FF2B5EF4-FFF2-40B4-BE49-F238E27FC236}">
                <a16:creationId xmlns:a16="http://schemas.microsoft.com/office/drawing/2014/main" id="{1B7B4B64-C807-0D41-29AA-84FFB6570590}"/>
              </a:ext>
            </a:extLst>
          </p:cNvPr>
          <p:cNvPicPr>
            <a:picLocks noChangeAspect="1"/>
          </p:cNvPicPr>
          <p:nvPr/>
        </p:nvPicPr>
        <p:blipFill>
          <a:blip r:embed="rId3"/>
          <a:stretch>
            <a:fillRect/>
          </a:stretch>
        </p:blipFill>
        <p:spPr>
          <a:xfrm>
            <a:off x="953035" y="2160000"/>
            <a:ext cx="10285931" cy="3960000"/>
          </a:xfrm>
          <a:prstGeom prst="rect">
            <a:avLst/>
          </a:prstGeom>
        </p:spPr>
      </p:pic>
      <p:pic>
        <p:nvPicPr>
          <p:cNvPr id="6" name="图片 5">
            <a:extLst>
              <a:ext uri="{FF2B5EF4-FFF2-40B4-BE49-F238E27FC236}">
                <a16:creationId xmlns:a16="http://schemas.microsoft.com/office/drawing/2014/main" id="{6B67CA74-92FB-7B67-C789-F465202426EA}"/>
              </a:ext>
            </a:extLst>
          </p:cNvPr>
          <p:cNvPicPr>
            <a:picLocks noChangeAspect="1"/>
          </p:cNvPicPr>
          <p:nvPr/>
        </p:nvPicPr>
        <p:blipFill>
          <a:blip r:embed="rId4"/>
          <a:stretch>
            <a:fillRect/>
          </a:stretch>
        </p:blipFill>
        <p:spPr>
          <a:xfrm>
            <a:off x="1003608" y="2267516"/>
            <a:ext cx="10065445" cy="3664265"/>
          </a:xfrm>
          <a:prstGeom prst="rect">
            <a:avLst/>
          </a:prstGeom>
        </p:spPr>
      </p:pic>
    </p:spTree>
    <p:extLst>
      <p:ext uri="{BB962C8B-B14F-4D97-AF65-F5344CB8AC3E}">
        <p14:creationId xmlns:p14="http://schemas.microsoft.com/office/powerpoint/2010/main" val="1621873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7B4187D1-D97A-A0F3-13B2-0C6DD5C683EF}"/>
              </a:ext>
            </a:extLst>
          </p:cNvPr>
          <p:cNvPicPr>
            <a:picLocks noChangeAspect="1"/>
          </p:cNvPicPr>
          <p:nvPr/>
        </p:nvPicPr>
        <p:blipFill>
          <a:blip r:embed="rId3"/>
          <a:stretch>
            <a:fillRect/>
          </a:stretch>
        </p:blipFill>
        <p:spPr>
          <a:xfrm>
            <a:off x="1016001" y="2135650"/>
            <a:ext cx="10049933" cy="3896566"/>
          </a:xfrm>
          <a:prstGeom prst="rect">
            <a:avLst/>
          </a:prstGeom>
        </p:spPr>
      </p:pic>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Feature extraction</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5" name="文本框 4">
            <a:extLst>
              <a:ext uri="{FF2B5EF4-FFF2-40B4-BE49-F238E27FC236}">
                <a16:creationId xmlns:a16="http://schemas.microsoft.com/office/drawing/2014/main" id="{374F33D6-998A-1E41-3F20-41F7C6D71A93}"/>
              </a:ext>
            </a:extLst>
          </p:cNvPr>
          <p:cNvSpPr txBox="1"/>
          <p:nvPr/>
        </p:nvSpPr>
        <p:spPr>
          <a:xfrm>
            <a:off x="538993" y="1199517"/>
            <a:ext cx="11054592" cy="523220"/>
          </a:xfrm>
          <a:prstGeom prst="rect">
            <a:avLst/>
          </a:prstGeom>
          <a:noFill/>
        </p:spPr>
        <p:txBody>
          <a:bodyPr wrap="square">
            <a:spAutoFit/>
          </a:bodyPr>
          <a:lstStyle/>
          <a:p>
            <a:r>
              <a:rPr lang="en-US" altLang="zh-CN" sz="2800" dirty="0">
                <a:solidFill>
                  <a:srgbClr val="C00000"/>
                </a:solidFill>
                <a:latin typeface="Seravek" charset="0"/>
                <a:ea typeface="Seravek" charset="0"/>
                <a:cs typeface="Seravek" charset="0"/>
              </a:rPr>
              <a:t>Challenge 1</a:t>
            </a:r>
            <a:r>
              <a:rPr lang="en-US" altLang="zh-CN" sz="2800" dirty="0">
                <a:solidFill>
                  <a:srgbClr val="C00000"/>
                </a:solidFill>
                <a:latin typeface="Seravek" charset="0"/>
              </a:rPr>
              <a:t>: The weak reflected signal from the small UAV at height.</a:t>
            </a:r>
            <a:endParaRPr lang="zh-CN" altLang="en-US" sz="2800" dirty="0">
              <a:solidFill>
                <a:srgbClr val="C00000"/>
              </a:solidFill>
              <a:latin typeface="Seravek" charset="0"/>
            </a:endParaRPr>
          </a:p>
        </p:txBody>
      </p:sp>
      <p:sp>
        <p:nvSpPr>
          <p:cNvPr id="19" name="文本框 18">
            <a:extLst>
              <a:ext uri="{FF2B5EF4-FFF2-40B4-BE49-F238E27FC236}">
                <a16:creationId xmlns:a16="http://schemas.microsoft.com/office/drawing/2014/main" id="{A517E505-D1DD-31C1-BDC1-62B85E8B10B9}"/>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10/18</a:t>
            </a:r>
            <a:endParaRPr lang="zh-CN" altLang="en-US" sz="2000" b="1" dirty="0">
              <a:solidFill>
                <a:srgbClr val="757575"/>
              </a:solidFill>
              <a:latin typeface="Seravek"/>
            </a:endParaRPr>
          </a:p>
        </p:txBody>
      </p:sp>
    </p:spTree>
    <p:extLst>
      <p:ext uri="{BB962C8B-B14F-4D97-AF65-F5344CB8AC3E}">
        <p14:creationId xmlns:p14="http://schemas.microsoft.com/office/powerpoint/2010/main" val="1579439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Feature extraction</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5" name="文本框 4">
            <a:extLst>
              <a:ext uri="{FF2B5EF4-FFF2-40B4-BE49-F238E27FC236}">
                <a16:creationId xmlns:a16="http://schemas.microsoft.com/office/drawing/2014/main" id="{374F33D6-998A-1E41-3F20-41F7C6D71A93}"/>
              </a:ext>
            </a:extLst>
          </p:cNvPr>
          <p:cNvSpPr txBox="1"/>
          <p:nvPr/>
        </p:nvSpPr>
        <p:spPr>
          <a:xfrm>
            <a:off x="538993" y="1199517"/>
            <a:ext cx="11054592" cy="523220"/>
          </a:xfrm>
          <a:prstGeom prst="rect">
            <a:avLst/>
          </a:prstGeom>
          <a:noFill/>
        </p:spPr>
        <p:txBody>
          <a:bodyPr wrap="square">
            <a:spAutoFit/>
          </a:bodyPr>
          <a:lstStyle/>
          <a:p>
            <a:r>
              <a:rPr lang="en-US" altLang="zh-CN" sz="2800" dirty="0">
                <a:solidFill>
                  <a:srgbClr val="C00000"/>
                </a:solidFill>
                <a:latin typeface="Seravek" charset="0"/>
                <a:ea typeface="Seravek" charset="0"/>
                <a:cs typeface="Seravek" charset="0"/>
              </a:rPr>
              <a:t>Challenge 1</a:t>
            </a:r>
            <a:r>
              <a:rPr lang="en-US" altLang="zh-CN" sz="2800" dirty="0">
                <a:solidFill>
                  <a:srgbClr val="C00000"/>
                </a:solidFill>
                <a:latin typeface="Seravek" charset="0"/>
              </a:rPr>
              <a:t>: The weak reflected signal from the small UAV at height.</a:t>
            </a:r>
            <a:endParaRPr lang="zh-CN" altLang="en-US" sz="2800" dirty="0">
              <a:solidFill>
                <a:srgbClr val="C00000"/>
              </a:solidFill>
              <a:latin typeface="Seravek" charset="0"/>
            </a:endParaRPr>
          </a:p>
        </p:txBody>
      </p:sp>
      <p:pic>
        <p:nvPicPr>
          <p:cNvPr id="10" name="图片 9">
            <a:extLst>
              <a:ext uri="{FF2B5EF4-FFF2-40B4-BE49-F238E27FC236}">
                <a16:creationId xmlns:a16="http://schemas.microsoft.com/office/drawing/2014/main" id="{5ECDA912-5AE8-79BD-FF6E-BA3459B4209C}"/>
              </a:ext>
            </a:extLst>
          </p:cNvPr>
          <p:cNvPicPr>
            <a:picLocks noChangeAspect="1"/>
          </p:cNvPicPr>
          <p:nvPr/>
        </p:nvPicPr>
        <p:blipFill rotWithShape="1">
          <a:blip r:embed="rId3"/>
          <a:srcRect l="453" b="4856"/>
          <a:stretch/>
        </p:blipFill>
        <p:spPr>
          <a:xfrm>
            <a:off x="1046838" y="2345267"/>
            <a:ext cx="9874046" cy="3945466"/>
          </a:xfrm>
          <a:prstGeom prst="rect">
            <a:avLst/>
          </a:prstGeom>
        </p:spPr>
      </p:pic>
      <p:sp>
        <p:nvSpPr>
          <p:cNvPr id="19" name="文本框 18">
            <a:extLst>
              <a:ext uri="{FF2B5EF4-FFF2-40B4-BE49-F238E27FC236}">
                <a16:creationId xmlns:a16="http://schemas.microsoft.com/office/drawing/2014/main" id="{A517E505-D1DD-31C1-BDC1-62B85E8B10B9}"/>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10/18</a:t>
            </a:r>
            <a:endParaRPr lang="zh-CN" altLang="en-US" sz="2000" b="1" dirty="0">
              <a:solidFill>
                <a:srgbClr val="757575"/>
              </a:solidFill>
              <a:latin typeface="Seravek"/>
            </a:endParaRPr>
          </a:p>
        </p:txBody>
      </p:sp>
      <p:sp>
        <p:nvSpPr>
          <p:cNvPr id="3" name="矩形 2">
            <a:extLst>
              <a:ext uri="{FF2B5EF4-FFF2-40B4-BE49-F238E27FC236}">
                <a16:creationId xmlns:a16="http://schemas.microsoft.com/office/drawing/2014/main" id="{5671BDA3-3DC0-ABFB-07F3-B2C59CEEDB7D}"/>
              </a:ext>
            </a:extLst>
          </p:cNvPr>
          <p:cNvSpPr/>
          <p:nvPr/>
        </p:nvSpPr>
        <p:spPr>
          <a:xfrm>
            <a:off x="5024386" y="4019694"/>
            <a:ext cx="490889" cy="2313729"/>
          </a:xfrm>
          <a:prstGeom prst="rect">
            <a:avLst/>
          </a:prstGeom>
          <a:noFill/>
          <a:ln w="412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92415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a:extLst>
              <a:ext uri="{FF2B5EF4-FFF2-40B4-BE49-F238E27FC236}">
                <a16:creationId xmlns:a16="http://schemas.microsoft.com/office/drawing/2014/main" id="{7C01D8D3-B42D-9067-77D4-63B5A18A9CD5}"/>
              </a:ext>
            </a:extLst>
          </p:cNvPr>
          <p:cNvSpPr/>
          <p:nvPr/>
        </p:nvSpPr>
        <p:spPr>
          <a:xfrm>
            <a:off x="5327651" y="2760133"/>
            <a:ext cx="1157674" cy="3236421"/>
          </a:xfrm>
          <a:prstGeom prst="rect">
            <a:avLst/>
          </a:prstGeom>
          <a:solidFill>
            <a:schemeClr val="bg1">
              <a:lumMod val="95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20ECAED4-C23F-3ED9-FA61-B2C11BFB265D}"/>
              </a:ext>
            </a:extLst>
          </p:cNvPr>
          <p:cNvSpPr/>
          <p:nvPr/>
        </p:nvSpPr>
        <p:spPr>
          <a:xfrm>
            <a:off x="4224867" y="2760133"/>
            <a:ext cx="1102783" cy="3238537"/>
          </a:xfrm>
          <a:prstGeom prst="rect">
            <a:avLst/>
          </a:prstGeom>
          <a:solidFill>
            <a:schemeClr val="bg1">
              <a:lumMod val="85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6F572101-BA86-7DEB-1A38-6E2E88824B62}"/>
              </a:ext>
            </a:extLst>
          </p:cNvPr>
          <p:cNvSpPr/>
          <p:nvPr/>
        </p:nvSpPr>
        <p:spPr>
          <a:xfrm>
            <a:off x="3169920" y="2755900"/>
            <a:ext cx="1050713" cy="3234654"/>
          </a:xfrm>
          <a:prstGeom prst="rect">
            <a:avLst/>
          </a:prstGeom>
          <a:solidFill>
            <a:schemeClr val="bg1">
              <a:lumMod val="95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765D541A-45B1-750E-E55D-C3E2DA9D21CA}"/>
              </a:ext>
            </a:extLst>
          </p:cNvPr>
          <p:cNvSpPr/>
          <p:nvPr/>
        </p:nvSpPr>
        <p:spPr>
          <a:xfrm>
            <a:off x="2086743" y="2756716"/>
            <a:ext cx="1081271" cy="3237683"/>
          </a:xfrm>
          <a:prstGeom prst="rect">
            <a:avLst/>
          </a:prstGeom>
          <a:solidFill>
            <a:schemeClr val="bg1">
              <a:lumMod val="85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41870AFC-E180-F62A-1EEC-630CE5065504}"/>
              </a:ext>
            </a:extLst>
          </p:cNvPr>
          <p:cNvSpPr/>
          <p:nvPr/>
        </p:nvSpPr>
        <p:spPr>
          <a:xfrm>
            <a:off x="1028700" y="2751666"/>
            <a:ext cx="1060023" cy="3261784"/>
          </a:xfrm>
          <a:prstGeom prst="rect">
            <a:avLst/>
          </a:prstGeom>
          <a:solidFill>
            <a:schemeClr val="bg1">
              <a:lumMod val="95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UAV tracking</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35" name="文本框 34">
            <a:extLst>
              <a:ext uri="{FF2B5EF4-FFF2-40B4-BE49-F238E27FC236}">
                <a16:creationId xmlns:a16="http://schemas.microsoft.com/office/drawing/2014/main" id="{BBCF8975-4111-C7A5-5980-DCAAD9F0FC6A}"/>
              </a:ext>
            </a:extLst>
          </p:cNvPr>
          <p:cNvSpPr txBox="1"/>
          <p:nvPr/>
        </p:nvSpPr>
        <p:spPr>
          <a:xfrm>
            <a:off x="538993" y="1199517"/>
            <a:ext cx="11467950" cy="954107"/>
          </a:xfrm>
          <a:prstGeom prst="rect">
            <a:avLst/>
          </a:prstGeom>
          <a:noFill/>
        </p:spPr>
        <p:txBody>
          <a:bodyPr wrap="square">
            <a:spAutoFit/>
          </a:bodyPr>
          <a:lstStyle/>
          <a:p>
            <a:r>
              <a:rPr lang="en-US" altLang="zh-CN" sz="2800" dirty="0">
                <a:solidFill>
                  <a:srgbClr val="C00000"/>
                </a:solidFill>
                <a:latin typeface="Seravek" charset="0"/>
                <a:ea typeface="Seravek" charset="0"/>
                <a:cs typeface="Seravek" charset="0"/>
              </a:rPr>
              <a:t>Challenge 2: </a:t>
            </a:r>
            <a:r>
              <a:rPr lang="en-US" altLang="zh-CN" sz="2800" dirty="0">
                <a:solidFill>
                  <a:srgbClr val="C00000"/>
                </a:solidFill>
                <a:latin typeface="Seravek" charset="0"/>
              </a:rPr>
              <a:t>The dynamic and unpredictable motion of the non-cooperative UAV.</a:t>
            </a:r>
          </a:p>
        </p:txBody>
      </p:sp>
      <p:sp>
        <p:nvSpPr>
          <p:cNvPr id="37" name="文本框 36">
            <a:extLst>
              <a:ext uri="{FF2B5EF4-FFF2-40B4-BE49-F238E27FC236}">
                <a16:creationId xmlns:a16="http://schemas.microsoft.com/office/drawing/2014/main" id="{A86C9295-3E58-52B0-470E-3E6462B09D2F}"/>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11/18</a:t>
            </a:r>
            <a:endParaRPr lang="zh-CN" altLang="en-US" sz="2000" b="1" dirty="0">
              <a:solidFill>
                <a:srgbClr val="757575"/>
              </a:solidFill>
              <a:latin typeface="Seravek"/>
            </a:endParaRPr>
          </a:p>
        </p:txBody>
      </p:sp>
      <p:cxnSp>
        <p:nvCxnSpPr>
          <p:cNvPr id="3" name="直接箭头连接符 2">
            <a:extLst>
              <a:ext uri="{FF2B5EF4-FFF2-40B4-BE49-F238E27FC236}">
                <a16:creationId xmlns:a16="http://schemas.microsoft.com/office/drawing/2014/main" id="{D86D6AAA-8AA7-7992-7029-F312AC9D71F7}"/>
              </a:ext>
            </a:extLst>
          </p:cNvPr>
          <p:cNvCxnSpPr/>
          <p:nvPr/>
        </p:nvCxnSpPr>
        <p:spPr>
          <a:xfrm>
            <a:off x="1045028" y="5998028"/>
            <a:ext cx="635725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75007C7C-6BAF-0703-00FF-AFE52F223E07}"/>
              </a:ext>
            </a:extLst>
          </p:cNvPr>
          <p:cNvCxnSpPr>
            <a:cxnSpLocks/>
          </p:cNvCxnSpPr>
          <p:nvPr/>
        </p:nvCxnSpPr>
        <p:spPr>
          <a:xfrm flipV="1">
            <a:off x="1034142" y="2562679"/>
            <a:ext cx="0" cy="34507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C976E68F-E502-A372-7E93-F4B3FD41F3DE}"/>
              </a:ext>
            </a:extLst>
          </p:cNvPr>
          <p:cNvSpPr txBox="1"/>
          <p:nvPr/>
        </p:nvSpPr>
        <p:spPr>
          <a:xfrm>
            <a:off x="6463554" y="6069105"/>
            <a:ext cx="1012371" cy="461665"/>
          </a:xfrm>
          <a:prstGeom prst="rect">
            <a:avLst/>
          </a:prstGeom>
          <a:noFill/>
        </p:spPr>
        <p:txBody>
          <a:bodyPr wrap="square" rtlCol="0">
            <a:spAutoFit/>
          </a:bodyPr>
          <a:lstStyle/>
          <a:p>
            <a:r>
              <a:rPr lang="en-US" altLang="zh-CN" sz="2400" b="1" dirty="0">
                <a:latin typeface="Seravek"/>
              </a:rPr>
              <a:t>Time</a:t>
            </a:r>
            <a:endParaRPr lang="zh-CN" altLang="en-US" sz="2400" b="1" dirty="0">
              <a:latin typeface="Seravek"/>
            </a:endParaRPr>
          </a:p>
        </p:txBody>
      </p:sp>
      <p:sp>
        <p:nvSpPr>
          <p:cNvPr id="8" name="文本框 7">
            <a:extLst>
              <a:ext uri="{FF2B5EF4-FFF2-40B4-BE49-F238E27FC236}">
                <a16:creationId xmlns:a16="http://schemas.microsoft.com/office/drawing/2014/main" id="{2EA5C977-D444-E7A9-1606-830314D5D296}"/>
              </a:ext>
            </a:extLst>
          </p:cNvPr>
          <p:cNvSpPr txBox="1"/>
          <p:nvPr/>
        </p:nvSpPr>
        <p:spPr>
          <a:xfrm rot="16200000">
            <a:off x="218356" y="2964756"/>
            <a:ext cx="1012371" cy="461665"/>
          </a:xfrm>
          <a:prstGeom prst="rect">
            <a:avLst/>
          </a:prstGeom>
          <a:noFill/>
        </p:spPr>
        <p:txBody>
          <a:bodyPr wrap="square" rtlCol="0">
            <a:spAutoFit/>
          </a:bodyPr>
          <a:lstStyle/>
          <a:p>
            <a:r>
              <a:rPr lang="en-US" altLang="zh-CN" sz="2400" b="1" dirty="0">
                <a:latin typeface="Seravek"/>
              </a:rPr>
              <a:t>Range</a:t>
            </a:r>
            <a:endParaRPr lang="zh-CN" altLang="en-US" sz="2400" b="1" dirty="0">
              <a:latin typeface="Seravek"/>
            </a:endParaRPr>
          </a:p>
        </p:txBody>
      </p:sp>
      <p:sp>
        <p:nvSpPr>
          <p:cNvPr id="10" name="椭圆 9">
            <a:extLst>
              <a:ext uri="{FF2B5EF4-FFF2-40B4-BE49-F238E27FC236}">
                <a16:creationId xmlns:a16="http://schemas.microsoft.com/office/drawing/2014/main" id="{9C876E93-0732-120F-7663-1A2D76A6535B}"/>
              </a:ext>
            </a:extLst>
          </p:cNvPr>
          <p:cNvSpPr/>
          <p:nvPr/>
        </p:nvSpPr>
        <p:spPr>
          <a:xfrm>
            <a:off x="2343600" y="524880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0EC19D6B-7B29-2F27-C5AD-F35C01F475A5}"/>
              </a:ext>
            </a:extLst>
          </p:cNvPr>
          <p:cNvSpPr/>
          <p:nvPr/>
        </p:nvSpPr>
        <p:spPr>
          <a:xfrm>
            <a:off x="4503600" y="524880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4D0739F8-B6D8-7265-EF05-600B11B7AC36}"/>
              </a:ext>
            </a:extLst>
          </p:cNvPr>
          <p:cNvSpPr/>
          <p:nvPr/>
        </p:nvSpPr>
        <p:spPr>
          <a:xfrm>
            <a:off x="1261463" y="4477235"/>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28B6F11C-0C19-6FF9-1242-22B9775CF983}"/>
              </a:ext>
            </a:extLst>
          </p:cNvPr>
          <p:cNvSpPr/>
          <p:nvPr/>
        </p:nvSpPr>
        <p:spPr>
          <a:xfrm>
            <a:off x="2342320" y="44791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7810C910-1B94-1F72-F0A6-FD1A096B287C}"/>
              </a:ext>
            </a:extLst>
          </p:cNvPr>
          <p:cNvSpPr/>
          <p:nvPr/>
        </p:nvSpPr>
        <p:spPr>
          <a:xfrm>
            <a:off x="3422320" y="44791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C38D17EE-A888-6318-2BCD-6C00D680AB1E}"/>
              </a:ext>
            </a:extLst>
          </p:cNvPr>
          <p:cNvSpPr/>
          <p:nvPr/>
        </p:nvSpPr>
        <p:spPr>
          <a:xfrm>
            <a:off x="1261463" y="3708835"/>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B5CADD56-D5DA-0CD1-198E-5F8C63C35E3A}"/>
              </a:ext>
            </a:extLst>
          </p:cNvPr>
          <p:cNvSpPr/>
          <p:nvPr/>
        </p:nvSpPr>
        <p:spPr>
          <a:xfrm>
            <a:off x="2342320" y="37107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BFEBDEE7-7C3D-96FC-8E88-C36C93A3F183}"/>
              </a:ext>
            </a:extLst>
          </p:cNvPr>
          <p:cNvSpPr/>
          <p:nvPr/>
        </p:nvSpPr>
        <p:spPr>
          <a:xfrm>
            <a:off x="3422320" y="37107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AC600765-8D44-326D-B167-6F84FE30B0E1}"/>
              </a:ext>
            </a:extLst>
          </p:cNvPr>
          <p:cNvSpPr/>
          <p:nvPr/>
        </p:nvSpPr>
        <p:spPr>
          <a:xfrm>
            <a:off x="4502320" y="37107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2DEC3FA-ACE7-98B9-E5D6-37B3C8D36710}"/>
              </a:ext>
            </a:extLst>
          </p:cNvPr>
          <p:cNvSpPr/>
          <p:nvPr/>
        </p:nvSpPr>
        <p:spPr>
          <a:xfrm>
            <a:off x="5582320" y="37107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A5CFD2B3-C51C-6151-E956-F64C7A724712}"/>
              </a:ext>
            </a:extLst>
          </p:cNvPr>
          <p:cNvSpPr/>
          <p:nvPr/>
        </p:nvSpPr>
        <p:spPr>
          <a:xfrm>
            <a:off x="2341040" y="294104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89CC571-D030-15CC-7080-AE69D13E52BE}"/>
              </a:ext>
            </a:extLst>
          </p:cNvPr>
          <p:cNvSpPr/>
          <p:nvPr/>
        </p:nvSpPr>
        <p:spPr>
          <a:xfrm>
            <a:off x="3421040" y="294104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13D7769A-090C-5FC2-453E-953139DA6DAB}"/>
              </a:ext>
            </a:extLst>
          </p:cNvPr>
          <p:cNvSpPr/>
          <p:nvPr/>
        </p:nvSpPr>
        <p:spPr>
          <a:xfrm>
            <a:off x="4501040" y="294104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CCFCD9B8-93EF-1AB9-D21D-D581D0394059}"/>
              </a:ext>
            </a:extLst>
          </p:cNvPr>
          <p:cNvSpPr/>
          <p:nvPr/>
        </p:nvSpPr>
        <p:spPr>
          <a:xfrm>
            <a:off x="5581040" y="294104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89715C09-F00C-578C-4853-186647BC750F}"/>
              </a:ext>
            </a:extLst>
          </p:cNvPr>
          <p:cNvSpPr txBox="1"/>
          <p:nvPr/>
        </p:nvSpPr>
        <p:spPr>
          <a:xfrm rot="16200000">
            <a:off x="1214078" y="2804673"/>
            <a:ext cx="676194" cy="830997"/>
          </a:xfrm>
          <a:prstGeom prst="rect">
            <a:avLst/>
          </a:prstGeom>
          <a:noFill/>
        </p:spPr>
        <p:txBody>
          <a:bodyPr wrap="square" rtlCol="0">
            <a:spAutoFit/>
          </a:bodyPr>
          <a:lstStyle/>
          <a:p>
            <a:r>
              <a:rPr lang="en-US" altLang="zh-CN" sz="4800" b="1" dirty="0"/>
              <a:t>…</a:t>
            </a:r>
            <a:endParaRPr lang="zh-CN" altLang="en-US" sz="4800" b="1" dirty="0"/>
          </a:p>
        </p:txBody>
      </p:sp>
      <p:sp>
        <p:nvSpPr>
          <p:cNvPr id="56" name="文本框 55">
            <a:extLst>
              <a:ext uri="{FF2B5EF4-FFF2-40B4-BE49-F238E27FC236}">
                <a16:creationId xmlns:a16="http://schemas.microsoft.com/office/drawing/2014/main" id="{CA7D8BA0-9E7C-61B6-A39E-3A10112074BF}"/>
              </a:ext>
            </a:extLst>
          </p:cNvPr>
          <p:cNvSpPr txBox="1"/>
          <p:nvPr/>
        </p:nvSpPr>
        <p:spPr>
          <a:xfrm rot="16200000">
            <a:off x="3333592" y="5108605"/>
            <a:ext cx="676194" cy="830997"/>
          </a:xfrm>
          <a:prstGeom prst="rect">
            <a:avLst/>
          </a:prstGeom>
          <a:noFill/>
        </p:spPr>
        <p:txBody>
          <a:bodyPr wrap="square" rtlCol="0">
            <a:spAutoFit/>
          </a:bodyPr>
          <a:lstStyle/>
          <a:p>
            <a:r>
              <a:rPr lang="en-US" altLang="zh-CN" sz="4800" b="1" dirty="0"/>
              <a:t>…</a:t>
            </a:r>
            <a:endParaRPr lang="zh-CN" altLang="en-US" sz="4800" b="1" dirty="0"/>
          </a:p>
        </p:txBody>
      </p:sp>
      <p:sp>
        <p:nvSpPr>
          <p:cNvPr id="57" name="文本框 56">
            <a:extLst>
              <a:ext uri="{FF2B5EF4-FFF2-40B4-BE49-F238E27FC236}">
                <a16:creationId xmlns:a16="http://schemas.microsoft.com/office/drawing/2014/main" id="{D8A11C20-E946-DC33-ECCB-58620B66FD69}"/>
              </a:ext>
            </a:extLst>
          </p:cNvPr>
          <p:cNvSpPr txBox="1"/>
          <p:nvPr/>
        </p:nvSpPr>
        <p:spPr>
          <a:xfrm rot="16200000">
            <a:off x="5538910" y="5116288"/>
            <a:ext cx="676194" cy="830997"/>
          </a:xfrm>
          <a:prstGeom prst="rect">
            <a:avLst/>
          </a:prstGeom>
          <a:noFill/>
        </p:spPr>
        <p:txBody>
          <a:bodyPr wrap="square" rtlCol="0">
            <a:spAutoFit/>
          </a:bodyPr>
          <a:lstStyle/>
          <a:p>
            <a:r>
              <a:rPr lang="en-US" altLang="zh-CN" sz="4800" b="1" dirty="0"/>
              <a:t>…</a:t>
            </a:r>
            <a:endParaRPr lang="zh-CN" altLang="en-US" sz="4800" b="1" dirty="0"/>
          </a:p>
        </p:txBody>
      </p:sp>
      <p:sp>
        <p:nvSpPr>
          <p:cNvPr id="58" name="文本框 57">
            <a:extLst>
              <a:ext uri="{FF2B5EF4-FFF2-40B4-BE49-F238E27FC236}">
                <a16:creationId xmlns:a16="http://schemas.microsoft.com/office/drawing/2014/main" id="{AAFFA9E9-B228-82CA-5C9A-5E4807FFB0F3}"/>
              </a:ext>
            </a:extLst>
          </p:cNvPr>
          <p:cNvSpPr txBox="1"/>
          <p:nvPr/>
        </p:nvSpPr>
        <p:spPr>
          <a:xfrm rot="16200000">
            <a:off x="4455461" y="4301781"/>
            <a:ext cx="676194" cy="830997"/>
          </a:xfrm>
          <a:prstGeom prst="rect">
            <a:avLst/>
          </a:prstGeom>
          <a:noFill/>
        </p:spPr>
        <p:txBody>
          <a:bodyPr wrap="square" rtlCol="0">
            <a:spAutoFit/>
          </a:bodyPr>
          <a:lstStyle/>
          <a:p>
            <a:r>
              <a:rPr lang="en-US" altLang="zh-CN" sz="4800" b="1" dirty="0"/>
              <a:t>…</a:t>
            </a:r>
            <a:endParaRPr lang="zh-CN" altLang="en-US" sz="4800" b="1" dirty="0"/>
          </a:p>
        </p:txBody>
      </p:sp>
      <p:sp>
        <p:nvSpPr>
          <p:cNvPr id="9" name="椭圆 8">
            <a:extLst>
              <a:ext uri="{FF2B5EF4-FFF2-40B4-BE49-F238E27FC236}">
                <a16:creationId xmlns:a16="http://schemas.microsoft.com/office/drawing/2014/main" id="{E9BDBF48-4D59-9B89-9C3A-879007CECAF7}"/>
              </a:ext>
            </a:extLst>
          </p:cNvPr>
          <p:cNvSpPr/>
          <p:nvPr/>
        </p:nvSpPr>
        <p:spPr>
          <a:xfrm>
            <a:off x="1262743" y="5246915"/>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solidFill>
                <a:schemeClr val="tx1"/>
              </a:solidFill>
              <a:latin typeface="Seravek"/>
            </a:endParaRPr>
          </a:p>
        </p:txBody>
      </p:sp>
      <p:sp>
        <p:nvSpPr>
          <p:cNvPr id="18" name="椭圆 17">
            <a:extLst>
              <a:ext uri="{FF2B5EF4-FFF2-40B4-BE49-F238E27FC236}">
                <a16:creationId xmlns:a16="http://schemas.microsoft.com/office/drawing/2014/main" id="{D4CA9748-E46D-DADE-32B9-DF8987EC1E27}"/>
              </a:ext>
            </a:extLst>
          </p:cNvPr>
          <p:cNvSpPr/>
          <p:nvPr/>
        </p:nvSpPr>
        <p:spPr>
          <a:xfrm>
            <a:off x="5582320" y="44791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文本框 89">
            <a:extLst>
              <a:ext uri="{FF2B5EF4-FFF2-40B4-BE49-F238E27FC236}">
                <a16:creationId xmlns:a16="http://schemas.microsoft.com/office/drawing/2014/main" id="{4F37078D-E7F2-344F-AC19-6B65C637FE34}"/>
              </a:ext>
            </a:extLst>
          </p:cNvPr>
          <p:cNvSpPr txBox="1"/>
          <p:nvPr/>
        </p:nvSpPr>
        <p:spPr>
          <a:xfrm>
            <a:off x="1162493" y="6250338"/>
            <a:ext cx="5591773" cy="523220"/>
          </a:xfrm>
          <a:prstGeom prst="rect">
            <a:avLst/>
          </a:prstGeom>
          <a:noFill/>
        </p:spPr>
        <p:txBody>
          <a:bodyPr wrap="square" rtlCol="0">
            <a:spAutoFit/>
          </a:bodyPr>
          <a:lstStyle/>
          <a:p>
            <a:r>
              <a:rPr lang="en-US" altLang="zh-CN" sz="2800" dirty="0">
                <a:latin typeface="Seravek"/>
              </a:rPr>
              <a:t>Range-Time-PMM Diagram (RPMM)</a:t>
            </a:r>
            <a:endParaRPr lang="zh-CN" altLang="en-US" sz="2800" dirty="0">
              <a:latin typeface="Seravek"/>
            </a:endParaRPr>
          </a:p>
        </p:txBody>
      </p:sp>
    </p:spTree>
    <p:extLst>
      <p:ext uri="{BB962C8B-B14F-4D97-AF65-F5344CB8AC3E}">
        <p14:creationId xmlns:p14="http://schemas.microsoft.com/office/powerpoint/2010/main" val="4277272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a:extLst>
              <a:ext uri="{FF2B5EF4-FFF2-40B4-BE49-F238E27FC236}">
                <a16:creationId xmlns:a16="http://schemas.microsoft.com/office/drawing/2014/main" id="{7C01D8D3-B42D-9067-77D4-63B5A18A9CD5}"/>
              </a:ext>
            </a:extLst>
          </p:cNvPr>
          <p:cNvSpPr/>
          <p:nvPr/>
        </p:nvSpPr>
        <p:spPr>
          <a:xfrm>
            <a:off x="5327651" y="2760133"/>
            <a:ext cx="1157674" cy="3236421"/>
          </a:xfrm>
          <a:prstGeom prst="rect">
            <a:avLst/>
          </a:prstGeom>
          <a:solidFill>
            <a:schemeClr val="bg1">
              <a:lumMod val="95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20ECAED4-C23F-3ED9-FA61-B2C11BFB265D}"/>
              </a:ext>
            </a:extLst>
          </p:cNvPr>
          <p:cNvSpPr/>
          <p:nvPr/>
        </p:nvSpPr>
        <p:spPr>
          <a:xfrm>
            <a:off x="4224867" y="2760133"/>
            <a:ext cx="1102783" cy="3238537"/>
          </a:xfrm>
          <a:prstGeom prst="rect">
            <a:avLst/>
          </a:prstGeom>
          <a:solidFill>
            <a:schemeClr val="bg1">
              <a:lumMod val="85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6F572101-BA86-7DEB-1A38-6E2E88824B62}"/>
              </a:ext>
            </a:extLst>
          </p:cNvPr>
          <p:cNvSpPr/>
          <p:nvPr/>
        </p:nvSpPr>
        <p:spPr>
          <a:xfrm>
            <a:off x="3169920" y="2755900"/>
            <a:ext cx="1050713" cy="3234654"/>
          </a:xfrm>
          <a:prstGeom prst="rect">
            <a:avLst/>
          </a:prstGeom>
          <a:solidFill>
            <a:schemeClr val="bg1">
              <a:lumMod val="95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765D541A-45B1-750E-E55D-C3E2DA9D21CA}"/>
              </a:ext>
            </a:extLst>
          </p:cNvPr>
          <p:cNvSpPr/>
          <p:nvPr/>
        </p:nvSpPr>
        <p:spPr>
          <a:xfrm>
            <a:off x="2086743" y="2756716"/>
            <a:ext cx="1081271" cy="3237683"/>
          </a:xfrm>
          <a:prstGeom prst="rect">
            <a:avLst/>
          </a:prstGeom>
          <a:solidFill>
            <a:schemeClr val="bg1">
              <a:lumMod val="85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41870AFC-E180-F62A-1EEC-630CE5065504}"/>
              </a:ext>
            </a:extLst>
          </p:cNvPr>
          <p:cNvSpPr/>
          <p:nvPr/>
        </p:nvSpPr>
        <p:spPr>
          <a:xfrm>
            <a:off x="1028700" y="2751666"/>
            <a:ext cx="1060023" cy="3261784"/>
          </a:xfrm>
          <a:prstGeom prst="rect">
            <a:avLst/>
          </a:prstGeom>
          <a:solidFill>
            <a:schemeClr val="bg1">
              <a:lumMod val="95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UAV tracking</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35" name="文本框 34">
            <a:extLst>
              <a:ext uri="{FF2B5EF4-FFF2-40B4-BE49-F238E27FC236}">
                <a16:creationId xmlns:a16="http://schemas.microsoft.com/office/drawing/2014/main" id="{BBCF8975-4111-C7A5-5980-DCAAD9F0FC6A}"/>
              </a:ext>
            </a:extLst>
          </p:cNvPr>
          <p:cNvSpPr txBox="1"/>
          <p:nvPr/>
        </p:nvSpPr>
        <p:spPr>
          <a:xfrm>
            <a:off x="538993" y="1199517"/>
            <a:ext cx="11467950" cy="954107"/>
          </a:xfrm>
          <a:prstGeom prst="rect">
            <a:avLst/>
          </a:prstGeom>
          <a:noFill/>
        </p:spPr>
        <p:txBody>
          <a:bodyPr wrap="square">
            <a:spAutoFit/>
          </a:bodyPr>
          <a:lstStyle/>
          <a:p>
            <a:r>
              <a:rPr lang="en-US" altLang="zh-CN" sz="2800" dirty="0">
                <a:solidFill>
                  <a:srgbClr val="C00000"/>
                </a:solidFill>
                <a:latin typeface="Seravek" charset="0"/>
                <a:ea typeface="Seravek" charset="0"/>
                <a:cs typeface="Seravek" charset="0"/>
              </a:rPr>
              <a:t>Challenge 2: </a:t>
            </a:r>
            <a:r>
              <a:rPr lang="en-US" altLang="zh-CN" sz="2800" dirty="0">
                <a:solidFill>
                  <a:srgbClr val="C00000"/>
                </a:solidFill>
                <a:latin typeface="Seravek" charset="0"/>
              </a:rPr>
              <a:t>The dynamic and unpredictable motion of the non-cooperative UAV.</a:t>
            </a:r>
          </a:p>
        </p:txBody>
      </p:sp>
      <p:sp>
        <p:nvSpPr>
          <p:cNvPr id="37" name="文本框 36">
            <a:extLst>
              <a:ext uri="{FF2B5EF4-FFF2-40B4-BE49-F238E27FC236}">
                <a16:creationId xmlns:a16="http://schemas.microsoft.com/office/drawing/2014/main" id="{A86C9295-3E58-52B0-470E-3E6462B09D2F}"/>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11/18</a:t>
            </a:r>
            <a:endParaRPr lang="zh-CN" altLang="en-US" sz="2000" b="1" dirty="0">
              <a:solidFill>
                <a:srgbClr val="757575"/>
              </a:solidFill>
              <a:latin typeface="Seravek"/>
            </a:endParaRPr>
          </a:p>
        </p:txBody>
      </p:sp>
      <p:cxnSp>
        <p:nvCxnSpPr>
          <p:cNvPr id="3" name="直接箭头连接符 2">
            <a:extLst>
              <a:ext uri="{FF2B5EF4-FFF2-40B4-BE49-F238E27FC236}">
                <a16:creationId xmlns:a16="http://schemas.microsoft.com/office/drawing/2014/main" id="{D86D6AAA-8AA7-7992-7029-F312AC9D71F7}"/>
              </a:ext>
            </a:extLst>
          </p:cNvPr>
          <p:cNvCxnSpPr/>
          <p:nvPr/>
        </p:nvCxnSpPr>
        <p:spPr>
          <a:xfrm>
            <a:off x="1045028" y="5998028"/>
            <a:ext cx="635725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75007C7C-6BAF-0703-00FF-AFE52F223E07}"/>
              </a:ext>
            </a:extLst>
          </p:cNvPr>
          <p:cNvCxnSpPr>
            <a:cxnSpLocks/>
          </p:cNvCxnSpPr>
          <p:nvPr/>
        </p:nvCxnSpPr>
        <p:spPr>
          <a:xfrm flipV="1">
            <a:off x="1034142" y="2562679"/>
            <a:ext cx="0" cy="34507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C976E68F-E502-A372-7E93-F4B3FD41F3DE}"/>
              </a:ext>
            </a:extLst>
          </p:cNvPr>
          <p:cNvSpPr txBox="1"/>
          <p:nvPr/>
        </p:nvSpPr>
        <p:spPr>
          <a:xfrm>
            <a:off x="6463554" y="6069105"/>
            <a:ext cx="1012371" cy="461665"/>
          </a:xfrm>
          <a:prstGeom prst="rect">
            <a:avLst/>
          </a:prstGeom>
          <a:noFill/>
        </p:spPr>
        <p:txBody>
          <a:bodyPr wrap="square" rtlCol="0">
            <a:spAutoFit/>
          </a:bodyPr>
          <a:lstStyle/>
          <a:p>
            <a:r>
              <a:rPr lang="en-US" altLang="zh-CN" sz="2400" b="1" dirty="0">
                <a:latin typeface="Seravek"/>
              </a:rPr>
              <a:t>Time</a:t>
            </a:r>
            <a:endParaRPr lang="zh-CN" altLang="en-US" sz="2400" b="1" dirty="0">
              <a:latin typeface="Seravek"/>
            </a:endParaRPr>
          </a:p>
        </p:txBody>
      </p:sp>
      <p:sp>
        <p:nvSpPr>
          <p:cNvPr id="8" name="文本框 7">
            <a:extLst>
              <a:ext uri="{FF2B5EF4-FFF2-40B4-BE49-F238E27FC236}">
                <a16:creationId xmlns:a16="http://schemas.microsoft.com/office/drawing/2014/main" id="{2EA5C977-D444-E7A9-1606-830314D5D296}"/>
              </a:ext>
            </a:extLst>
          </p:cNvPr>
          <p:cNvSpPr txBox="1"/>
          <p:nvPr/>
        </p:nvSpPr>
        <p:spPr>
          <a:xfrm rot="16200000">
            <a:off x="218356" y="2964756"/>
            <a:ext cx="1012371" cy="461665"/>
          </a:xfrm>
          <a:prstGeom prst="rect">
            <a:avLst/>
          </a:prstGeom>
          <a:noFill/>
        </p:spPr>
        <p:txBody>
          <a:bodyPr wrap="square" rtlCol="0">
            <a:spAutoFit/>
          </a:bodyPr>
          <a:lstStyle/>
          <a:p>
            <a:r>
              <a:rPr lang="en-US" altLang="zh-CN" sz="2400" b="1" dirty="0">
                <a:latin typeface="Seravek"/>
              </a:rPr>
              <a:t>Range</a:t>
            </a:r>
            <a:endParaRPr lang="zh-CN" altLang="en-US" sz="2400" b="1" dirty="0">
              <a:latin typeface="Seravek"/>
            </a:endParaRPr>
          </a:p>
        </p:txBody>
      </p:sp>
      <p:sp>
        <p:nvSpPr>
          <p:cNvPr id="10" name="椭圆 9">
            <a:extLst>
              <a:ext uri="{FF2B5EF4-FFF2-40B4-BE49-F238E27FC236}">
                <a16:creationId xmlns:a16="http://schemas.microsoft.com/office/drawing/2014/main" id="{9C876E93-0732-120F-7663-1A2D76A6535B}"/>
              </a:ext>
            </a:extLst>
          </p:cNvPr>
          <p:cNvSpPr/>
          <p:nvPr/>
        </p:nvSpPr>
        <p:spPr>
          <a:xfrm>
            <a:off x="2343600" y="524880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0EC19D6B-7B29-2F27-C5AD-F35C01F475A5}"/>
              </a:ext>
            </a:extLst>
          </p:cNvPr>
          <p:cNvSpPr/>
          <p:nvPr/>
        </p:nvSpPr>
        <p:spPr>
          <a:xfrm>
            <a:off x="4503600" y="524880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4D0739F8-B6D8-7265-EF05-600B11B7AC36}"/>
              </a:ext>
            </a:extLst>
          </p:cNvPr>
          <p:cNvSpPr/>
          <p:nvPr/>
        </p:nvSpPr>
        <p:spPr>
          <a:xfrm>
            <a:off x="1261463" y="4477235"/>
            <a:ext cx="566057" cy="555171"/>
          </a:xfrm>
          <a:prstGeom prst="ellipse">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28B6F11C-0C19-6FF9-1242-22B9775CF983}"/>
              </a:ext>
            </a:extLst>
          </p:cNvPr>
          <p:cNvSpPr/>
          <p:nvPr/>
        </p:nvSpPr>
        <p:spPr>
          <a:xfrm>
            <a:off x="2342320" y="44791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7810C910-1B94-1F72-F0A6-FD1A096B287C}"/>
              </a:ext>
            </a:extLst>
          </p:cNvPr>
          <p:cNvSpPr/>
          <p:nvPr/>
        </p:nvSpPr>
        <p:spPr>
          <a:xfrm>
            <a:off x="3422320" y="44791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C38D17EE-A888-6318-2BCD-6C00D680AB1E}"/>
              </a:ext>
            </a:extLst>
          </p:cNvPr>
          <p:cNvSpPr/>
          <p:nvPr/>
        </p:nvSpPr>
        <p:spPr>
          <a:xfrm>
            <a:off x="1261463" y="3708835"/>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B5CADD56-D5DA-0CD1-198E-5F8C63C35E3A}"/>
              </a:ext>
            </a:extLst>
          </p:cNvPr>
          <p:cNvSpPr/>
          <p:nvPr/>
        </p:nvSpPr>
        <p:spPr>
          <a:xfrm>
            <a:off x="2342320" y="3710720"/>
            <a:ext cx="566057" cy="555171"/>
          </a:xfrm>
          <a:prstGeom prst="ellipse">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BFEBDEE7-7C3D-96FC-8E88-C36C93A3F183}"/>
              </a:ext>
            </a:extLst>
          </p:cNvPr>
          <p:cNvSpPr/>
          <p:nvPr/>
        </p:nvSpPr>
        <p:spPr>
          <a:xfrm>
            <a:off x="3422320" y="3710720"/>
            <a:ext cx="566057" cy="555171"/>
          </a:xfrm>
          <a:prstGeom prst="ellipse">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AC600765-8D44-326D-B167-6F84FE30B0E1}"/>
              </a:ext>
            </a:extLst>
          </p:cNvPr>
          <p:cNvSpPr/>
          <p:nvPr/>
        </p:nvSpPr>
        <p:spPr>
          <a:xfrm>
            <a:off x="4502320" y="3710720"/>
            <a:ext cx="566057" cy="555171"/>
          </a:xfrm>
          <a:prstGeom prst="ellipse">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2DEC3FA-ACE7-98B9-E5D6-37B3C8D36710}"/>
              </a:ext>
            </a:extLst>
          </p:cNvPr>
          <p:cNvSpPr/>
          <p:nvPr/>
        </p:nvSpPr>
        <p:spPr>
          <a:xfrm>
            <a:off x="5582320" y="37107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A5CFD2B3-C51C-6151-E956-F64C7A724712}"/>
              </a:ext>
            </a:extLst>
          </p:cNvPr>
          <p:cNvSpPr/>
          <p:nvPr/>
        </p:nvSpPr>
        <p:spPr>
          <a:xfrm>
            <a:off x="2341040" y="294104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89CC571-D030-15CC-7080-AE69D13E52BE}"/>
              </a:ext>
            </a:extLst>
          </p:cNvPr>
          <p:cNvSpPr/>
          <p:nvPr/>
        </p:nvSpPr>
        <p:spPr>
          <a:xfrm>
            <a:off x="3421040" y="294104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13D7769A-090C-5FC2-453E-953139DA6DAB}"/>
              </a:ext>
            </a:extLst>
          </p:cNvPr>
          <p:cNvSpPr/>
          <p:nvPr/>
        </p:nvSpPr>
        <p:spPr>
          <a:xfrm>
            <a:off x="4501040" y="294104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CCFCD9B8-93EF-1AB9-D21D-D581D0394059}"/>
              </a:ext>
            </a:extLst>
          </p:cNvPr>
          <p:cNvSpPr/>
          <p:nvPr/>
        </p:nvSpPr>
        <p:spPr>
          <a:xfrm>
            <a:off x="5581040" y="2941040"/>
            <a:ext cx="566057" cy="555171"/>
          </a:xfrm>
          <a:prstGeom prst="ellipse">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箭头连接符 46">
            <a:extLst>
              <a:ext uri="{FF2B5EF4-FFF2-40B4-BE49-F238E27FC236}">
                <a16:creationId xmlns:a16="http://schemas.microsoft.com/office/drawing/2014/main" id="{E7ADC50F-975F-3EDB-7760-0108AD9778C3}"/>
              </a:ext>
            </a:extLst>
          </p:cNvPr>
          <p:cNvCxnSpPr>
            <a:stCxn id="14" idx="7"/>
            <a:endCxn id="21" idx="3"/>
          </p:cNvCxnSpPr>
          <p:nvPr/>
        </p:nvCxnSpPr>
        <p:spPr>
          <a:xfrm flipV="1">
            <a:off x="1744623" y="4184588"/>
            <a:ext cx="680594" cy="3739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E54E9494-8B3C-E7AE-3244-8B21275682DA}"/>
              </a:ext>
            </a:extLst>
          </p:cNvPr>
          <p:cNvCxnSpPr>
            <a:cxnSpLocks/>
            <a:endCxn id="23" idx="2"/>
          </p:cNvCxnSpPr>
          <p:nvPr/>
        </p:nvCxnSpPr>
        <p:spPr>
          <a:xfrm>
            <a:off x="2927617" y="3988306"/>
            <a:ext cx="49470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5D61DAE2-2C77-2B99-3EA8-F736BE9A4950}"/>
              </a:ext>
            </a:extLst>
          </p:cNvPr>
          <p:cNvCxnSpPr>
            <a:cxnSpLocks/>
          </p:cNvCxnSpPr>
          <p:nvPr/>
        </p:nvCxnSpPr>
        <p:spPr>
          <a:xfrm>
            <a:off x="4002101" y="4002394"/>
            <a:ext cx="49470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1F733558-52D4-0659-F9C3-3D56137A0DEC}"/>
              </a:ext>
            </a:extLst>
          </p:cNvPr>
          <p:cNvCxnSpPr>
            <a:cxnSpLocks/>
            <a:stCxn id="25" idx="7"/>
            <a:endCxn id="40" idx="3"/>
          </p:cNvCxnSpPr>
          <p:nvPr/>
        </p:nvCxnSpPr>
        <p:spPr>
          <a:xfrm flipV="1">
            <a:off x="4985480" y="3414908"/>
            <a:ext cx="678457" cy="3771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89715C09-F00C-578C-4853-186647BC750F}"/>
              </a:ext>
            </a:extLst>
          </p:cNvPr>
          <p:cNvSpPr txBox="1"/>
          <p:nvPr/>
        </p:nvSpPr>
        <p:spPr>
          <a:xfrm rot="16200000">
            <a:off x="1214078" y="2804673"/>
            <a:ext cx="676194" cy="830997"/>
          </a:xfrm>
          <a:prstGeom prst="rect">
            <a:avLst/>
          </a:prstGeom>
          <a:noFill/>
        </p:spPr>
        <p:txBody>
          <a:bodyPr wrap="square" rtlCol="0">
            <a:spAutoFit/>
          </a:bodyPr>
          <a:lstStyle/>
          <a:p>
            <a:r>
              <a:rPr lang="en-US" altLang="zh-CN" sz="4800" b="1" dirty="0"/>
              <a:t>…</a:t>
            </a:r>
            <a:endParaRPr lang="zh-CN" altLang="en-US" sz="4800" b="1" dirty="0"/>
          </a:p>
        </p:txBody>
      </p:sp>
      <p:sp>
        <p:nvSpPr>
          <p:cNvPr id="56" name="文本框 55">
            <a:extLst>
              <a:ext uri="{FF2B5EF4-FFF2-40B4-BE49-F238E27FC236}">
                <a16:creationId xmlns:a16="http://schemas.microsoft.com/office/drawing/2014/main" id="{CA7D8BA0-9E7C-61B6-A39E-3A10112074BF}"/>
              </a:ext>
            </a:extLst>
          </p:cNvPr>
          <p:cNvSpPr txBox="1"/>
          <p:nvPr/>
        </p:nvSpPr>
        <p:spPr>
          <a:xfrm rot="16200000">
            <a:off x="3333592" y="5108605"/>
            <a:ext cx="676194" cy="830997"/>
          </a:xfrm>
          <a:prstGeom prst="rect">
            <a:avLst/>
          </a:prstGeom>
          <a:noFill/>
        </p:spPr>
        <p:txBody>
          <a:bodyPr wrap="square" rtlCol="0">
            <a:spAutoFit/>
          </a:bodyPr>
          <a:lstStyle/>
          <a:p>
            <a:r>
              <a:rPr lang="en-US" altLang="zh-CN" sz="4800" b="1" dirty="0"/>
              <a:t>…</a:t>
            </a:r>
            <a:endParaRPr lang="zh-CN" altLang="en-US" sz="4800" b="1" dirty="0"/>
          </a:p>
        </p:txBody>
      </p:sp>
      <p:sp>
        <p:nvSpPr>
          <p:cNvPr id="57" name="文本框 56">
            <a:extLst>
              <a:ext uri="{FF2B5EF4-FFF2-40B4-BE49-F238E27FC236}">
                <a16:creationId xmlns:a16="http://schemas.microsoft.com/office/drawing/2014/main" id="{D8A11C20-E946-DC33-ECCB-58620B66FD69}"/>
              </a:ext>
            </a:extLst>
          </p:cNvPr>
          <p:cNvSpPr txBox="1"/>
          <p:nvPr/>
        </p:nvSpPr>
        <p:spPr>
          <a:xfrm rot="16200000">
            <a:off x="5538910" y="5116288"/>
            <a:ext cx="676194" cy="830997"/>
          </a:xfrm>
          <a:prstGeom prst="rect">
            <a:avLst/>
          </a:prstGeom>
          <a:noFill/>
        </p:spPr>
        <p:txBody>
          <a:bodyPr wrap="square" rtlCol="0">
            <a:spAutoFit/>
          </a:bodyPr>
          <a:lstStyle/>
          <a:p>
            <a:r>
              <a:rPr lang="en-US" altLang="zh-CN" sz="4800" b="1" dirty="0"/>
              <a:t>…</a:t>
            </a:r>
            <a:endParaRPr lang="zh-CN" altLang="en-US" sz="4800" b="1" dirty="0"/>
          </a:p>
        </p:txBody>
      </p:sp>
      <p:sp>
        <p:nvSpPr>
          <p:cNvPr id="58" name="文本框 57">
            <a:extLst>
              <a:ext uri="{FF2B5EF4-FFF2-40B4-BE49-F238E27FC236}">
                <a16:creationId xmlns:a16="http://schemas.microsoft.com/office/drawing/2014/main" id="{AAFFA9E9-B228-82CA-5C9A-5E4807FFB0F3}"/>
              </a:ext>
            </a:extLst>
          </p:cNvPr>
          <p:cNvSpPr txBox="1"/>
          <p:nvPr/>
        </p:nvSpPr>
        <p:spPr>
          <a:xfrm rot="16200000">
            <a:off x="4455461" y="4301781"/>
            <a:ext cx="676194" cy="830997"/>
          </a:xfrm>
          <a:prstGeom prst="rect">
            <a:avLst/>
          </a:prstGeom>
          <a:noFill/>
        </p:spPr>
        <p:txBody>
          <a:bodyPr wrap="square" rtlCol="0">
            <a:spAutoFit/>
          </a:bodyPr>
          <a:lstStyle/>
          <a:p>
            <a:r>
              <a:rPr lang="en-US" altLang="zh-CN" sz="4800" b="1" dirty="0"/>
              <a:t>…</a:t>
            </a:r>
            <a:endParaRPr lang="zh-CN" altLang="en-US" sz="4800" b="1" dirty="0"/>
          </a:p>
        </p:txBody>
      </p: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94285394-888D-0399-AF26-199E7F203CD9}"/>
                  </a:ext>
                </a:extLst>
              </p:cNvPr>
              <p:cNvSpPr txBox="1"/>
              <p:nvPr/>
            </p:nvSpPr>
            <p:spPr>
              <a:xfrm>
                <a:off x="1358792" y="4593773"/>
                <a:ext cx="4070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𝑺</m:t>
                          </m:r>
                        </m:e>
                        <m:sub>
                          <m:r>
                            <a:rPr lang="en-US" altLang="zh-CN" b="1" i="1" smtClean="0">
                              <a:latin typeface="Cambria Math" panose="02040503050406030204" pitchFamily="18" charset="0"/>
                            </a:rPr>
                            <m:t>𝟐𝟏</m:t>
                          </m:r>
                        </m:sub>
                      </m:sSub>
                    </m:oMath>
                  </m:oMathPara>
                </a14:m>
                <a:endParaRPr lang="en-US" altLang="zh-CN" b="1" dirty="0"/>
              </a:p>
            </p:txBody>
          </p:sp>
        </mc:Choice>
        <mc:Fallback xmlns="">
          <p:sp>
            <p:nvSpPr>
              <p:cNvPr id="62" name="文本框 61">
                <a:extLst>
                  <a:ext uri="{FF2B5EF4-FFF2-40B4-BE49-F238E27FC236}">
                    <a16:creationId xmlns:a16="http://schemas.microsoft.com/office/drawing/2014/main" id="{94285394-888D-0399-AF26-199E7F203CD9}"/>
                  </a:ext>
                </a:extLst>
              </p:cNvPr>
              <p:cNvSpPr txBox="1">
                <a:spLocks noRot="1" noChangeAspect="1" noMove="1" noResize="1" noEditPoints="1" noAdjustHandles="1" noChangeArrowheads="1" noChangeShapeType="1" noTextEdit="1"/>
              </p:cNvSpPr>
              <p:nvPr/>
            </p:nvSpPr>
            <p:spPr>
              <a:xfrm>
                <a:off x="1358792" y="4593773"/>
                <a:ext cx="407099" cy="276999"/>
              </a:xfrm>
              <a:prstGeom prst="rect">
                <a:avLst/>
              </a:prstGeom>
              <a:blipFill>
                <a:blip r:embed="rId3"/>
                <a:stretch>
                  <a:fillRect l="-13433" r="-5970"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940BE254-A9F5-025F-A348-64325EE27570}"/>
                  </a:ext>
                </a:extLst>
              </p:cNvPr>
              <p:cNvSpPr txBox="1"/>
              <p:nvPr/>
            </p:nvSpPr>
            <p:spPr>
              <a:xfrm>
                <a:off x="2449925" y="3833054"/>
                <a:ext cx="4070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𝑺</m:t>
                          </m:r>
                        </m:e>
                        <m:sub>
                          <m:r>
                            <a:rPr lang="en-US" altLang="zh-CN" b="1" i="1" smtClean="0">
                              <a:latin typeface="Cambria Math" panose="02040503050406030204" pitchFamily="18" charset="0"/>
                            </a:rPr>
                            <m:t>𝟑𝟐</m:t>
                          </m:r>
                        </m:sub>
                      </m:sSub>
                    </m:oMath>
                  </m:oMathPara>
                </a14:m>
                <a:endParaRPr lang="en-US" altLang="zh-CN" b="1" dirty="0"/>
              </a:p>
            </p:txBody>
          </p:sp>
        </mc:Choice>
        <mc:Fallback xmlns="">
          <p:sp>
            <p:nvSpPr>
              <p:cNvPr id="63" name="文本框 62">
                <a:extLst>
                  <a:ext uri="{FF2B5EF4-FFF2-40B4-BE49-F238E27FC236}">
                    <a16:creationId xmlns:a16="http://schemas.microsoft.com/office/drawing/2014/main" id="{940BE254-A9F5-025F-A348-64325EE27570}"/>
                  </a:ext>
                </a:extLst>
              </p:cNvPr>
              <p:cNvSpPr txBox="1">
                <a:spLocks noRot="1" noChangeAspect="1" noMove="1" noResize="1" noEditPoints="1" noAdjustHandles="1" noChangeArrowheads="1" noChangeShapeType="1" noTextEdit="1"/>
              </p:cNvSpPr>
              <p:nvPr/>
            </p:nvSpPr>
            <p:spPr>
              <a:xfrm>
                <a:off x="2449925" y="3833054"/>
                <a:ext cx="407099" cy="276999"/>
              </a:xfrm>
              <a:prstGeom prst="rect">
                <a:avLst/>
              </a:prstGeom>
              <a:blipFill>
                <a:blip r:embed="rId4"/>
                <a:stretch>
                  <a:fillRect l="-13433" r="-5970"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A87DF844-45D8-5259-8D24-C78227DE0F7E}"/>
                  </a:ext>
                </a:extLst>
              </p:cNvPr>
              <p:cNvSpPr txBox="1"/>
              <p:nvPr/>
            </p:nvSpPr>
            <p:spPr>
              <a:xfrm>
                <a:off x="3502638" y="3840738"/>
                <a:ext cx="4070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𝑺</m:t>
                          </m:r>
                        </m:e>
                        <m:sub>
                          <m:r>
                            <a:rPr lang="en-US" altLang="zh-CN" b="1" i="1" smtClean="0">
                              <a:latin typeface="Cambria Math" panose="02040503050406030204" pitchFamily="18" charset="0"/>
                            </a:rPr>
                            <m:t>𝟑𝟑</m:t>
                          </m:r>
                        </m:sub>
                      </m:sSub>
                    </m:oMath>
                  </m:oMathPara>
                </a14:m>
                <a:endParaRPr lang="en-US" altLang="zh-CN" b="1" dirty="0"/>
              </a:p>
            </p:txBody>
          </p:sp>
        </mc:Choice>
        <mc:Fallback xmlns="">
          <p:sp>
            <p:nvSpPr>
              <p:cNvPr id="65" name="文本框 64">
                <a:extLst>
                  <a:ext uri="{FF2B5EF4-FFF2-40B4-BE49-F238E27FC236}">
                    <a16:creationId xmlns:a16="http://schemas.microsoft.com/office/drawing/2014/main" id="{A87DF844-45D8-5259-8D24-C78227DE0F7E}"/>
                  </a:ext>
                </a:extLst>
              </p:cNvPr>
              <p:cNvSpPr txBox="1">
                <a:spLocks noRot="1" noChangeAspect="1" noMove="1" noResize="1" noEditPoints="1" noAdjustHandles="1" noChangeArrowheads="1" noChangeShapeType="1" noTextEdit="1"/>
              </p:cNvSpPr>
              <p:nvPr/>
            </p:nvSpPr>
            <p:spPr>
              <a:xfrm>
                <a:off x="3502638" y="3840738"/>
                <a:ext cx="407099" cy="276999"/>
              </a:xfrm>
              <a:prstGeom prst="rect">
                <a:avLst/>
              </a:prstGeom>
              <a:blipFill>
                <a:blip r:embed="rId5"/>
                <a:stretch>
                  <a:fillRect l="-13636" r="-7576"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AAFA6E2B-3E19-91BD-A0A9-96B78FD927C1}"/>
                  </a:ext>
                </a:extLst>
              </p:cNvPr>
              <p:cNvSpPr txBox="1"/>
              <p:nvPr/>
            </p:nvSpPr>
            <p:spPr>
              <a:xfrm>
                <a:off x="4584806" y="3816405"/>
                <a:ext cx="4070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𝑺</m:t>
                          </m:r>
                        </m:e>
                        <m:sub>
                          <m:r>
                            <a:rPr lang="en-US" altLang="zh-CN" b="1" i="1" smtClean="0">
                              <a:latin typeface="Cambria Math" panose="02040503050406030204" pitchFamily="18" charset="0"/>
                            </a:rPr>
                            <m:t>𝟒𝟑</m:t>
                          </m:r>
                        </m:sub>
                      </m:sSub>
                    </m:oMath>
                  </m:oMathPara>
                </a14:m>
                <a:endParaRPr lang="en-US" altLang="zh-CN" b="1" dirty="0"/>
              </a:p>
            </p:txBody>
          </p:sp>
        </mc:Choice>
        <mc:Fallback xmlns="">
          <p:sp>
            <p:nvSpPr>
              <p:cNvPr id="66" name="文本框 65">
                <a:extLst>
                  <a:ext uri="{FF2B5EF4-FFF2-40B4-BE49-F238E27FC236}">
                    <a16:creationId xmlns:a16="http://schemas.microsoft.com/office/drawing/2014/main" id="{AAFA6E2B-3E19-91BD-A0A9-96B78FD927C1}"/>
                  </a:ext>
                </a:extLst>
              </p:cNvPr>
              <p:cNvSpPr txBox="1">
                <a:spLocks noRot="1" noChangeAspect="1" noMove="1" noResize="1" noEditPoints="1" noAdjustHandles="1" noChangeArrowheads="1" noChangeShapeType="1" noTextEdit="1"/>
              </p:cNvSpPr>
              <p:nvPr/>
            </p:nvSpPr>
            <p:spPr>
              <a:xfrm>
                <a:off x="4584806" y="3816405"/>
                <a:ext cx="407099" cy="276999"/>
              </a:xfrm>
              <a:prstGeom prst="rect">
                <a:avLst/>
              </a:prstGeom>
              <a:blipFill>
                <a:blip r:embed="rId6"/>
                <a:stretch>
                  <a:fillRect l="-11940" r="-5970"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4275F203-0948-17A5-29D6-CCB289875756}"/>
                  </a:ext>
                </a:extLst>
              </p:cNvPr>
              <p:cNvSpPr txBox="1"/>
              <p:nvPr/>
            </p:nvSpPr>
            <p:spPr>
              <a:xfrm>
                <a:off x="5675939" y="3063370"/>
                <a:ext cx="4070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𝑺</m:t>
                          </m:r>
                        </m:e>
                        <m:sub>
                          <m:r>
                            <a:rPr lang="en-US" altLang="zh-CN" b="1" i="1" smtClean="0">
                              <a:latin typeface="Cambria Math" panose="02040503050406030204" pitchFamily="18" charset="0"/>
                            </a:rPr>
                            <m:t>𝟓𝟒</m:t>
                          </m:r>
                        </m:sub>
                      </m:sSub>
                    </m:oMath>
                  </m:oMathPara>
                </a14:m>
                <a:endParaRPr lang="en-US" altLang="zh-CN" b="1" dirty="0"/>
              </a:p>
            </p:txBody>
          </p:sp>
        </mc:Choice>
        <mc:Fallback xmlns="">
          <p:sp>
            <p:nvSpPr>
              <p:cNvPr id="67" name="文本框 66">
                <a:extLst>
                  <a:ext uri="{FF2B5EF4-FFF2-40B4-BE49-F238E27FC236}">
                    <a16:creationId xmlns:a16="http://schemas.microsoft.com/office/drawing/2014/main" id="{4275F203-0948-17A5-29D6-CCB289875756}"/>
                  </a:ext>
                </a:extLst>
              </p:cNvPr>
              <p:cNvSpPr txBox="1">
                <a:spLocks noRot="1" noChangeAspect="1" noMove="1" noResize="1" noEditPoints="1" noAdjustHandles="1" noChangeArrowheads="1" noChangeShapeType="1" noTextEdit="1"/>
              </p:cNvSpPr>
              <p:nvPr/>
            </p:nvSpPr>
            <p:spPr>
              <a:xfrm>
                <a:off x="5675939" y="3063370"/>
                <a:ext cx="407099" cy="276999"/>
              </a:xfrm>
              <a:prstGeom prst="rect">
                <a:avLst/>
              </a:prstGeom>
              <a:blipFill>
                <a:blip r:embed="rId7"/>
                <a:stretch>
                  <a:fillRect l="-11940" r="-7463" b="-17778"/>
                </a:stretch>
              </a:blipFill>
            </p:spPr>
            <p:txBody>
              <a:bodyPr/>
              <a:lstStyle/>
              <a:p>
                <a:r>
                  <a:rPr lang="zh-CN" altLang="en-US">
                    <a:noFill/>
                  </a:rPr>
                  <a:t> </a:t>
                </a:r>
              </a:p>
            </p:txBody>
          </p:sp>
        </mc:Fallback>
      </mc:AlternateContent>
      <p:grpSp>
        <p:nvGrpSpPr>
          <p:cNvPr id="91" name="组合 90">
            <a:extLst>
              <a:ext uri="{FF2B5EF4-FFF2-40B4-BE49-F238E27FC236}">
                <a16:creationId xmlns:a16="http://schemas.microsoft.com/office/drawing/2014/main" id="{78227C52-3561-8F9E-53F5-EBBAF2A8D7D8}"/>
              </a:ext>
            </a:extLst>
          </p:cNvPr>
          <p:cNvGrpSpPr/>
          <p:nvPr/>
        </p:nvGrpSpPr>
        <p:grpSpPr>
          <a:xfrm>
            <a:off x="706931" y="2094013"/>
            <a:ext cx="5566037" cy="4062759"/>
            <a:chOff x="706931" y="2122888"/>
            <a:chExt cx="5566037" cy="4062759"/>
          </a:xfrm>
        </p:grpSpPr>
        <p:cxnSp>
          <p:nvCxnSpPr>
            <p:cNvPr id="69" name="直接连接符 68">
              <a:extLst>
                <a:ext uri="{FF2B5EF4-FFF2-40B4-BE49-F238E27FC236}">
                  <a16:creationId xmlns:a16="http://schemas.microsoft.com/office/drawing/2014/main" id="{12AF8F60-7349-592B-AC4A-F07EF5941B77}"/>
                </a:ext>
              </a:extLst>
            </p:cNvPr>
            <p:cNvCxnSpPr>
              <a:cxnSpLocks/>
            </p:cNvCxnSpPr>
            <p:nvPr/>
          </p:nvCxnSpPr>
          <p:spPr>
            <a:xfrm flipV="1">
              <a:off x="706931" y="2919932"/>
              <a:ext cx="1344706" cy="112187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99B455AB-043C-BB46-8DAA-51C8B78729B9}"/>
                </a:ext>
              </a:extLst>
            </p:cNvPr>
            <p:cNvCxnSpPr>
              <a:cxnSpLocks/>
            </p:cNvCxnSpPr>
            <p:nvPr/>
          </p:nvCxnSpPr>
          <p:spPr>
            <a:xfrm flipV="1">
              <a:off x="760719" y="5116284"/>
              <a:ext cx="1335740" cy="1069363"/>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D2B8AACD-AF84-EE0C-D21C-0975F98EEE37}"/>
                </a:ext>
              </a:extLst>
            </p:cNvPr>
            <p:cNvCxnSpPr>
              <a:cxnSpLocks/>
            </p:cNvCxnSpPr>
            <p:nvPr/>
          </p:nvCxnSpPr>
          <p:spPr>
            <a:xfrm>
              <a:off x="2096460" y="5131653"/>
              <a:ext cx="3243943" cy="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1EB0AE0C-B220-4DA2-5B70-5240EFB2F75B}"/>
                </a:ext>
              </a:extLst>
            </p:cNvPr>
            <p:cNvCxnSpPr>
              <a:cxnSpLocks/>
            </p:cNvCxnSpPr>
            <p:nvPr/>
          </p:nvCxnSpPr>
          <p:spPr>
            <a:xfrm>
              <a:off x="2079811" y="2886635"/>
              <a:ext cx="3243943" cy="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5B90ADCF-8B90-7EB5-DD9C-DEAB67E2A0E8}"/>
                </a:ext>
              </a:extLst>
            </p:cNvPr>
            <p:cNvCxnSpPr>
              <a:cxnSpLocks/>
            </p:cNvCxnSpPr>
            <p:nvPr/>
          </p:nvCxnSpPr>
          <p:spPr>
            <a:xfrm flipV="1">
              <a:off x="5339123" y="2122888"/>
              <a:ext cx="933845" cy="757345"/>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7192E92F-75E3-5C4F-3BD1-B6D158984446}"/>
                </a:ext>
              </a:extLst>
            </p:cNvPr>
            <p:cNvCxnSpPr>
              <a:cxnSpLocks/>
            </p:cNvCxnSpPr>
            <p:nvPr/>
          </p:nvCxnSpPr>
          <p:spPr>
            <a:xfrm flipV="1">
              <a:off x="5337843" y="4388397"/>
              <a:ext cx="933845" cy="757345"/>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sp>
        <p:nvSpPr>
          <p:cNvPr id="18" name="椭圆 17">
            <a:extLst>
              <a:ext uri="{FF2B5EF4-FFF2-40B4-BE49-F238E27FC236}">
                <a16:creationId xmlns:a16="http://schemas.microsoft.com/office/drawing/2014/main" id="{D4CA9748-E46D-DADE-32B9-DF8987EC1E27}"/>
              </a:ext>
            </a:extLst>
          </p:cNvPr>
          <p:cNvSpPr/>
          <p:nvPr/>
        </p:nvSpPr>
        <p:spPr>
          <a:xfrm>
            <a:off x="5582320" y="4479120"/>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1" name="组合 100">
            <a:extLst>
              <a:ext uri="{FF2B5EF4-FFF2-40B4-BE49-F238E27FC236}">
                <a16:creationId xmlns:a16="http://schemas.microsoft.com/office/drawing/2014/main" id="{29E2BF66-F498-194D-66AD-6AD6DE9A3A7C}"/>
              </a:ext>
            </a:extLst>
          </p:cNvPr>
          <p:cNvGrpSpPr/>
          <p:nvPr/>
        </p:nvGrpSpPr>
        <p:grpSpPr>
          <a:xfrm>
            <a:off x="616663" y="4018669"/>
            <a:ext cx="359650" cy="2113109"/>
            <a:chOff x="607038" y="4057170"/>
            <a:chExt cx="359650" cy="2113109"/>
          </a:xfrm>
        </p:grpSpPr>
        <p:cxnSp>
          <p:nvCxnSpPr>
            <p:cNvPr id="93" name="直接箭头连接符 92">
              <a:extLst>
                <a:ext uri="{FF2B5EF4-FFF2-40B4-BE49-F238E27FC236}">
                  <a16:creationId xmlns:a16="http://schemas.microsoft.com/office/drawing/2014/main" id="{09E7E639-1410-57A7-4059-DF474BD089D2}"/>
                </a:ext>
              </a:extLst>
            </p:cNvPr>
            <p:cNvCxnSpPr/>
            <p:nvPr/>
          </p:nvCxnSpPr>
          <p:spPr>
            <a:xfrm>
              <a:off x="722299" y="5455664"/>
              <a:ext cx="0" cy="7146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0A42772A-F8F9-4788-B81D-36FE854D6CFB}"/>
                </a:ext>
              </a:extLst>
            </p:cNvPr>
            <p:cNvCxnSpPr>
              <a:cxnSpLocks/>
            </p:cNvCxnSpPr>
            <p:nvPr/>
          </p:nvCxnSpPr>
          <p:spPr>
            <a:xfrm flipV="1">
              <a:off x="713334" y="4057170"/>
              <a:ext cx="0" cy="7164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69765E05-5F45-04DC-FB70-430ECF7DC55E}"/>
                    </a:ext>
                  </a:extLst>
                </p:cNvPr>
                <p:cNvSpPr txBox="1"/>
                <p:nvPr/>
              </p:nvSpPr>
              <p:spPr>
                <a:xfrm>
                  <a:off x="607038" y="4986938"/>
                  <a:ext cx="3596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2</m:t>
                        </m:r>
                        <m:r>
                          <a:rPr lang="en-US" altLang="zh-CN" b="0" i="1" smtClean="0">
                            <a:latin typeface="Cambria Math" panose="02040503050406030204" pitchFamily="18" charset="0"/>
                          </a:rPr>
                          <m:t>𝐾</m:t>
                        </m:r>
                      </m:oMath>
                    </m:oMathPara>
                  </a14:m>
                  <a:endParaRPr lang="zh-CN" altLang="en-US" dirty="0"/>
                </a:p>
              </p:txBody>
            </p:sp>
          </mc:Choice>
          <mc:Fallback xmlns="">
            <p:sp>
              <p:nvSpPr>
                <p:cNvPr id="100" name="文本框 99">
                  <a:extLst>
                    <a:ext uri="{FF2B5EF4-FFF2-40B4-BE49-F238E27FC236}">
                      <a16:creationId xmlns:a16="http://schemas.microsoft.com/office/drawing/2014/main" id="{69765E05-5F45-04DC-FB70-430ECF7DC55E}"/>
                    </a:ext>
                  </a:extLst>
                </p:cNvPr>
                <p:cNvSpPr txBox="1">
                  <a:spLocks noRot="1" noChangeAspect="1" noMove="1" noResize="1" noEditPoints="1" noAdjustHandles="1" noChangeArrowheads="1" noChangeShapeType="1" noTextEdit="1"/>
                </p:cNvSpPr>
                <p:nvPr/>
              </p:nvSpPr>
              <p:spPr>
                <a:xfrm>
                  <a:off x="607038" y="4986938"/>
                  <a:ext cx="359650" cy="276999"/>
                </a:xfrm>
                <a:prstGeom prst="rect">
                  <a:avLst/>
                </a:prstGeom>
                <a:blipFill>
                  <a:blip r:embed="rId8"/>
                  <a:stretch>
                    <a:fillRect l="-13559" r="-13559" b="-6667"/>
                  </a:stretch>
                </a:blipFill>
              </p:spPr>
              <p:txBody>
                <a:bodyPr/>
                <a:lstStyle/>
                <a:p>
                  <a:r>
                    <a:rPr lang="zh-CN" altLang="en-US">
                      <a:noFill/>
                    </a:rPr>
                    <a:t> </a:t>
                  </a:r>
                </a:p>
              </p:txBody>
            </p:sp>
          </mc:Fallback>
        </mc:AlternateContent>
      </p:grpSp>
      <p:sp>
        <p:nvSpPr>
          <p:cNvPr id="102" name="矩形: 圆角 101">
            <a:extLst>
              <a:ext uri="{FF2B5EF4-FFF2-40B4-BE49-F238E27FC236}">
                <a16:creationId xmlns:a16="http://schemas.microsoft.com/office/drawing/2014/main" id="{4EB20E23-1473-1608-F09E-5819AA94E1F6}"/>
              </a:ext>
            </a:extLst>
          </p:cNvPr>
          <p:cNvSpPr/>
          <p:nvPr/>
        </p:nvSpPr>
        <p:spPr>
          <a:xfrm>
            <a:off x="6901314" y="2819222"/>
            <a:ext cx="4936514" cy="253242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4" name="文本框 103">
                <a:extLst>
                  <a:ext uri="{FF2B5EF4-FFF2-40B4-BE49-F238E27FC236}">
                    <a16:creationId xmlns:a16="http://schemas.microsoft.com/office/drawing/2014/main" id="{E7DFD9CE-020C-C158-25A7-2B7FA6BCA691}"/>
                  </a:ext>
                </a:extLst>
              </p:cNvPr>
              <p:cNvSpPr txBox="1"/>
              <p:nvPr/>
            </p:nvSpPr>
            <p:spPr>
              <a:xfrm>
                <a:off x="6964725" y="3431752"/>
                <a:ext cx="4562275" cy="10384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𝑔</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limLow>
                            <m:limLowPr>
                              <m:ctrlPr>
                                <a:rPr lang="en-US" altLang="zh-CN" sz="2400" b="0" i="1" smtClean="0">
                                  <a:latin typeface="Cambria Math" panose="02040503050406030204" pitchFamily="18" charset="0"/>
                                </a:rPr>
                              </m:ctrlPr>
                            </m:limLowPr>
                            <m:e>
                              <m:r>
                                <m:rPr>
                                  <m:sty m:val="p"/>
                                </m:rPr>
                                <a:rPr lang="en-US" altLang="zh-CN" sz="2400" b="0" i="0" smtClean="0">
                                  <a:latin typeface="Cambria Math" panose="02040503050406030204" pitchFamily="18" charset="0"/>
                                </a:rPr>
                                <m:t>arg</m:t>
                              </m:r>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max</m:t>
                              </m:r>
                            </m:e>
                            <m:lim>
                              <m:r>
                                <a:rPr lang="en-US" altLang="zh-CN" sz="2400" b="0" i="1" smtClean="0">
                                  <a:latin typeface="Cambria Math" panose="02040503050406030204" pitchFamily="18" charset="0"/>
                                </a:rPr>
                                <m:t>𝑔</m:t>
                              </m:r>
                            </m:lim>
                          </m:limLow>
                        </m:fName>
                        <m:e>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𝑇</m:t>
                              </m:r>
                            </m:sup>
                            <m:e>
                              <m:r>
                                <a:rPr lang="en-US" altLang="zh-CN" sz="2400" b="0" i="1" smtClean="0">
                                  <a:latin typeface="Cambria Math" panose="02040503050406030204" pitchFamily="18" charset="0"/>
                                </a:rPr>
                                <m:t>𝑅𝑃𝑀𝑀</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𝑔</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𝑡</m:t>
                              </m:r>
                            </m:e>
                          </m:nary>
                          <m:r>
                            <a:rPr lang="en-US" altLang="zh-CN" sz="2400" b="0" i="1" smtClean="0">
                              <a:latin typeface="Cambria Math" panose="02040503050406030204" pitchFamily="18" charset="0"/>
                            </a:rPr>
                            <m:t>))</m:t>
                          </m:r>
                        </m:e>
                      </m:func>
                    </m:oMath>
                  </m:oMathPara>
                </a14:m>
                <a:endParaRPr lang="zh-CN" altLang="en-US" sz="2400" dirty="0"/>
              </a:p>
            </p:txBody>
          </p:sp>
        </mc:Choice>
        <mc:Fallback xmlns="">
          <p:sp>
            <p:nvSpPr>
              <p:cNvPr id="104" name="文本框 103">
                <a:extLst>
                  <a:ext uri="{FF2B5EF4-FFF2-40B4-BE49-F238E27FC236}">
                    <a16:creationId xmlns:a16="http://schemas.microsoft.com/office/drawing/2014/main" id="{E7DFD9CE-020C-C158-25A7-2B7FA6BCA691}"/>
                  </a:ext>
                </a:extLst>
              </p:cNvPr>
              <p:cNvSpPr txBox="1">
                <a:spLocks noRot="1" noChangeAspect="1" noMove="1" noResize="1" noEditPoints="1" noAdjustHandles="1" noChangeArrowheads="1" noChangeShapeType="1" noTextEdit="1"/>
              </p:cNvSpPr>
              <p:nvPr/>
            </p:nvSpPr>
            <p:spPr>
              <a:xfrm>
                <a:off x="6964725" y="3431752"/>
                <a:ext cx="4562275" cy="1038426"/>
              </a:xfrm>
              <a:prstGeom prst="rect">
                <a:avLst/>
              </a:prstGeom>
              <a:blipFill>
                <a:blip r:embed="rId9"/>
                <a:stretch>
                  <a:fillRect/>
                </a:stretch>
              </a:blipFill>
            </p:spPr>
            <p:txBody>
              <a:bodyPr/>
              <a:lstStyle/>
              <a:p>
                <a:r>
                  <a:rPr lang="zh-CN" altLang="en-US">
                    <a:noFill/>
                  </a:rPr>
                  <a:t> </a:t>
                </a:r>
              </a:p>
            </p:txBody>
          </p:sp>
        </mc:Fallback>
      </mc:AlternateContent>
      <p:sp>
        <p:nvSpPr>
          <p:cNvPr id="105" name="文本框 104">
            <a:extLst>
              <a:ext uri="{FF2B5EF4-FFF2-40B4-BE49-F238E27FC236}">
                <a16:creationId xmlns:a16="http://schemas.microsoft.com/office/drawing/2014/main" id="{BB295789-D17C-4EF6-7893-878527990162}"/>
              </a:ext>
            </a:extLst>
          </p:cNvPr>
          <p:cNvSpPr txBox="1"/>
          <p:nvPr/>
        </p:nvSpPr>
        <p:spPr>
          <a:xfrm>
            <a:off x="7340288" y="2847661"/>
            <a:ext cx="2701454" cy="461665"/>
          </a:xfrm>
          <a:prstGeom prst="rect">
            <a:avLst/>
          </a:prstGeom>
          <a:noFill/>
        </p:spPr>
        <p:txBody>
          <a:bodyPr wrap="square">
            <a:spAutoFit/>
          </a:bodyPr>
          <a:lstStyle/>
          <a:p>
            <a:r>
              <a:rPr lang="en-US" altLang="zh-CN" sz="2400" dirty="0">
                <a:latin typeface="Seravek"/>
              </a:rPr>
              <a:t>The maximum path:</a:t>
            </a:r>
          </a:p>
        </p:txBody>
      </p:sp>
      <p:sp>
        <p:nvSpPr>
          <p:cNvPr id="9" name="椭圆 8">
            <a:extLst>
              <a:ext uri="{FF2B5EF4-FFF2-40B4-BE49-F238E27FC236}">
                <a16:creationId xmlns:a16="http://schemas.microsoft.com/office/drawing/2014/main" id="{E9BDBF48-4D59-9B89-9C3A-879007CECAF7}"/>
              </a:ext>
            </a:extLst>
          </p:cNvPr>
          <p:cNvSpPr/>
          <p:nvPr/>
        </p:nvSpPr>
        <p:spPr>
          <a:xfrm>
            <a:off x="1262743" y="5246915"/>
            <a:ext cx="566057" cy="555171"/>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solidFill>
                <a:schemeClr val="tx1"/>
              </a:solidFill>
              <a:latin typeface="Seravek"/>
            </a:endParaRPr>
          </a:p>
        </p:txBody>
      </p:sp>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23D17FDA-7063-8A46-0007-ED3F5C26C690}"/>
                  </a:ext>
                </a:extLst>
              </p:cNvPr>
              <p:cNvSpPr txBox="1"/>
              <p:nvPr/>
            </p:nvSpPr>
            <p:spPr>
              <a:xfrm>
                <a:off x="7694641" y="4691057"/>
                <a:ext cx="34695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1"/>
                          </a:solidFill>
                          <a:latin typeface="Cambria Math" panose="02040503050406030204" pitchFamily="18" charset="0"/>
                        </a:rPr>
                        <m:t>𝑠</m:t>
                      </m:r>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𝑡</m:t>
                      </m:r>
                      <m:r>
                        <a:rPr lang="en-US" altLang="zh-CN" sz="2400" b="0" i="1" smtClean="0">
                          <a:solidFill>
                            <a:schemeClr val="accent1"/>
                          </a:solidFill>
                          <a:latin typeface="Cambria Math" panose="02040503050406030204" pitchFamily="18" charset="0"/>
                        </a:rPr>
                        <m:t>. |</m:t>
                      </m:r>
                      <m:r>
                        <a:rPr lang="en-US" altLang="zh-CN" sz="2400" b="0" i="1" smtClean="0">
                          <a:solidFill>
                            <a:schemeClr val="accent1"/>
                          </a:solidFill>
                          <a:latin typeface="Cambria Math" panose="02040503050406030204" pitchFamily="18" charset="0"/>
                        </a:rPr>
                        <m:t>𝑔</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𝑡</m:t>
                          </m:r>
                        </m:e>
                      </m:d>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𝑔</m:t>
                      </m:r>
                      <m:d>
                        <m:dPr>
                          <m:ctrlPr>
                            <a:rPr lang="en-US" altLang="zh-CN" sz="2400" b="0" i="1" smtClean="0">
                              <a:solidFill>
                                <a:schemeClr val="accent1"/>
                              </a:solidFill>
                              <a:latin typeface="Cambria Math" panose="02040503050406030204" pitchFamily="18" charset="0"/>
                            </a:rPr>
                          </m:ctrlPr>
                        </m:dPr>
                        <m:e>
                          <m:r>
                            <a:rPr lang="en-US" altLang="zh-CN" sz="2400" b="0" i="1" smtClean="0">
                              <a:solidFill>
                                <a:schemeClr val="accent1"/>
                              </a:solidFill>
                              <a:latin typeface="Cambria Math" panose="02040503050406030204" pitchFamily="18" charset="0"/>
                            </a:rPr>
                            <m:t>𝑡</m:t>
                          </m:r>
                          <m:r>
                            <a:rPr lang="en-US" altLang="zh-CN" sz="2400" b="0" i="1" smtClean="0">
                              <a:solidFill>
                                <a:schemeClr val="accent1"/>
                              </a:solidFill>
                              <a:latin typeface="Cambria Math" panose="02040503050406030204" pitchFamily="18" charset="0"/>
                            </a:rPr>
                            <m:t>−1</m:t>
                          </m:r>
                        </m:e>
                      </m:d>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𝐾</m:t>
                      </m:r>
                    </m:oMath>
                  </m:oMathPara>
                </a14:m>
                <a:endParaRPr lang="zh-CN" altLang="en-US" sz="2400" dirty="0">
                  <a:solidFill>
                    <a:schemeClr val="accent1"/>
                  </a:solidFill>
                </a:endParaRPr>
              </a:p>
            </p:txBody>
          </p:sp>
        </mc:Choice>
        <mc:Fallback xmlns="">
          <p:sp>
            <p:nvSpPr>
              <p:cNvPr id="106" name="文本框 105">
                <a:extLst>
                  <a:ext uri="{FF2B5EF4-FFF2-40B4-BE49-F238E27FC236}">
                    <a16:creationId xmlns:a16="http://schemas.microsoft.com/office/drawing/2014/main" id="{23D17FDA-7063-8A46-0007-ED3F5C26C690}"/>
                  </a:ext>
                </a:extLst>
              </p:cNvPr>
              <p:cNvSpPr txBox="1">
                <a:spLocks noRot="1" noChangeAspect="1" noMove="1" noResize="1" noEditPoints="1" noAdjustHandles="1" noChangeArrowheads="1" noChangeShapeType="1" noTextEdit="1"/>
              </p:cNvSpPr>
              <p:nvPr/>
            </p:nvSpPr>
            <p:spPr>
              <a:xfrm>
                <a:off x="7694641" y="4691057"/>
                <a:ext cx="3469540" cy="369332"/>
              </a:xfrm>
              <a:prstGeom prst="rect">
                <a:avLst/>
              </a:prstGeom>
              <a:blipFill>
                <a:blip r:embed="rId10"/>
                <a:stretch>
                  <a:fillRect l="-351" r="-1230" b="-3500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A2292898-3560-E2EA-6BD9-A93452E479A6}"/>
              </a:ext>
            </a:extLst>
          </p:cNvPr>
          <p:cNvSpPr txBox="1"/>
          <p:nvPr/>
        </p:nvSpPr>
        <p:spPr>
          <a:xfrm>
            <a:off x="1162493" y="6250338"/>
            <a:ext cx="5591773" cy="523220"/>
          </a:xfrm>
          <a:prstGeom prst="rect">
            <a:avLst/>
          </a:prstGeom>
          <a:noFill/>
        </p:spPr>
        <p:txBody>
          <a:bodyPr wrap="square" rtlCol="0">
            <a:spAutoFit/>
          </a:bodyPr>
          <a:lstStyle/>
          <a:p>
            <a:r>
              <a:rPr lang="en-US" altLang="zh-CN" sz="2800" dirty="0">
                <a:latin typeface="Seravek"/>
              </a:rPr>
              <a:t>Range-Time-PMM Diagram (RPMM)</a:t>
            </a:r>
            <a:endParaRPr lang="zh-CN" altLang="en-US" sz="2800" dirty="0">
              <a:latin typeface="Seravek"/>
            </a:endParaRPr>
          </a:p>
        </p:txBody>
      </p:sp>
    </p:spTree>
    <p:extLst>
      <p:ext uri="{BB962C8B-B14F-4D97-AF65-F5344CB8AC3E}">
        <p14:creationId xmlns:p14="http://schemas.microsoft.com/office/powerpoint/2010/main" val="50735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UAV identification</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35" name="文本框 34">
            <a:extLst>
              <a:ext uri="{FF2B5EF4-FFF2-40B4-BE49-F238E27FC236}">
                <a16:creationId xmlns:a16="http://schemas.microsoft.com/office/drawing/2014/main" id="{BBCF8975-4111-C7A5-5980-DCAAD9F0FC6A}"/>
              </a:ext>
            </a:extLst>
          </p:cNvPr>
          <p:cNvSpPr txBox="1"/>
          <p:nvPr/>
        </p:nvSpPr>
        <p:spPr>
          <a:xfrm>
            <a:off x="538993" y="1199517"/>
            <a:ext cx="11054592" cy="954107"/>
          </a:xfrm>
          <a:prstGeom prst="rect">
            <a:avLst/>
          </a:prstGeom>
          <a:noFill/>
        </p:spPr>
        <p:txBody>
          <a:bodyPr wrap="square">
            <a:spAutoFit/>
          </a:bodyPr>
          <a:lstStyle/>
          <a:p>
            <a:r>
              <a:rPr lang="en-US" altLang="zh-CN" sz="2800" dirty="0">
                <a:solidFill>
                  <a:srgbClr val="C00000"/>
                </a:solidFill>
                <a:latin typeface="Seravek" charset="0"/>
                <a:ea typeface="Seravek" charset="0"/>
                <a:cs typeface="Seravek" charset="0"/>
              </a:rPr>
              <a:t>Challenge 3: </a:t>
            </a:r>
            <a:r>
              <a:rPr lang="en-US" altLang="zh-CN" sz="2800" dirty="0">
                <a:solidFill>
                  <a:srgbClr val="C00000"/>
                </a:solidFill>
                <a:latin typeface="Seravek" charset="0"/>
              </a:rPr>
              <a:t>The tightly coupled inherent UAV features and motion-related features. </a:t>
            </a:r>
          </a:p>
        </p:txBody>
      </p:sp>
      <p:sp>
        <p:nvSpPr>
          <p:cNvPr id="9" name="文本框 8">
            <a:extLst>
              <a:ext uri="{FF2B5EF4-FFF2-40B4-BE49-F238E27FC236}">
                <a16:creationId xmlns:a16="http://schemas.microsoft.com/office/drawing/2014/main" id="{44DBDF82-BEAF-4E57-A6A0-14826D9C13C6}"/>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12/18</a:t>
            </a:r>
            <a:endParaRPr lang="zh-CN" altLang="en-US" sz="2000" b="1" dirty="0">
              <a:solidFill>
                <a:srgbClr val="757575"/>
              </a:solidFill>
              <a:latin typeface="Seravek"/>
            </a:endParaRPr>
          </a:p>
        </p:txBody>
      </p:sp>
      <p:pic>
        <p:nvPicPr>
          <p:cNvPr id="12" name="图片 11">
            <a:extLst>
              <a:ext uri="{FF2B5EF4-FFF2-40B4-BE49-F238E27FC236}">
                <a16:creationId xmlns:a16="http://schemas.microsoft.com/office/drawing/2014/main" id="{D8338766-20BB-8634-A9F2-6D244F4DC90F}"/>
              </a:ext>
            </a:extLst>
          </p:cNvPr>
          <p:cNvPicPr>
            <a:picLocks noChangeAspect="1"/>
          </p:cNvPicPr>
          <p:nvPr/>
        </p:nvPicPr>
        <p:blipFill>
          <a:blip r:embed="rId3"/>
          <a:stretch>
            <a:fillRect/>
          </a:stretch>
        </p:blipFill>
        <p:spPr>
          <a:xfrm>
            <a:off x="2627696" y="2205391"/>
            <a:ext cx="5370897" cy="1875721"/>
          </a:xfrm>
          <a:prstGeom prst="rect">
            <a:avLst/>
          </a:prstGeom>
        </p:spPr>
      </p:pic>
    </p:spTree>
    <p:extLst>
      <p:ext uri="{BB962C8B-B14F-4D97-AF65-F5344CB8AC3E}">
        <p14:creationId xmlns:p14="http://schemas.microsoft.com/office/powerpoint/2010/main" val="2759604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UAV identification</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35" name="文本框 34">
            <a:extLst>
              <a:ext uri="{FF2B5EF4-FFF2-40B4-BE49-F238E27FC236}">
                <a16:creationId xmlns:a16="http://schemas.microsoft.com/office/drawing/2014/main" id="{BBCF8975-4111-C7A5-5980-DCAAD9F0FC6A}"/>
              </a:ext>
            </a:extLst>
          </p:cNvPr>
          <p:cNvSpPr txBox="1"/>
          <p:nvPr/>
        </p:nvSpPr>
        <p:spPr>
          <a:xfrm>
            <a:off x="538993" y="1199517"/>
            <a:ext cx="11054592" cy="954107"/>
          </a:xfrm>
          <a:prstGeom prst="rect">
            <a:avLst/>
          </a:prstGeom>
          <a:noFill/>
        </p:spPr>
        <p:txBody>
          <a:bodyPr wrap="square">
            <a:spAutoFit/>
          </a:bodyPr>
          <a:lstStyle/>
          <a:p>
            <a:r>
              <a:rPr lang="en-US" altLang="zh-CN" sz="2800" dirty="0">
                <a:solidFill>
                  <a:srgbClr val="C00000"/>
                </a:solidFill>
                <a:latin typeface="Seravek" charset="0"/>
                <a:ea typeface="Seravek" charset="0"/>
                <a:cs typeface="Seravek" charset="0"/>
              </a:rPr>
              <a:t>Challenge 3: </a:t>
            </a:r>
            <a:r>
              <a:rPr lang="en-US" altLang="zh-CN" sz="2800" dirty="0">
                <a:solidFill>
                  <a:srgbClr val="C00000"/>
                </a:solidFill>
                <a:latin typeface="Seravek" charset="0"/>
              </a:rPr>
              <a:t>The tightly coupled inherent UAV features and motion-related features. </a:t>
            </a:r>
          </a:p>
        </p:txBody>
      </p:sp>
      <p:sp>
        <p:nvSpPr>
          <p:cNvPr id="9" name="文本框 8">
            <a:extLst>
              <a:ext uri="{FF2B5EF4-FFF2-40B4-BE49-F238E27FC236}">
                <a16:creationId xmlns:a16="http://schemas.microsoft.com/office/drawing/2014/main" id="{44DBDF82-BEAF-4E57-A6A0-14826D9C13C6}"/>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12/18</a:t>
            </a:r>
            <a:endParaRPr lang="zh-CN" altLang="en-US" sz="2000" b="1" dirty="0">
              <a:solidFill>
                <a:srgbClr val="757575"/>
              </a:solidFill>
              <a:latin typeface="Seravek"/>
            </a:endParaRPr>
          </a:p>
        </p:txBody>
      </p:sp>
      <p:pic>
        <p:nvPicPr>
          <p:cNvPr id="12" name="图片 11">
            <a:extLst>
              <a:ext uri="{FF2B5EF4-FFF2-40B4-BE49-F238E27FC236}">
                <a16:creationId xmlns:a16="http://schemas.microsoft.com/office/drawing/2014/main" id="{D8338766-20BB-8634-A9F2-6D244F4DC90F}"/>
              </a:ext>
            </a:extLst>
          </p:cNvPr>
          <p:cNvPicPr>
            <a:picLocks noChangeAspect="1"/>
          </p:cNvPicPr>
          <p:nvPr/>
        </p:nvPicPr>
        <p:blipFill>
          <a:blip r:embed="rId3"/>
          <a:stretch>
            <a:fillRect/>
          </a:stretch>
        </p:blipFill>
        <p:spPr>
          <a:xfrm>
            <a:off x="2627696" y="2205391"/>
            <a:ext cx="5370897" cy="1875721"/>
          </a:xfrm>
          <a:prstGeom prst="rect">
            <a:avLst/>
          </a:prstGeom>
        </p:spPr>
      </p:pic>
      <p:pic>
        <p:nvPicPr>
          <p:cNvPr id="10" name="图片 9">
            <a:extLst>
              <a:ext uri="{FF2B5EF4-FFF2-40B4-BE49-F238E27FC236}">
                <a16:creationId xmlns:a16="http://schemas.microsoft.com/office/drawing/2014/main" id="{E39712F5-307D-D1EA-2202-953EB511EA2E}"/>
              </a:ext>
            </a:extLst>
          </p:cNvPr>
          <p:cNvPicPr>
            <a:picLocks noChangeAspect="1"/>
          </p:cNvPicPr>
          <p:nvPr/>
        </p:nvPicPr>
        <p:blipFill>
          <a:blip r:embed="rId4"/>
          <a:stretch>
            <a:fillRect/>
          </a:stretch>
        </p:blipFill>
        <p:spPr>
          <a:xfrm>
            <a:off x="2614430" y="2266256"/>
            <a:ext cx="5393481" cy="3123891"/>
          </a:xfrm>
          <a:prstGeom prst="rect">
            <a:avLst/>
          </a:prstGeom>
        </p:spPr>
      </p:pic>
    </p:spTree>
    <p:extLst>
      <p:ext uri="{BB962C8B-B14F-4D97-AF65-F5344CB8AC3E}">
        <p14:creationId xmlns:p14="http://schemas.microsoft.com/office/powerpoint/2010/main" val="3459678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UAV identification</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35" name="文本框 34">
            <a:extLst>
              <a:ext uri="{FF2B5EF4-FFF2-40B4-BE49-F238E27FC236}">
                <a16:creationId xmlns:a16="http://schemas.microsoft.com/office/drawing/2014/main" id="{BBCF8975-4111-C7A5-5980-DCAAD9F0FC6A}"/>
              </a:ext>
            </a:extLst>
          </p:cNvPr>
          <p:cNvSpPr txBox="1"/>
          <p:nvPr/>
        </p:nvSpPr>
        <p:spPr>
          <a:xfrm>
            <a:off x="538993" y="1199517"/>
            <a:ext cx="11054592" cy="954107"/>
          </a:xfrm>
          <a:prstGeom prst="rect">
            <a:avLst/>
          </a:prstGeom>
          <a:noFill/>
        </p:spPr>
        <p:txBody>
          <a:bodyPr wrap="square">
            <a:spAutoFit/>
          </a:bodyPr>
          <a:lstStyle/>
          <a:p>
            <a:r>
              <a:rPr lang="en-US" altLang="zh-CN" sz="2800" dirty="0">
                <a:solidFill>
                  <a:srgbClr val="C00000"/>
                </a:solidFill>
                <a:latin typeface="Seravek" charset="0"/>
                <a:ea typeface="Seravek" charset="0"/>
                <a:cs typeface="Seravek" charset="0"/>
              </a:rPr>
              <a:t>Challenge 3: </a:t>
            </a:r>
            <a:r>
              <a:rPr lang="en-US" altLang="zh-CN" sz="2800" dirty="0">
                <a:solidFill>
                  <a:srgbClr val="C00000"/>
                </a:solidFill>
                <a:latin typeface="Seravek" charset="0"/>
              </a:rPr>
              <a:t>The tightly coupled inherent UAV features and motion-related features. </a:t>
            </a:r>
          </a:p>
        </p:txBody>
      </p:sp>
      <p:sp>
        <p:nvSpPr>
          <p:cNvPr id="9" name="文本框 8">
            <a:extLst>
              <a:ext uri="{FF2B5EF4-FFF2-40B4-BE49-F238E27FC236}">
                <a16:creationId xmlns:a16="http://schemas.microsoft.com/office/drawing/2014/main" id="{44DBDF82-BEAF-4E57-A6A0-14826D9C13C6}"/>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12/18</a:t>
            </a:r>
            <a:endParaRPr lang="zh-CN" altLang="en-US" sz="2000" b="1" dirty="0">
              <a:solidFill>
                <a:srgbClr val="757575"/>
              </a:solidFill>
              <a:latin typeface="Seravek"/>
            </a:endParaRPr>
          </a:p>
        </p:txBody>
      </p:sp>
      <p:pic>
        <p:nvPicPr>
          <p:cNvPr id="7" name="图片 6">
            <a:extLst>
              <a:ext uri="{FF2B5EF4-FFF2-40B4-BE49-F238E27FC236}">
                <a16:creationId xmlns:a16="http://schemas.microsoft.com/office/drawing/2014/main" id="{9B348A21-E52B-5C0D-BDD2-51A5A8D94522}"/>
              </a:ext>
            </a:extLst>
          </p:cNvPr>
          <p:cNvPicPr>
            <a:picLocks noChangeAspect="1"/>
          </p:cNvPicPr>
          <p:nvPr/>
        </p:nvPicPr>
        <p:blipFill>
          <a:blip r:embed="rId3"/>
          <a:stretch>
            <a:fillRect/>
          </a:stretch>
        </p:blipFill>
        <p:spPr>
          <a:xfrm>
            <a:off x="2615950" y="2311066"/>
            <a:ext cx="5421146" cy="4291865"/>
          </a:xfrm>
          <a:prstGeom prst="rect">
            <a:avLst/>
          </a:prstGeom>
        </p:spPr>
      </p:pic>
    </p:spTree>
    <p:extLst>
      <p:ext uri="{BB962C8B-B14F-4D97-AF65-F5344CB8AC3E}">
        <p14:creationId xmlns:p14="http://schemas.microsoft.com/office/powerpoint/2010/main" val="266177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9A90898-C883-BEFF-980E-1137E35642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1446" y="4227470"/>
            <a:ext cx="2063750" cy="1750804"/>
          </a:xfrm>
          <a:prstGeom prst="rect">
            <a:avLst/>
          </a:prstGeom>
        </p:spPr>
      </p:pic>
      <p:sp>
        <p:nvSpPr>
          <p:cNvPr id="11" name="任意多边形 10"/>
          <p:cNvSpPr/>
          <p:nvPr/>
        </p:nvSpPr>
        <p:spPr>
          <a:xfrm>
            <a:off x="0" y="3018"/>
            <a:ext cx="12192000" cy="6854982"/>
          </a:xfrm>
          <a:custGeom>
            <a:avLst/>
            <a:gdLst>
              <a:gd name="connsiteX0" fmla="*/ 10271396 w 12192000"/>
              <a:gd name="connsiteY0" fmla="*/ 4072225 h 6854982"/>
              <a:gd name="connsiteX1" fmla="*/ 9203867 w 12192000"/>
              <a:gd name="connsiteY1" fmla="*/ 5139754 h 6854982"/>
              <a:gd name="connsiteX2" fmla="*/ 10271396 w 12192000"/>
              <a:gd name="connsiteY2" fmla="*/ 6207283 h 6854982"/>
              <a:gd name="connsiteX3" fmla="*/ 11338925 w 12192000"/>
              <a:gd name="connsiteY3" fmla="*/ 5139754 h 6854982"/>
              <a:gd name="connsiteX4" fmla="*/ 10271396 w 12192000"/>
              <a:gd name="connsiteY4" fmla="*/ 4072225 h 6854982"/>
              <a:gd name="connsiteX5" fmla="*/ 0 w 12192000"/>
              <a:gd name="connsiteY5" fmla="*/ 0 h 6854982"/>
              <a:gd name="connsiteX6" fmla="*/ 12192000 w 12192000"/>
              <a:gd name="connsiteY6" fmla="*/ 0 h 6854982"/>
              <a:gd name="connsiteX7" fmla="*/ 12192000 w 12192000"/>
              <a:gd name="connsiteY7" fmla="*/ 6854982 h 6854982"/>
              <a:gd name="connsiteX8" fmla="*/ 0 w 12192000"/>
              <a:gd name="connsiteY8" fmla="*/ 6854982 h 6854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4982">
                <a:moveTo>
                  <a:pt x="10271396" y="4072225"/>
                </a:moveTo>
                <a:cubicBezTo>
                  <a:pt x="9681816" y="4072225"/>
                  <a:pt x="9203867" y="4550174"/>
                  <a:pt x="9203867" y="5139754"/>
                </a:cubicBezTo>
                <a:cubicBezTo>
                  <a:pt x="9203867" y="5729334"/>
                  <a:pt x="9681816" y="6207283"/>
                  <a:pt x="10271396" y="6207283"/>
                </a:cubicBezTo>
                <a:cubicBezTo>
                  <a:pt x="10860976" y="6207283"/>
                  <a:pt x="11338925" y="5729334"/>
                  <a:pt x="11338925" y="5139754"/>
                </a:cubicBezTo>
                <a:cubicBezTo>
                  <a:pt x="11338925" y="4550174"/>
                  <a:pt x="10860976" y="4072225"/>
                  <a:pt x="10271396" y="4072225"/>
                </a:cubicBezTo>
                <a:close/>
                <a:moveTo>
                  <a:pt x="0" y="0"/>
                </a:moveTo>
                <a:lnTo>
                  <a:pt x="12192000" y="0"/>
                </a:lnTo>
                <a:lnTo>
                  <a:pt x="12192000" y="6854982"/>
                </a:lnTo>
                <a:lnTo>
                  <a:pt x="0" y="6854982"/>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a:p>
        </p:txBody>
      </p:sp>
      <p:sp>
        <p:nvSpPr>
          <p:cNvPr id="60" name="矩形 59"/>
          <p:cNvSpPr/>
          <p:nvPr/>
        </p:nvSpPr>
        <p:spPr>
          <a:xfrm>
            <a:off x="0" y="2589587"/>
            <a:ext cx="12192000" cy="769441"/>
          </a:xfrm>
          <a:prstGeom prst="rect">
            <a:avLst/>
          </a:prstGeom>
        </p:spPr>
        <p:txBody>
          <a:bodyPr wrap="square">
            <a:spAutoFit/>
          </a:bodyPr>
          <a:lstStyle/>
          <a:p>
            <a:pPr algn="ctr"/>
            <a:r>
              <a:rPr lang="en-US" altLang="zh-CN" sz="4400" b="1" dirty="0">
                <a:solidFill>
                  <a:schemeClr val="bg1"/>
                </a:solidFill>
                <a:latin typeface="Sathu" charset="-34"/>
                <a:ea typeface="Sathu" charset="-34"/>
                <a:cs typeface="Sathu" charset="-34"/>
              </a:rPr>
              <a:t>Evaluation</a:t>
            </a:r>
            <a:endParaRPr lang="zh-CN" altLang="en-US" sz="4400" b="1" dirty="0">
              <a:solidFill>
                <a:schemeClr val="bg1"/>
              </a:solidFill>
              <a:latin typeface="Sathu" charset="-34"/>
              <a:ea typeface="Sathu" charset="-34"/>
              <a:cs typeface="Sathu" charset="-34"/>
            </a:endParaRPr>
          </a:p>
        </p:txBody>
      </p:sp>
    </p:spTree>
    <p:extLst>
      <p:ext uri="{BB962C8B-B14F-4D97-AF65-F5344CB8AC3E}">
        <p14:creationId xmlns:p14="http://schemas.microsoft.com/office/powerpoint/2010/main" val="4247347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Implementation</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10" name="矩形 9">
            <a:extLst>
              <a:ext uri="{FF2B5EF4-FFF2-40B4-BE49-F238E27FC236}">
                <a16:creationId xmlns:a16="http://schemas.microsoft.com/office/drawing/2014/main" id="{517073D0-7FB5-5E6C-2556-378ED13F7484}"/>
              </a:ext>
            </a:extLst>
          </p:cNvPr>
          <p:cNvSpPr/>
          <p:nvPr/>
        </p:nvSpPr>
        <p:spPr>
          <a:xfrm>
            <a:off x="1174284" y="6095635"/>
            <a:ext cx="3656903" cy="4446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Seravek"/>
              </a:rPr>
              <a:t>The experiment scenario</a:t>
            </a:r>
          </a:p>
        </p:txBody>
      </p:sp>
      <p:sp>
        <p:nvSpPr>
          <p:cNvPr id="12" name="文本框 11">
            <a:extLst>
              <a:ext uri="{FF2B5EF4-FFF2-40B4-BE49-F238E27FC236}">
                <a16:creationId xmlns:a16="http://schemas.microsoft.com/office/drawing/2014/main" id="{B8F8DD74-C3BA-1358-BD54-67F8467C5686}"/>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13/18</a:t>
            </a:r>
            <a:endParaRPr lang="zh-CN" altLang="en-US" sz="2000" b="1" dirty="0">
              <a:solidFill>
                <a:srgbClr val="757575"/>
              </a:solidFill>
              <a:latin typeface="Seravek"/>
            </a:endParaRPr>
          </a:p>
        </p:txBody>
      </p:sp>
      <p:pic>
        <p:nvPicPr>
          <p:cNvPr id="2" name="0256cab05cf2201336c3858614d8e1cc 00_00_32-~1">
            <a:hlinkClick r:id="" action="ppaction://media"/>
            <a:extLst>
              <a:ext uri="{FF2B5EF4-FFF2-40B4-BE49-F238E27FC236}">
                <a16:creationId xmlns:a16="http://schemas.microsoft.com/office/drawing/2014/main" id="{8DEB213C-24E5-DAF8-4AF9-05410BEE844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96924" y="1369443"/>
            <a:ext cx="4673600" cy="4572000"/>
          </a:xfrm>
          <a:prstGeom prst="rect">
            <a:avLst/>
          </a:prstGeom>
        </p:spPr>
      </p:pic>
    </p:spTree>
    <p:extLst>
      <p:ext uri="{BB962C8B-B14F-4D97-AF65-F5344CB8AC3E}">
        <p14:creationId xmlns:p14="http://schemas.microsoft.com/office/powerpoint/2010/main" val="192854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48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Implementation</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7" name="文本框 6">
            <a:extLst>
              <a:ext uri="{FF2B5EF4-FFF2-40B4-BE49-F238E27FC236}">
                <a16:creationId xmlns:a16="http://schemas.microsoft.com/office/drawing/2014/main" id="{B67639DC-8D87-EE0F-494E-F0E7B79D0D16}"/>
              </a:ext>
            </a:extLst>
          </p:cNvPr>
          <p:cNvSpPr txBox="1"/>
          <p:nvPr/>
        </p:nvSpPr>
        <p:spPr>
          <a:xfrm>
            <a:off x="5650029" y="1613707"/>
            <a:ext cx="6436093" cy="4708981"/>
          </a:xfrm>
          <a:prstGeom prst="rect">
            <a:avLst/>
          </a:prstGeom>
          <a:noFill/>
        </p:spPr>
        <p:txBody>
          <a:bodyPr wrap="square" rtlCol="0">
            <a:spAutoFit/>
          </a:bodyPr>
          <a:lstStyle/>
          <a:p>
            <a:pPr marL="457200" indent="-457200">
              <a:buFont typeface="Wingdings" panose="05000000000000000000" pitchFamily="2" charset="2"/>
              <a:buChar char="l"/>
            </a:pPr>
            <a:r>
              <a:rPr lang="en-US" altLang="zh-CN" sz="2800" dirty="0">
                <a:latin typeface="Seravek"/>
              </a:rPr>
              <a:t>Implementation on a COTS mmWave radar TI IWR6843ISKODS.</a:t>
            </a:r>
          </a:p>
          <a:p>
            <a:pPr marL="457200" indent="-457200">
              <a:buFont typeface="Wingdings" panose="05000000000000000000" pitchFamily="2" charset="2"/>
              <a:buChar char="l"/>
            </a:pPr>
            <a:endParaRPr lang="en-US" altLang="zh-CN" sz="2000" dirty="0">
              <a:latin typeface="Seravek"/>
            </a:endParaRPr>
          </a:p>
          <a:p>
            <a:pPr marL="457200" indent="-457200">
              <a:buFont typeface="Wingdings" panose="05000000000000000000" pitchFamily="2" charset="2"/>
              <a:buChar char="l"/>
            </a:pPr>
            <a:r>
              <a:rPr lang="en-US" altLang="zh-CN" sz="2800" dirty="0">
                <a:latin typeface="Seravek"/>
              </a:rPr>
              <a:t>A six-wing UAV with three blades per propeller is used as the detection target.</a:t>
            </a:r>
          </a:p>
          <a:p>
            <a:r>
              <a:rPr lang="en-US" altLang="zh-CN" sz="2800" dirty="0">
                <a:latin typeface="Seravek"/>
              </a:rPr>
              <a:t> </a:t>
            </a:r>
          </a:p>
          <a:p>
            <a:pPr marL="457200" indent="-457200">
              <a:buFont typeface="Wingdings" panose="05000000000000000000" pitchFamily="2" charset="2"/>
              <a:buChar char="l"/>
            </a:pPr>
            <a:r>
              <a:rPr lang="en-US" altLang="zh-CN" sz="2800" dirty="0">
                <a:latin typeface="Seravek"/>
              </a:rPr>
              <a:t>The RTK module is used to provide the ground truth of the UAV location.</a:t>
            </a:r>
          </a:p>
          <a:p>
            <a:pPr marL="457200" indent="-457200">
              <a:buFont typeface="Wingdings" panose="05000000000000000000" pitchFamily="2" charset="2"/>
              <a:buChar char="l"/>
            </a:pPr>
            <a:endParaRPr lang="en-US" altLang="zh-CN" sz="2800" dirty="0">
              <a:latin typeface="Seravek"/>
            </a:endParaRPr>
          </a:p>
          <a:p>
            <a:pPr marL="457200" indent="-457200">
              <a:buFont typeface="Wingdings" panose="05000000000000000000" pitchFamily="2" charset="2"/>
              <a:buChar char="l"/>
            </a:pPr>
            <a:r>
              <a:rPr lang="en-US" altLang="zh-CN" sz="2800" dirty="0">
                <a:latin typeface="Seravek"/>
              </a:rPr>
              <a:t>More than 4000 seconds of signal is collected.</a:t>
            </a:r>
          </a:p>
        </p:txBody>
      </p:sp>
      <p:sp>
        <p:nvSpPr>
          <p:cNvPr id="10" name="矩形 9">
            <a:extLst>
              <a:ext uri="{FF2B5EF4-FFF2-40B4-BE49-F238E27FC236}">
                <a16:creationId xmlns:a16="http://schemas.microsoft.com/office/drawing/2014/main" id="{517073D0-7FB5-5E6C-2556-378ED13F7484}"/>
              </a:ext>
            </a:extLst>
          </p:cNvPr>
          <p:cNvSpPr/>
          <p:nvPr/>
        </p:nvSpPr>
        <p:spPr>
          <a:xfrm>
            <a:off x="1174284" y="6095635"/>
            <a:ext cx="3656903" cy="4446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Seravek"/>
              </a:rPr>
              <a:t>The experiment scenario</a:t>
            </a:r>
          </a:p>
        </p:txBody>
      </p:sp>
      <p:sp>
        <p:nvSpPr>
          <p:cNvPr id="12" name="文本框 11">
            <a:extLst>
              <a:ext uri="{FF2B5EF4-FFF2-40B4-BE49-F238E27FC236}">
                <a16:creationId xmlns:a16="http://schemas.microsoft.com/office/drawing/2014/main" id="{B8F8DD74-C3BA-1358-BD54-67F8467C5686}"/>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13/18</a:t>
            </a:r>
            <a:endParaRPr lang="zh-CN" altLang="en-US" sz="2000" b="1" dirty="0">
              <a:solidFill>
                <a:srgbClr val="757575"/>
              </a:solidFill>
              <a:latin typeface="Seravek"/>
            </a:endParaRPr>
          </a:p>
        </p:txBody>
      </p:sp>
      <p:pic>
        <p:nvPicPr>
          <p:cNvPr id="8" name="图片 7">
            <a:extLst>
              <a:ext uri="{FF2B5EF4-FFF2-40B4-BE49-F238E27FC236}">
                <a16:creationId xmlns:a16="http://schemas.microsoft.com/office/drawing/2014/main" id="{F99C8E4A-A43A-7166-CBE2-783F3FEC3117}"/>
              </a:ext>
            </a:extLst>
          </p:cNvPr>
          <p:cNvPicPr>
            <a:picLocks noChangeAspect="1"/>
          </p:cNvPicPr>
          <p:nvPr/>
        </p:nvPicPr>
        <p:blipFill rotWithShape="1">
          <a:blip r:embed="rId3">
            <a:extLst>
              <a:ext uri="{28A0092B-C50C-407E-A947-70E740481C1C}">
                <a14:useLocalDpi xmlns:a14="http://schemas.microsoft.com/office/drawing/2010/main" val="0"/>
              </a:ext>
            </a:extLst>
          </a:blip>
          <a:srcRect l="53" t="22187" r="-1" b="14240"/>
          <a:stretch/>
        </p:blipFill>
        <p:spPr>
          <a:xfrm>
            <a:off x="460474" y="1669491"/>
            <a:ext cx="5024649" cy="4259671"/>
          </a:xfrm>
          <a:prstGeom prst="rect">
            <a:avLst/>
          </a:prstGeom>
        </p:spPr>
      </p:pic>
      <p:sp>
        <p:nvSpPr>
          <p:cNvPr id="11" name="文本框 10">
            <a:extLst>
              <a:ext uri="{FF2B5EF4-FFF2-40B4-BE49-F238E27FC236}">
                <a16:creationId xmlns:a16="http://schemas.microsoft.com/office/drawing/2014/main" id="{4CB11D9C-1DFF-1C9B-78A5-61BF47033D45}"/>
              </a:ext>
            </a:extLst>
          </p:cNvPr>
          <p:cNvSpPr txBox="1"/>
          <p:nvPr/>
        </p:nvSpPr>
        <p:spPr>
          <a:xfrm>
            <a:off x="1713298" y="4521658"/>
            <a:ext cx="2406315" cy="461665"/>
          </a:xfrm>
          <a:prstGeom prst="rect">
            <a:avLst/>
          </a:prstGeom>
          <a:solidFill>
            <a:schemeClr val="bg1">
              <a:alpha val="40000"/>
            </a:schemeClr>
          </a:solidFill>
        </p:spPr>
        <p:txBody>
          <a:bodyPr wrap="square" rtlCol="0">
            <a:spAutoFit/>
          </a:bodyPr>
          <a:lstStyle/>
          <a:p>
            <a:pPr algn="ctr"/>
            <a:r>
              <a:rPr lang="en-US" altLang="zh-CN" sz="2400" dirty="0">
                <a:solidFill>
                  <a:srgbClr val="CC1000"/>
                </a:solidFill>
                <a:latin typeface="Seravek"/>
                <a:cs typeface="Calibri" panose="020F0502020204030204" pitchFamily="34" charset="0"/>
              </a:rPr>
              <a:t>mmWave Radar</a:t>
            </a:r>
            <a:endParaRPr lang="zh-CN" altLang="en-US" sz="2400" dirty="0">
              <a:solidFill>
                <a:srgbClr val="CC1000"/>
              </a:solidFill>
              <a:latin typeface="Seravek"/>
              <a:cs typeface="Calibri" panose="020F0502020204030204" pitchFamily="34" charset="0"/>
            </a:endParaRPr>
          </a:p>
        </p:txBody>
      </p:sp>
      <p:sp>
        <p:nvSpPr>
          <p:cNvPr id="13" name="矩形: 圆角 12">
            <a:extLst>
              <a:ext uri="{FF2B5EF4-FFF2-40B4-BE49-F238E27FC236}">
                <a16:creationId xmlns:a16="http://schemas.microsoft.com/office/drawing/2014/main" id="{BE9AC772-923A-2FF1-8EFB-E32072B5E9DF}"/>
              </a:ext>
            </a:extLst>
          </p:cNvPr>
          <p:cNvSpPr/>
          <p:nvPr/>
        </p:nvSpPr>
        <p:spPr>
          <a:xfrm>
            <a:off x="844289" y="1699771"/>
            <a:ext cx="1810632" cy="953730"/>
          </a:xfrm>
          <a:prstGeom prst="roundRect">
            <a:avLst/>
          </a:prstGeom>
          <a:noFill/>
          <a:ln w="28575">
            <a:solidFill>
              <a:srgbClr val="CC1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09853F45-6C87-A4C5-72E6-20CDE62F562D}"/>
              </a:ext>
            </a:extLst>
          </p:cNvPr>
          <p:cNvGrpSpPr/>
          <p:nvPr/>
        </p:nvGrpSpPr>
        <p:grpSpPr>
          <a:xfrm>
            <a:off x="3208271" y="1664877"/>
            <a:ext cx="2177188" cy="2278675"/>
            <a:chOff x="6156000" y="644599"/>
            <a:chExt cx="3046069" cy="3188058"/>
          </a:xfrm>
        </p:grpSpPr>
        <p:grpSp>
          <p:nvGrpSpPr>
            <p:cNvPr id="15" name="组合 14">
              <a:extLst>
                <a:ext uri="{FF2B5EF4-FFF2-40B4-BE49-F238E27FC236}">
                  <a16:creationId xmlns:a16="http://schemas.microsoft.com/office/drawing/2014/main" id="{E3497AF3-5651-F269-485D-A4A2E50154B2}"/>
                </a:ext>
              </a:extLst>
            </p:cNvPr>
            <p:cNvGrpSpPr/>
            <p:nvPr/>
          </p:nvGrpSpPr>
          <p:grpSpPr>
            <a:xfrm>
              <a:off x="6157381" y="644599"/>
              <a:ext cx="1735669" cy="1323902"/>
              <a:chOff x="6157381" y="644599"/>
              <a:chExt cx="1735669" cy="1323902"/>
            </a:xfrm>
          </p:grpSpPr>
          <p:sp>
            <p:nvSpPr>
              <p:cNvPr id="32" name="矩形 31">
                <a:extLst>
                  <a:ext uri="{FF2B5EF4-FFF2-40B4-BE49-F238E27FC236}">
                    <a16:creationId xmlns:a16="http://schemas.microsoft.com/office/drawing/2014/main" id="{C24B113C-2565-F215-4165-4F0FA0EFE455}"/>
                  </a:ext>
                </a:extLst>
              </p:cNvPr>
              <p:cNvSpPr/>
              <p:nvPr/>
            </p:nvSpPr>
            <p:spPr>
              <a:xfrm>
                <a:off x="6410324" y="673101"/>
                <a:ext cx="1196975" cy="1295400"/>
              </a:xfrm>
              <a:prstGeom prst="rect">
                <a:avLst/>
              </a:prstGeom>
              <a:solidFill>
                <a:srgbClr val="2C5296"/>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图片 32">
                <a:extLst>
                  <a:ext uri="{FF2B5EF4-FFF2-40B4-BE49-F238E27FC236}">
                    <a16:creationId xmlns:a16="http://schemas.microsoft.com/office/drawing/2014/main" id="{BEC7214E-FC02-7DB9-0CC9-A63DB2DAF43C}"/>
                  </a:ext>
                </a:extLst>
              </p:cNvPr>
              <p:cNvPicPr>
                <a:picLocks noChangeAspect="1"/>
              </p:cNvPicPr>
              <p:nvPr/>
            </p:nvPicPr>
            <p:blipFill>
              <a:blip r:embed="rId4"/>
              <a:stretch>
                <a:fillRect/>
              </a:stretch>
            </p:blipFill>
            <p:spPr>
              <a:xfrm>
                <a:off x="6468533" y="1046568"/>
                <a:ext cx="1074420" cy="877461"/>
              </a:xfrm>
              <a:prstGeom prst="rect">
                <a:avLst/>
              </a:prstGeom>
            </p:spPr>
          </p:pic>
          <p:sp>
            <p:nvSpPr>
              <p:cNvPr id="34" name="文本框 33">
                <a:extLst>
                  <a:ext uri="{FF2B5EF4-FFF2-40B4-BE49-F238E27FC236}">
                    <a16:creationId xmlns:a16="http://schemas.microsoft.com/office/drawing/2014/main" id="{DCFA1C58-DB42-E80A-DDFF-5B89D899BD56}"/>
                  </a:ext>
                </a:extLst>
              </p:cNvPr>
              <p:cNvSpPr txBox="1"/>
              <p:nvPr/>
            </p:nvSpPr>
            <p:spPr>
              <a:xfrm>
                <a:off x="6157381" y="644599"/>
                <a:ext cx="1735669" cy="473666"/>
              </a:xfrm>
              <a:prstGeom prst="rect">
                <a:avLst/>
              </a:prstGeom>
              <a:noFill/>
            </p:spPr>
            <p:txBody>
              <a:bodyPr wrap="square" rtlCol="0">
                <a:spAutoFit/>
              </a:bodyPr>
              <a:lstStyle/>
              <a:p>
                <a:pPr algn="ctr"/>
                <a:r>
                  <a:rPr lang="en-US" altLang="zh-CN" sz="1600" dirty="0">
                    <a:solidFill>
                      <a:schemeClr val="bg1"/>
                    </a:solidFill>
                    <a:latin typeface="Seravek"/>
                    <a:cs typeface="Calibri" panose="020F0502020204030204" pitchFamily="34" charset="0"/>
                  </a:rPr>
                  <a:t>Hovering</a:t>
                </a:r>
                <a:endParaRPr lang="zh-CN" altLang="en-US" dirty="0">
                  <a:solidFill>
                    <a:schemeClr val="bg1"/>
                  </a:solidFill>
                  <a:latin typeface="Seravek"/>
                  <a:cs typeface="Calibri" panose="020F0502020204030204" pitchFamily="34" charset="0"/>
                </a:endParaRPr>
              </a:p>
            </p:txBody>
          </p:sp>
        </p:grpSp>
        <p:grpSp>
          <p:nvGrpSpPr>
            <p:cNvPr id="16" name="组合 15">
              <a:extLst>
                <a:ext uri="{FF2B5EF4-FFF2-40B4-BE49-F238E27FC236}">
                  <a16:creationId xmlns:a16="http://schemas.microsoft.com/office/drawing/2014/main" id="{50CC7C0B-964A-821A-CACC-730055591834}"/>
                </a:ext>
              </a:extLst>
            </p:cNvPr>
            <p:cNvGrpSpPr/>
            <p:nvPr/>
          </p:nvGrpSpPr>
          <p:grpSpPr>
            <a:xfrm>
              <a:off x="7465482" y="650949"/>
              <a:ext cx="1699289" cy="1317551"/>
              <a:chOff x="7465482" y="650949"/>
              <a:chExt cx="1699289" cy="1317551"/>
            </a:xfrm>
          </p:grpSpPr>
          <p:sp>
            <p:nvSpPr>
              <p:cNvPr id="29" name="矩形 28">
                <a:extLst>
                  <a:ext uri="{FF2B5EF4-FFF2-40B4-BE49-F238E27FC236}">
                    <a16:creationId xmlns:a16="http://schemas.microsoft.com/office/drawing/2014/main" id="{A188CEDC-1E29-9007-46AD-0465112A9830}"/>
                  </a:ext>
                </a:extLst>
              </p:cNvPr>
              <p:cNvSpPr/>
              <p:nvPr/>
            </p:nvSpPr>
            <p:spPr>
              <a:xfrm>
                <a:off x="7718424" y="673100"/>
                <a:ext cx="1196975" cy="1295400"/>
              </a:xfrm>
              <a:prstGeom prst="rect">
                <a:avLst/>
              </a:prstGeom>
              <a:solidFill>
                <a:srgbClr val="2C5296"/>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94893C7A-4848-D424-1B75-E403187E1603}"/>
                  </a:ext>
                </a:extLst>
              </p:cNvPr>
              <p:cNvSpPr txBox="1"/>
              <p:nvPr/>
            </p:nvSpPr>
            <p:spPr>
              <a:xfrm>
                <a:off x="7465482" y="650949"/>
                <a:ext cx="1699289" cy="473665"/>
              </a:xfrm>
              <a:prstGeom prst="rect">
                <a:avLst/>
              </a:prstGeom>
              <a:noFill/>
            </p:spPr>
            <p:txBody>
              <a:bodyPr wrap="square" rtlCol="0">
                <a:spAutoFit/>
              </a:bodyPr>
              <a:lstStyle/>
              <a:p>
                <a:pPr algn="ctr"/>
                <a:r>
                  <a:rPr lang="en-US" altLang="zh-CN" sz="1600" dirty="0">
                    <a:solidFill>
                      <a:schemeClr val="bg1"/>
                    </a:solidFill>
                    <a:latin typeface="Seravek"/>
                    <a:cs typeface="Calibri" panose="020F0502020204030204" pitchFamily="34" charset="0"/>
                  </a:rPr>
                  <a:t>Horizontal</a:t>
                </a:r>
                <a:endParaRPr lang="zh-CN" altLang="en-US" dirty="0">
                  <a:solidFill>
                    <a:schemeClr val="bg1"/>
                  </a:solidFill>
                  <a:latin typeface="Seravek"/>
                  <a:cs typeface="Calibri" panose="020F0502020204030204" pitchFamily="34" charset="0"/>
                </a:endParaRPr>
              </a:p>
            </p:txBody>
          </p:sp>
          <p:pic>
            <p:nvPicPr>
              <p:cNvPr id="31" name="图片 30">
                <a:extLst>
                  <a:ext uri="{FF2B5EF4-FFF2-40B4-BE49-F238E27FC236}">
                    <a16:creationId xmlns:a16="http://schemas.microsoft.com/office/drawing/2014/main" id="{93B0ED95-5AD1-BC86-F261-F1DB8695A882}"/>
                  </a:ext>
                </a:extLst>
              </p:cNvPr>
              <p:cNvPicPr>
                <a:picLocks noChangeAspect="1"/>
              </p:cNvPicPr>
              <p:nvPr/>
            </p:nvPicPr>
            <p:blipFill>
              <a:blip r:embed="rId5"/>
              <a:stretch>
                <a:fillRect/>
              </a:stretch>
            </p:blipFill>
            <p:spPr>
              <a:xfrm>
                <a:off x="7776000" y="1047600"/>
                <a:ext cx="1074994" cy="878400"/>
              </a:xfrm>
              <a:prstGeom prst="rect">
                <a:avLst/>
              </a:prstGeom>
            </p:spPr>
          </p:pic>
        </p:grpSp>
        <p:grpSp>
          <p:nvGrpSpPr>
            <p:cNvPr id="17" name="组合 16">
              <a:extLst>
                <a:ext uri="{FF2B5EF4-FFF2-40B4-BE49-F238E27FC236}">
                  <a16:creationId xmlns:a16="http://schemas.microsoft.com/office/drawing/2014/main" id="{F499BB50-D867-DBF9-8B8F-CA402B02E65F}"/>
                </a:ext>
              </a:extLst>
            </p:cNvPr>
            <p:cNvGrpSpPr/>
            <p:nvPr/>
          </p:nvGrpSpPr>
          <p:grpSpPr>
            <a:xfrm>
              <a:off x="6156000" y="2508755"/>
              <a:ext cx="1735669" cy="1323902"/>
              <a:chOff x="6157381" y="644599"/>
              <a:chExt cx="1735669" cy="1323902"/>
            </a:xfrm>
          </p:grpSpPr>
          <p:sp>
            <p:nvSpPr>
              <p:cNvPr id="27" name="矩形 26">
                <a:extLst>
                  <a:ext uri="{FF2B5EF4-FFF2-40B4-BE49-F238E27FC236}">
                    <a16:creationId xmlns:a16="http://schemas.microsoft.com/office/drawing/2014/main" id="{18F91790-C895-2D8A-6458-E36F6BED22E0}"/>
                  </a:ext>
                </a:extLst>
              </p:cNvPr>
              <p:cNvSpPr/>
              <p:nvPr/>
            </p:nvSpPr>
            <p:spPr>
              <a:xfrm>
                <a:off x="6410324" y="673101"/>
                <a:ext cx="1196975" cy="1295400"/>
              </a:xfrm>
              <a:prstGeom prst="rect">
                <a:avLst/>
              </a:prstGeom>
              <a:solidFill>
                <a:srgbClr val="2C5296"/>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3AABE65F-25CF-4F27-1724-96794F66A7CF}"/>
                  </a:ext>
                </a:extLst>
              </p:cNvPr>
              <p:cNvSpPr txBox="1"/>
              <p:nvPr/>
            </p:nvSpPr>
            <p:spPr>
              <a:xfrm>
                <a:off x="6157381" y="644599"/>
                <a:ext cx="1735669" cy="473666"/>
              </a:xfrm>
              <a:prstGeom prst="rect">
                <a:avLst/>
              </a:prstGeom>
              <a:noFill/>
            </p:spPr>
            <p:txBody>
              <a:bodyPr wrap="square" rtlCol="0">
                <a:spAutoFit/>
              </a:bodyPr>
              <a:lstStyle/>
              <a:p>
                <a:pPr algn="ctr"/>
                <a:r>
                  <a:rPr lang="en-US" altLang="zh-CN" sz="1600" dirty="0">
                    <a:solidFill>
                      <a:schemeClr val="bg1"/>
                    </a:solidFill>
                    <a:latin typeface="Seravek"/>
                    <a:cs typeface="Calibri" panose="020F0502020204030204" pitchFamily="34" charset="0"/>
                  </a:rPr>
                  <a:t>Vertical</a:t>
                </a:r>
                <a:endParaRPr lang="zh-CN" altLang="en-US" dirty="0">
                  <a:solidFill>
                    <a:schemeClr val="bg1"/>
                  </a:solidFill>
                  <a:latin typeface="Seravek"/>
                  <a:cs typeface="Calibri" panose="020F0502020204030204" pitchFamily="34" charset="0"/>
                </a:endParaRPr>
              </a:p>
            </p:txBody>
          </p:sp>
        </p:grpSp>
        <p:grpSp>
          <p:nvGrpSpPr>
            <p:cNvPr id="18" name="组合 17">
              <a:extLst>
                <a:ext uri="{FF2B5EF4-FFF2-40B4-BE49-F238E27FC236}">
                  <a16:creationId xmlns:a16="http://schemas.microsoft.com/office/drawing/2014/main" id="{F39DC5D0-4B0B-E495-0BAD-3B8BE73762B8}"/>
                </a:ext>
              </a:extLst>
            </p:cNvPr>
            <p:cNvGrpSpPr/>
            <p:nvPr/>
          </p:nvGrpSpPr>
          <p:grpSpPr>
            <a:xfrm>
              <a:off x="7466400" y="2509890"/>
              <a:ext cx="1735669" cy="1317551"/>
              <a:chOff x="7465481" y="650949"/>
              <a:chExt cx="1735669" cy="1317551"/>
            </a:xfrm>
          </p:grpSpPr>
          <p:sp>
            <p:nvSpPr>
              <p:cNvPr id="25" name="矩形 24">
                <a:extLst>
                  <a:ext uri="{FF2B5EF4-FFF2-40B4-BE49-F238E27FC236}">
                    <a16:creationId xmlns:a16="http://schemas.microsoft.com/office/drawing/2014/main" id="{363D63AB-FDB0-7B2D-B043-7464D9F52AFF}"/>
                  </a:ext>
                </a:extLst>
              </p:cNvPr>
              <p:cNvSpPr/>
              <p:nvPr/>
            </p:nvSpPr>
            <p:spPr>
              <a:xfrm>
                <a:off x="7718424" y="673100"/>
                <a:ext cx="1196975" cy="1295400"/>
              </a:xfrm>
              <a:prstGeom prst="rect">
                <a:avLst/>
              </a:prstGeom>
              <a:solidFill>
                <a:srgbClr val="2C5296"/>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9649385A-EB7C-E724-33B1-B2DFCC63CEC8}"/>
                  </a:ext>
                </a:extLst>
              </p:cNvPr>
              <p:cNvSpPr txBox="1"/>
              <p:nvPr/>
            </p:nvSpPr>
            <p:spPr>
              <a:xfrm>
                <a:off x="7465481" y="650949"/>
                <a:ext cx="1735669" cy="473665"/>
              </a:xfrm>
              <a:prstGeom prst="rect">
                <a:avLst/>
              </a:prstGeom>
              <a:noFill/>
            </p:spPr>
            <p:txBody>
              <a:bodyPr wrap="square" rtlCol="0">
                <a:spAutoFit/>
              </a:bodyPr>
              <a:lstStyle/>
              <a:p>
                <a:pPr algn="ctr"/>
                <a:r>
                  <a:rPr lang="en-US" altLang="zh-CN" sz="1600" dirty="0">
                    <a:solidFill>
                      <a:schemeClr val="bg1"/>
                    </a:solidFill>
                    <a:latin typeface="Seravek"/>
                    <a:cs typeface="Calibri" panose="020F0502020204030204" pitchFamily="34" charset="0"/>
                  </a:rPr>
                  <a:t>Square</a:t>
                </a:r>
                <a:endParaRPr lang="zh-CN" altLang="en-US" dirty="0">
                  <a:solidFill>
                    <a:schemeClr val="bg1"/>
                  </a:solidFill>
                  <a:latin typeface="Seravek"/>
                  <a:cs typeface="Calibri" panose="020F0502020204030204" pitchFamily="34" charset="0"/>
                </a:endParaRPr>
              </a:p>
            </p:txBody>
          </p:sp>
        </p:grpSp>
        <p:pic>
          <p:nvPicPr>
            <p:cNvPr id="19" name="图片 18">
              <a:extLst>
                <a:ext uri="{FF2B5EF4-FFF2-40B4-BE49-F238E27FC236}">
                  <a16:creationId xmlns:a16="http://schemas.microsoft.com/office/drawing/2014/main" id="{5C967D69-C07C-8C29-437C-68166888BCE0}"/>
                </a:ext>
              </a:extLst>
            </p:cNvPr>
            <p:cNvPicPr>
              <a:picLocks noChangeAspect="1"/>
            </p:cNvPicPr>
            <p:nvPr/>
          </p:nvPicPr>
          <p:blipFill>
            <a:blip r:embed="rId6"/>
            <a:stretch>
              <a:fillRect/>
            </a:stretch>
          </p:blipFill>
          <p:spPr>
            <a:xfrm>
              <a:off x="7776000" y="2905200"/>
              <a:ext cx="1080223" cy="878400"/>
            </a:xfrm>
            <a:prstGeom prst="rect">
              <a:avLst/>
            </a:prstGeom>
          </p:spPr>
        </p:pic>
        <p:pic>
          <p:nvPicPr>
            <p:cNvPr id="20" name="图片 19">
              <a:extLst>
                <a:ext uri="{FF2B5EF4-FFF2-40B4-BE49-F238E27FC236}">
                  <a16:creationId xmlns:a16="http://schemas.microsoft.com/office/drawing/2014/main" id="{8B38D7B2-3F3B-288A-0EC5-32D5F66B63A4}"/>
                </a:ext>
              </a:extLst>
            </p:cNvPr>
            <p:cNvPicPr>
              <a:picLocks noChangeAspect="1"/>
            </p:cNvPicPr>
            <p:nvPr/>
          </p:nvPicPr>
          <p:blipFill>
            <a:blip r:embed="rId7"/>
            <a:stretch>
              <a:fillRect/>
            </a:stretch>
          </p:blipFill>
          <p:spPr>
            <a:xfrm>
              <a:off x="6465600" y="2912400"/>
              <a:ext cx="1077085" cy="878400"/>
            </a:xfrm>
            <a:prstGeom prst="rect">
              <a:avLst/>
            </a:prstGeom>
          </p:spPr>
        </p:pic>
        <p:sp>
          <p:nvSpPr>
            <p:cNvPr id="21" name="星形: 五角 20">
              <a:extLst>
                <a:ext uri="{FF2B5EF4-FFF2-40B4-BE49-F238E27FC236}">
                  <a16:creationId xmlns:a16="http://schemas.microsoft.com/office/drawing/2014/main" id="{CCB79992-58BC-2CA1-1462-F14C394E59F3}"/>
                </a:ext>
              </a:extLst>
            </p:cNvPr>
            <p:cNvSpPr/>
            <p:nvPr/>
          </p:nvSpPr>
          <p:spPr>
            <a:xfrm>
              <a:off x="6572250" y="2186517"/>
              <a:ext cx="130175" cy="141287"/>
            </a:xfrm>
            <a:prstGeom prst="star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770AE438-4240-7F54-BA71-8822FF17548F}"/>
                </a:ext>
              </a:extLst>
            </p:cNvPr>
            <p:cNvSpPr txBox="1"/>
            <p:nvPr/>
          </p:nvSpPr>
          <p:spPr>
            <a:xfrm>
              <a:off x="6501854" y="2025832"/>
              <a:ext cx="1303578" cy="516727"/>
            </a:xfrm>
            <a:prstGeom prst="rect">
              <a:avLst/>
            </a:prstGeom>
            <a:noFill/>
          </p:spPr>
          <p:txBody>
            <a:bodyPr wrap="square" rtlCol="0">
              <a:spAutoFit/>
            </a:bodyPr>
            <a:lstStyle/>
            <a:p>
              <a:pPr algn="ctr"/>
              <a:r>
                <a:rPr lang="en-US" altLang="zh-CN" dirty="0">
                  <a:latin typeface="Calibri" panose="020F0502020204030204" pitchFamily="34" charset="0"/>
                  <a:cs typeface="Calibri" panose="020F0502020204030204" pitchFamily="34" charset="0"/>
                </a:rPr>
                <a:t>Radar</a:t>
              </a:r>
              <a:endParaRPr lang="zh-CN" altLang="en-US" sz="2000" dirty="0">
                <a:latin typeface="Calibri" panose="020F0502020204030204" pitchFamily="34" charset="0"/>
                <a:cs typeface="Calibri" panose="020F0502020204030204" pitchFamily="34" charset="0"/>
              </a:endParaRPr>
            </a:p>
          </p:txBody>
        </p:sp>
        <p:cxnSp>
          <p:nvCxnSpPr>
            <p:cNvPr id="23" name="直接箭头连接符 22">
              <a:extLst>
                <a:ext uri="{FF2B5EF4-FFF2-40B4-BE49-F238E27FC236}">
                  <a16:creationId xmlns:a16="http://schemas.microsoft.com/office/drawing/2014/main" id="{A1D457F2-0E74-E599-A462-1933B826F157}"/>
                </a:ext>
              </a:extLst>
            </p:cNvPr>
            <p:cNvCxnSpPr/>
            <p:nvPr/>
          </p:nvCxnSpPr>
          <p:spPr>
            <a:xfrm>
              <a:off x="7604760" y="2241550"/>
              <a:ext cx="254000" cy="0"/>
            </a:xfrm>
            <a:prstGeom prst="straightConnector1">
              <a:avLst/>
            </a:prstGeom>
            <a:ln w="28575">
              <a:solidFill>
                <a:schemeClr val="accent1">
                  <a:lumMod val="75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7416D3AB-F402-0A6C-BCA9-376A6C1DB22A}"/>
                </a:ext>
              </a:extLst>
            </p:cNvPr>
            <p:cNvSpPr txBox="1"/>
            <p:nvPr/>
          </p:nvSpPr>
          <p:spPr>
            <a:xfrm>
              <a:off x="7797375" y="2052183"/>
              <a:ext cx="1282682" cy="430606"/>
            </a:xfrm>
            <a:prstGeom prst="rect">
              <a:avLst/>
            </a:prstGeom>
            <a:noFill/>
          </p:spPr>
          <p:txBody>
            <a:bodyPr wrap="square" rtlCol="0">
              <a:spAutoFit/>
            </a:bodyPr>
            <a:lstStyle/>
            <a:p>
              <a:pPr algn="ctr"/>
              <a:r>
                <a:rPr lang="en-US" altLang="zh-CN" sz="1400" dirty="0">
                  <a:latin typeface="Calibri" panose="020F0502020204030204" pitchFamily="34" charset="0"/>
                  <a:cs typeface="Calibri" panose="020F0502020204030204" pitchFamily="34" charset="0"/>
                </a:rPr>
                <a:t>Trajectory</a:t>
              </a:r>
              <a:endParaRPr lang="zh-CN" altLang="en-US" sz="1600" dirty="0">
                <a:latin typeface="Calibri" panose="020F0502020204030204" pitchFamily="34" charset="0"/>
                <a:cs typeface="Calibri" panose="020F0502020204030204" pitchFamily="34" charset="0"/>
              </a:endParaRPr>
            </a:p>
          </p:txBody>
        </p:sp>
      </p:grpSp>
      <p:sp>
        <p:nvSpPr>
          <p:cNvPr id="35" name="文本框 34">
            <a:extLst>
              <a:ext uri="{FF2B5EF4-FFF2-40B4-BE49-F238E27FC236}">
                <a16:creationId xmlns:a16="http://schemas.microsoft.com/office/drawing/2014/main" id="{0B88CD16-5BC3-CA53-64B7-86A5A58745A8}"/>
              </a:ext>
            </a:extLst>
          </p:cNvPr>
          <p:cNvSpPr txBox="1"/>
          <p:nvPr/>
        </p:nvSpPr>
        <p:spPr>
          <a:xfrm>
            <a:off x="824320" y="2724863"/>
            <a:ext cx="1809421" cy="461665"/>
          </a:xfrm>
          <a:prstGeom prst="rect">
            <a:avLst/>
          </a:prstGeom>
          <a:solidFill>
            <a:schemeClr val="bg1">
              <a:alpha val="40000"/>
            </a:schemeClr>
          </a:solidFill>
        </p:spPr>
        <p:txBody>
          <a:bodyPr wrap="square" rtlCol="0">
            <a:spAutoFit/>
          </a:bodyPr>
          <a:lstStyle/>
          <a:p>
            <a:pPr algn="ctr"/>
            <a:r>
              <a:rPr lang="en-US" altLang="zh-CN" sz="2400" dirty="0">
                <a:solidFill>
                  <a:srgbClr val="CC1000"/>
                </a:solidFill>
                <a:latin typeface="Seravek"/>
                <a:cs typeface="Calibri" panose="020F0502020204030204" pitchFamily="34" charset="0"/>
              </a:rPr>
              <a:t>Six-wing UAV</a:t>
            </a:r>
            <a:endParaRPr lang="zh-CN" altLang="en-US" sz="2400" dirty="0">
              <a:solidFill>
                <a:srgbClr val="CC1000"/>
              </a:solidFill>
              <a:latin typeface="Seravek"/>
              <a:cs typeface="Calibri" panose="020F0502020204030204" pitchFamily="34" charset="0"/>
            </a:endParaRPr>
          </a:p>
        </p:txBody>
      </p:sp>
      <p:sp>
        <p:nvSpPr>
          <p:cNvPr id="36" name="对话气泡: 矩形 35">
            <a:extLst>
              <a:ext uri="{FF2B5EF4-FFF2-40B4-BE49-F238E27FC236}">
                <a16:creationId xmlns:a16="http://schemas.microsoft.com/office/drawing/2014/main" id="{C4448790-7B63-6E74-DB9F-AB109525D9AD}"/>
              </a:ext>
            </a:extLst>
          </p:cNvPr>
          <p:cNvSpPr/>
          <p:nvPr/>
        </p:nvSpPr>
        <p:spPr>
          <a:xfrm>
            <a:off x="2499850" y="5046144"/>
            <a:ext cx="1030281" cy="767037"/>
          </a:xfrm>
          <a:prstGeom prst="wedgeRectCallout">
            <a:avLst>
              <a:gd name="adj1" fmla="val 88670"/>
              <a:gd name="adj2" fmla="val 944"/>
            </a:avLst>
          </a:prstGeom>
          <a:solidFill>
            <a:schemeClr val="bg1"/>
          </a:solidFill>
          <a:ln w="38100">
            <a:solidFill>
              <a:srgbClr val="CC1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图片 36">
            <a:extLst>
              <a:ext uri="{FF2B5EF4-FFF2-40B4-BE49-F238E27FC236}">
                <a16:creationId xmlns:a16="http://schemas.microsoft.com/office/drawing/2014/main" id="{4C2C7A23-3D4A-A8FD-8524-DDC6A661BF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2637809" y="4922783"/>
            <a:ext cx="758585" cy="1011051"/>
          </a:xfrm>
          <a:prstGeom prst="rect">
            <a:avLst/>
          </a:prstGeom>
        </p:spPr>
      </p:pic>
      <p:sp>
        <p:nvSpPr>
          <p:cNvPr id="38" name="矩形: 圆角 37">
            <a:extLst>
              <a:ext uri="{FF2B5EF4-FFF2-40B4-BE49-F238E27FC236}">
                <a16:creationId xmlns:a16="http://schemas.microsoft.com/office/drawing/2014/main" id="{D0E7D463-6307-B132-D297-089993FE3E55}"/>
              </a:ext>
            </a:extLst>
          </p:cNvPr>
          <p:cNvSpPr/>
          <p:nvPr/>
        </p:nvSpPr>
        <p:spPr>
          <a:xfrm>
            <a:off x="4233173" y="4970649"/>
            <a:ext cx="542221" cy="363095"/>
          </a:xfrm>
          <a:prstGeom prst="roundRect">
            <a:avLst/>
          </a:prstGeom>
          <a:noFill/>
          <a:ln w="28575">
            <a:solidFill>
              <a:srgbClr val="CC1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8028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3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500"/>
                                        <p:tgtEl>
                                          <p:spTgt spid="7">
                                            <p:txEl>
                                              <p:pRg st="4" end="4"/>
                                            </p:txEl>
                                          </p:spTgt>
                                        </p:tgtEl>
                                      </p:cBhvr>
                                    </p:animEffect>
                                  </p:childTnLst>
                                </p:cTn>
                              </p:par>
                              <p:par>
                                <p:cTn id="30" presetID="1"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
                                            <p:txEl>
                                              <p:pRg st="6" end="6"/>
                                            </p:txEl>
                                          </p:spTgt>
                                        </p:tgtEl>
                                        <p:attrNameLst>
                                          <p:attrName>style.visibility</p:attrName>
                                        </p:attrNameLst>
                                      </p:cBhvr>
                                      <p:to>
                                        <p:strVal val="visible"/>
                                      </p:to>
                                    </p:set>
                                    <p:animEffect transition="in" filter="fade">
                                      <p:cBhvr>
                                        <p:cTn id="36"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35" grpId="0" animBg="1"/>
      <p:bldP spid="36" grpId="0" animBg="1"/>
      <p:bldP spid="3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Overall performance</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9" name="TextBox 10">
            <a:extLst>
              <a:ext uri="{FF2B5EF4-FFF2-40B4-BE49-F238E27FC236}">
                <a16:creationId xmlns:a16="http://schemas.microsoft.com/office/drawing/2014/main" id="{6B8B67B6-D789-D0D9-2C9C-9F1D10231ED8}"/>
              </a:ext>
            </a:extLst>
          </p:cNvPr>
          <p:cNvSpPr txBox="1"/>
          <p:nvPr/>
        </p:nvSpPr>
        <p:spPr>
          <a:xfrm>
            <a:off x="346510" y="5165079"/>
            <a:ext cx="11319310" cy="1191816"/>
          </a:xfrm>
          <a:prstGeom prst="roundRect">
            <a:avLst/>
          </a:prstGeom>
          <a:solidFill>
            <a:srgbClr val="0D0D0D">
              <a:alpha val="80000"/>
            </a:srgbClr>
          </a:solidFill>
        </p:spPr>
        <p:txBody>
          <a:bodyPr wrap="square" rtlCol="0">
            <a:spAutoFit/>
          </a:bodyPr>
          <a:lstStyle/>
          <a:p>
            <a:pPr algn="ctr"/>
            <a:r>
              <a:rPr lang="en-US" altLang="zh-CN" sz="3200" dirty="0" err="1">
                <a:solidFill>
                  <a:schemeClr val="bg1"/>
                </a:solidFill>
                <a:latin typeface="Seravek" charset="0"/>
                <a:ea typeface="Seravek" charset="0"/>
                <a:cs typeface="Seravek" charset="0"/>
              </a:rPr>
              <a:t>mmHawkeye</a:t>
            </a:r>
            <a:r>
              <a:rPr lang="en-US" altLang="zh-CN" sz="3200" dirty="0">
                <a:solidFill>
                  <a:schemeClr val="bg1"/>
                </a:solidFill>
                <a:latin typeface="Seravek" charset="0"/>
                <a:ea typeface="Seravek" charset="0"/>
                <a:cs typeface="Seravek" charset="0"/>
              </a:rPr>
              <a:t> achieves an UAV detection accuracy of </a:t>
            </a:r>
            <a:r>
              <a:rPr lang="en-US" altLang="zh-CN" sz="3200" dirty="0">
                <a:solidFill>
                  <a:srgbClr val="92D050"/>
                </a:solidFill>
                <a:latin typeface="Seravek" charset="0"/>
              </a:rPr>
              <a:t>95.8%</a:t>
            </a:r>
            <a:r>
              <a:rPr lang="en-US" altLang="zh-CN" sz="3200" dirty="0">
                <a:solidFill>
                  <a:schemeClr val="bg1"/>
                </a:solidFill>
                <a:latin typeface="Seravek" charset="0"/>
                <a:ea typeface="Seravek" charset="0"/>
                <a:cs typeface="Seravek" charset="0"/>
              </a:rPr>
              <a:t> and a relative range error of </a:t>
            </a:r>
            <a:r>
              <a:rPr lang="en-US" altLang="zh-CN" sz="3200" dirty="0">
                <a:solidFill>
                  <a:srgbClr val="92D050"/>
                </a:solidFill>
                <a:latin typeface="Seravek" charset="0"/>
              </a:rPr>
              <a:t>0.9%</a:t>
            </a:r>
            <a:r>
              <a:rPr lang="en-US" altLang="zh-CN" sz="3200" dirty="0">
                <a:solidFill>
                  <a:schemeClr val="bg1"/>
                </a:solidFill>
                <a:latin typeface="Seravek" charset="0"/>
                <a:ea typeface="Seravek" charset="0"/>
                <a:cs typeface="Seravek" charset="0"/>
              </a:rPr>
              <a:t> at a detection range up to </a:t>
            </a:r>
            <a:r>
              <a:rPr lang="en-US" altLang="zh-CN" sz="3200" dirty="0">
                <a:solidFill>
                  <a:srgbClr val="92D050"/>
                </a:solidFill>
                <a:latin typeface="Seravek" charset="0"/>
              </a:rPr>
              <a:t>80m</a:t>
            </a:r>
            <a:r>
              <a:rPr lang="en-US" altLang="zh-CN" sz="3200" dirty="0">
                <a:solidFill>
                  <a:schemeClr val="bg1"/>
                </a:solidFill>
                <a:latin typeface="Seravek" charset="0"/>
                <a:ea typeface="Seravek" charset="0"/>
                <a:cs typeface="Seravek" charset="0"/>
              </a:rPr>
              <a:t>.</a:t>
            </a:r>
            <a:endParaRPr lang="en-US" altLang="zh-CN" sz="3200" dirty="0">
              <a:solidFill>
                <a:srgbClr val="92D050"/>
              </a:solidFill>
              <a:latin typeface="Seravek" charset="0"/>
              <a:ea typeface="Seravek" charset="0"/>
              <a:cs typeface="Seravek" charset="0"/>
            </a:endParaRPr>
          </a:p>
        </p:txBody>
      </p:sp>
      <p:sp>
        <p:nvSpPr>
          <p:cNvPr id="13" name="文本框 12">
            <a:extLst>
              <a:ext uri="{FF2B5EF4-FFF2-40B4-BE49-F238E27FC236}">
                <a16:creationId xmlns:a16="http://schemas.microsoft.com/office/drawing/2014/main" id="{D6BEE5C3-581D-8A13-D558-E2D72188ECF7}"/>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14/18</a:t>
            </a:r>
            <a:endParaRPr lang="zh-CN" altLang="en-US" sz="2000" b="1" dirty="0">
              <a:solidFill>
                <a:srgbClr val="757575"/>
              </a:solidFill>
              <a:latin typeface="Seravek"/>
            </a:endParaRPr>
          </a:p>
        </p:txBody>
      </p:sp>
      <p:pic>
        <p:nvPicPr>
          <p:cNvPr id="10" name="图片 9">
            <a:extLst>
              <a:ext uri="{FF2B5EF4-FFF2-40B4-BE49-F238E27FC236}">
                <a16:creationId xmlns:a16="http://schemas.microsoft.com/office/drawing/2014/main" id="{000B346C-2D73-1430-5FDE-CFC7215C8A15}"/>
              </a:ext>
            </a:extLst>
          </p:cNvPr>
          <p:cNvPicPr>
            <a:picLocks noChangeAspect="1"/>
          </p:cNvPicPr>
          <p:nvPr/>
        </p:nvPicPr>
        <p:blipFill>
          <a:blip r:embed="rId3"/>
          <a:stretch>
            <a:fillRect/>
          </a:stretch>
        </p:blipFill>
        <p:spPr>
          <a:xfrm>
            <a:off x="910929" y="1534602"/>
            <a:ext cx="10370142" cy="3515941"/>
          </a:xfrm>
          <a:prstGeom prst="rect">
            <a:avLst/>
          </a:prstGeom>
        </p:spPr>
      </p:pic>
    </p:spTree>
    <p:extLst>
      <p:ext uri="{BB962C8B-B14F-4D97-AF65-F5344CB8AC3E}">
        <p14:creationId xmlns:p14="http://schemas.microsoft.com/office/powerpoint/2010/main" val="1521765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Accuracy </a:t>
            </a:r>
            <a:r>
              <a:rPr lang="en-US" altLang="zh-CN" sz="3200" dirty="0" err="1">
                <a:solidFill>
                  <a:schemeClr val="bg1"/>
                </a:solidFill>
                <a:latin typeface="Arial" panose="020B0604020202020204" pitchFamily="34" charset="0"/>
                <a:ea typeface="Sathu" charset="-34"/>
                <a:cs typeface="Arial" panose="020B0604020202020204" pitchFamily="34" charset="0"/>
              </a:rPr>
              <a:t>v.s</a:t>
            </a:r>
            <a:r>
              <a:rPr lang="en-US" altLang="zh-CN" sz="3200" dirty="0">
                <a:solidFill>
                  <a:schemeClr val="bg1"/>
                </a:solidFill>
                <a:latin typeface="Arial" panose="020B0604020202020204" pitchFamily="34" charset="0"/>
                <a:ea typeface="Sathu" charset="-34"/>
                <a:cs typeface="Arial" panose="020B0604020202020204" pitchFamily="34" charset="0"/>
              </a:rPr>
              <a:t>. trajectory</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10" name="TextBox 10">
            <a:extLst>
              <a:ext uri="{FF2B5EF4-FFF2-40B4-BE49-F238E27FC236}">
                <a16:creationId xmlns:a16="http://schemas.microsoft.com/office/drawing/2014/main" id="{C94188E8-A70A-7718-8576-847A75F78A0E}"/>
              </a:ext>
            </a:extLst>
          </p:cNvPr>
          <p:cNvSpPr txBox="1"/>
          <p:nvPr/>
        </p:nvSpPr>
        <p:spPr>
          <a:xfrm>
            <a:off x="491171" y="5385981"/>
            <a:ext cx="11209658" cy="715089"/>
          </a:xfrm>
          <a:prstGeom prst="roundRect">
            <a:avLst/>
          </a:prstGeom>
          <a:solidFill>
            <a:srgbClr val="0D0D0D">
              <a:alpha val="80000"/>
            </a:srgbClr>
          </a:solidFill>
        </p:spPr>
        <p:txBody>
          <a:bodyPr wrap="square" rtlCol="0">
            <a:spAutoFit/>
          </a:bodyPr>
          <a:lstStyle/>
          <a:p>
            <a:pPr algn="ctr"/>
            <a:r>
              <a:rPr lang="en-US" altLang="zh-CN" sz="3600" dirty="0" err="1">
                <a:solidFill>
                  <a:schemeClr val="bg1"/>
                </a:solidFill>
                <a:latin typeface="Seravek" charset="0"/>
                <a:ea typeface="Seravek" charset="0"/>
                <a:cs typeface="Seravek" charset="0"/>
              </a:rPr>
              <a:t>mmHawkeye</a:t>
            </a:r>
            <a:r>
              <a:rPr lang="en-US" altLang="zh-CN" sz="3600" dirty="0">
                <a:solidFill>
                  <a:schemeClr val="bg1"/>
                </a:solidFill>
                <a:latin typeface="Seravek" charset="0"/>
                <a:ea typeface="Seravek" charset="0"/>
                <a:cs typeface="Seravek" charset="0"/>
              </a:rPr>
              <a:t> works well with different UAV trajectories.</a:t>
            </a:r>
            <a:endParaRPr lang="en-US" altLang="zh-CN" sz="3600" dirty="0">
              <a:solidFill>
                <a:srgbClr val="92D050"/>
              </a:solidFill>
              <a:latin typeface="Seravek" charset="0"/>
              <a:ea typeface="Seravek" charset="0"/>
              <a:cs typeface="Seravek" charset="0"/>
            </a:endParaRPr>
          </a:p>
        </p:txBody>
      </p:sp>
      <p:sp>
        <p:nvSpPr>
          <p:cNvPr id="12" name="文本框 11">
            <a:extLst>
              <a:ext uri="{FF2B5EF4-FFF2-40B4-BE49-F238E27FC236}">
                <a16:creationId xmlns:a16="http://schemas.microsoft.com/office/drawing/2014/main" id="{8F216259-3CD6-17F9-FBFF-E559209A8F59}"/>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15/18</a:t>
            </a:r>
            <a:endParaRPr lang="zh-CN" altLang="en-US" sz="2000" b="1" dirty="0">
              <a:solidFill>
                <a:srgbClr val="757575"/>
              </a:solidFill>
              <a:latin typeface="Seravek"/>
            </a:endParaRPr>
          </a:p>
        </p:txBody>
      </p:sp>
      <p:pic>
        <p:nvPicPr>
          <p:cNvPr id="13" name="图片 12">
            <a:extLst>
              <a:ext uri="{FF2B5EF4-FFF2-40B4-BE49-F238E27FC236}">
                <a16:creationId xmlns:a16="http://schemas.microsoft.com/office/drawing/2014/main" id="{8A880926-E44F-04A7-D812-2F679471401C}"/>
              </a:ext>
            </a:extLst>
          </p:cNvPr>
          <p:cNvPicPr>
            <a:picLocks noChangeAspect="1"/>
          </p:cNvPicPr>
          <p:nvPr/>
        </p:nvPicPr>
        <p:blipFill>
          <a:blip r:embed="rId3"/>
          <a:stretch>
            <a:fillRect/>
          </a:stretch>
        </p:blipFill>
        <p:spPr>
          <a:xfrm>
            <a:off x="914400" y="1533600"/>
            <a:ext cx="10413978" cy="3500134"/>
          </a:xfrm>
          <a:prstGeom prst="rect">
            <a:avLst/>
          </a:prstGeom>
        </p:spPr>
      </p:pic>
    </p:spTree>
    <p:extLst>
      <p:ext uri="{BB962C8B-B14F-4D97-AF65-F5344CB8AC3E}">
        <p14:creationId xmlns:p14="http://schemas.microsoft.com/office/powerpoint/2010/main" val="1434689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Accuracy </a:t>
            </a:r>
            <a:r>
              <a:rPr lang="en-US" altLang="zh-CN" sz="3200" dirty="0" err="1">
                <a:solidFill>
                  <a:schemeClr val="bg1"/>
                </a:solidFill>
                <a:latin typeface="Arial" panose="020B0604020202020204" pitchFamily="34" charset="0"/>
                <a:ea typeface="Sathu" charset="-34"/>
                <a:cs typeface="Arial" panose="020B0604020202020204" pitchFamily="34" charset="0"/>
              </a:rPr>
              <a:t>v.s</a:t>
            </a:r>
            <a:r>
              <a:rPr lang="en-US" altLang="zh-CN" sz="3200" dirty="0">
                <a:solidFill>
                  <a:schemeClr val="bg1"/>
                </a:solidFill>
                <a:latin typeface="Arial" panose="020B0604020202020204" pitchFamily="34" charset="0"/>
                <a:ea typeface="Sathu" charset="-34"/>
                <a:cs typeface="Arial" panose="020B0604020202020204" pitchFamily="34" charset="0"/>
              </a:rPr>
              <a:t>. velocity</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11" name="文本框 10">
            <a:extLst>
              <a:ext uri="{FF2B5EF4-FFF2-40B4-BE49-F238E27FC236}">
                <a16:creationId xmlns:a16="http://schemas.microsoft.com/office/drawing/2014/main" id="{48D2296E-C15E-16DE-7077-F6BD3046EA61}"/>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16/18</a:t>
            </a:r>
            <a:endParaRPr lang="zh-CN" altLang="en-US" sz="2000" b="1" dirty="0">
              <a:solidFill>
                <a:srgbClr val="757575"/>
              </a:solidFill>
              <a:latin typeface="Seravek"/>
            </a:endParaRPr>
          </a:p>
        </p:txBody>
      </p:sp>
      <p:pic>
        <p:nvPicPr>
          <p:cNvPr id="6" name="图片 5">
            <a:extLst>
              <a:ext uri="{FF2B5EF4-FFF2-40B4-BE49-F238E27FC236}">
                <a16:creationId xmlns:a16="http://schemas.microsoft.com/office/drawing/2014/main" id="{92609069-55EC-E446-6F25-7953E05CE6DE}"/>
              </a:ext>
            </a:extLst>
          </p:cNvPr>
          <p:cNvPicPr>
            <a:picLocks noChangeAspect="1"/>
          </p:cNvPicPr>
          <p:nvPr/>
        </p:nvPicPr>
        <p:blipFill>
          <a:blip r:embed="rId3"/>
          <a:stretch>
            <a:fillRect/>
          </a:stretch>
        </p:blipFill>
        <p:spPr>
          <a:xfrm>
            <a:off x="887960" y="1535489"/>
            <a:ext cx="10352472" cy="3499200"/>
          </a:xfrm>
          <a:prstGeom prst="rect">
            <a:avLst/>
          </a:prstGeom>
        </p:spPr>
      </p:pic>
      <p:sp>
        <p:nvSpPr>
          <p:cNvPr id="13" name="TextBox 10">
            <a:extLst>
              <a:ext uri="{FF2B5EF4-FFF2-40B4-BE49-F238E27FC236}">
                <a16:creationId xmlns:a16="http://schemas.microsoft.com/office/drawing/2014/main" id="{B3E240AB-7CE8-7AF3-5F15-2852927475D5}"/>
              </a:ext>
            </a:extLst>
          </p:cNvPr>
          <p:cNvSpPr txBox="1"/>
          <p:nvPr/>
        </p:nvSpPr>
        <p:spPr>
          <a:xfrm>
            <a:off x="282531" y="5385981"/>
            <a:ext cx="11626938" cy="715089"/>
          </a:xfrm>
          <a:prstGeom prst="roundRect">
            <a:avLst/>
          </a:prstGeom>
          <a:solidFill>
            <a:srgbClr val="0D0D0D">
              <a:alpha val="80000"/>
            </a:srgbClr>
          </a:solidFill>
        </p:spPr>
        <p:txBody>
          <a:bodyPr wrap="square" rtlCol="0">
            <a:spAutoFit/>
          </a:bodyPr>
          <a:lstStyle/>
          <a:p>
            <a:pPr algn="ctr"/>
            <a:r>
              <a:rPr lang="en-US" altLang="zh-CN" sz="3600" dirty="0" err="1">
                <a:solidFill>
                  <a:schemeClr val="bg1"/>
                </a:solidFill>
                <a:latin typeface="Seravek" charset="0"/>
                <a:ea typeface="Seravek" charset="0"/>
                <a:cs typeface="Seravek" charset="0"/>
              </a:rPr>
              <a:t>mmHawkeye</a:t>
            </a:r>
            <a:r>
              <a:rPr lang="en-US" altLang="zh-CN" sz="3600" dirty="0">
                <a:solidFill>
                  <a:schemeClr val="bg1"/>
                </a:solidFill>
                <a:latin typeface="Seravek" charset="0"/>
                <a:ea typeface="Seravek" charset="0"/>
                <a:cs typeface="Seravek" charset="0"/>
              </a:rPr>
              <a:t> is indeed applicable with various UAV velocities.</a:t>
            </a:r>
            <a:endParaRPr lang="en-US" altLang="zh-CN" sz="3600" dirty="0">
              <a:solidFill>
                <a:srgbClr val="92D050"/>
              </a:solidFill>
              <a:latin typeface="Seravek" charset="0"/>
              <a:ea typeface="Seravek" charset="0"/>
              <a:cs typeface="Seravek" charset="0"/>
            </a:endParaRPr>
          </a:p>
        </p:txBody>
      </p:sp>
    </p:spTree>
    <p:extLst>
      <p:ext uri="{BB962C8B-B14F-4D97-AF65-F5344CB8AC3E}">
        <p14:creationId xmlns:p14="http://schemas.microsoft.com/office/powerpoint/2010/main" val="307007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83509" y="1847554"/>
            <a:ext cx="3997374" cy="523220"/>
          </a:xfrm>
          <a:prstGeom prst="rect">
            <a:avLst/>
          </a:prstGeom>
        </p:spPr>
        <p:txBody>
          <a:bodyPr wrap="square">
            <a:spAutoFit/>
          </a:bodyPr>
          <a:lstStyle/>
          <a:p>
            <a:pPr marL="457200" indent="-457200">
              <a:buFont typeface="Wingdings" panose="05000000000000000000" pitchFamily="2" charset="2"/>
              <a:buChar char="l"/>
            </a:pPr>
            <a:r>
              <a:rPr lang="en-US" altLang="zh-CN" sz="2800" dirty="0">
                <a:latin typeface="Seravek" charset="0"/>
              </a:rPr>
              <a:t>Multi-UAV detection</a:t>
            </a:r>
            <a:endParaRPr lang="zh-CN" altLang="en-US" sz="2800" dirty="0">
              <a:latin typeface="Seravek" charset="0"/>
              <a:ea typeface="Seravek" charset="0"/>
              <a:cs typeface="Seravek" charset="0"/>
            </a:endParaRPr>
          </a:p>
        </p:txBody>
      </p:sp>
      <p:sp>
        <p:nvSpPr>
          <p:cNvPr id="7" name="矩形 6"/>
          <p:cNvSpPr/>
          <p:nvPr/>
        </p:nvSpPr>
        <p:spPr>
          <a:xfrm>
            <a:off x="6657373" y="1813320"/>
            <a:ext cx="4013277" cy="523220"/>
          </a:xfrm>
          <a:prstGeom prst="rect">
            <a:avLst/>
          </a:prstGeom>
        </p:spPr>
        <p:txBody>
          <a:bodyPr wrap="square">
            <a:spAutoFit/>
          </a:bodyPr>
          <a:lstStyle/>
          <a:p>
            <a:pPr marL="457200" indent="-457200">
              <a:buFont typeface="Wingdings" panose="05000000000000000000" pitchFamily="2" charset="2"/>
              <a:buChar char="l"/>
            </a:pPr>
            <a:r>
              <a:rPr lang="en-US" altLang="zh-CN" sz="2800" dirty="0">
                <a:latin typeface="Seravek" charset="0"/>
                <a:ea typeface="Seravek" charset="0"/>
                <a:cs typeface="Seravek" charset="0"/>
              </a:rPr>
              <a:t>Short-range detection</a:t>
            </a:r>
            <a:endParaRPr lang="zh-CN" altLang="en-US" sz="2800" dirty="0">
              <a:latin typeface="Seravek" charset="0"/>
            </a:endParaRPr>
          </a:p>
        </p:txBody>
      </p:sp>
      <p:sp>
        <p:nvSpPr>
          <p:cNvPr id="6" name="Title 1"/>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defPPr>
              <a:defRPr lang="zh-CN"/>
            </a:defPPr>
            <a:lvl1pPr algn="ctr">
              <a:spcBef>
                <a:spcPct val="0"/>
              </a:spcBef>
              <a:buNone/>
              <a:defRPr sz="4400">
                <a:solidFill>
                  <a:schemeClr val="bg1"/>
                </a:solidFill>
                <a:latin typeface="Sathu" charset="-34"/>
                <a:ea typeface="Sathu" charset="-34"/>
                <a:cs typeface="Sathu" charset="-34"/>
              </a:defRPr>
            </a:lvl1pPr>
          </a:lstStyle>
          <a:p>
            <a:r>
              <a:rPr lang="en-US" altLang="zh-CN" dirty="0"/>
              <a:t>Future work</a:t>
            </a:r>
            <a:endParaRPr lang="zh-CN" altLang="en-US" dirty="0"/>
          </a:p>
        </p:txBody>
      </p:sp>
      <p:sp>
        <p:nvSpPr>
          <p:cNvPr id="3" name="文本框 2">
            <a:extLst>
              <a:ext uri="{FF2B5EF4-FFF2-40B4-BE49-F238E27FC236}">
                <a16:creationId xmlns:a16="http://schemas.microsoft.com/office/drawing/2014/main" id="{FA3ACB8D-7C1A-6212-4B7F-C2F6B7EC9946}"/>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17/18</a:t>
            </a:r>
            <a:endParaRPr lang="zh-CN" altLang="en-US" sz="2000" b="1" dirty="0">
              <a:solidFill>
                <a:srgbClr val="757575"/>
              </a:solidFill>
              <a:latin typeface="Seravek"/>
            </a:endParaRPr>
          </a:p>
        </p:txBody>
      </p:sp>
      <p:pic>
        <p:nvPicPr>
          <p:cNvPr id="5" name="图片 4">
            <a:extLst>
              <a:ext uri="{FF2B5EF4-FFF2-40B4-BE49-F238E27FC236}">
                <a16:creationId xmlns:a16="http://schemas.microsoft.com/office/drawing/2014/main" id="{58272F7A-9260-785C-E42F-CF88CD70EF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6907" y="2743598"/>
            <a:ext cx="3535680" cy="2340864"/>
          </a:xfrm>
          <a:prstGeom prst="rect">
            <a:avLst/>
          </a:prstGeom>
        </p:spPr>
      </p:pic>
      <p:pic>
        <p:nvPicPr>
          <p:cNvPr id="10" name="图片 9">
            <a:extLst>
              <a:ext uri="{FF2B5EF4-FFF2-40B4-BE49-F238E27FC236}">
                <a16:creationId xmlns:a16="http://schemas.microsoft.com/office/drawing/2014/main" id="{A4E4089F-E453-E945-EE7C-A3CF430926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1371" y="2726635"/>
            <a:ext cx="3591008" cy="2394005"/>
          </a:xfrm>
          <a:prstGeom prst="rect">
            <a:avLst/>
          </a:prstGeom>
        </p:spPr>
      </p:pic>
      <p:sp>
        <p:nvSpPr>
          <p:cNvPr id="11" name="文本框 10">
            <a:extLst>
              <a:ext uri="{FF2B5EF4-FFF2-40B4-BE49-F238E27FC236}">
                <a16:creationId xmlns:a16="http://schemas.microsoft.com/office/drawing/2014/main" id="{7FDB1928-C365-C02E-E9AE-30E6F8A8F637}"/>
              </a:ext>
            </a:extLst>
          </p:cNvPr>
          <p:cNvSpPr txBox="1"/>
          <p:nvPr/>
        </p:nvSpPr>
        <p:spPr>
          <a:xfrm>
            <a:off x="900341" y="5449784"/>
            <a:ext cx="4408259" cy="523220"/>
          </a:xfrm>
          <a:prstGeom prst="rect">
            <a:avLst/>
          </a:prstGeom>
          <a:noFill/>
        </p:spPr>
        <p:txBody>
          <a:bodyPr wrap="square">
            <a:spAutoFit/>
          </a:bodyPr>
          <a:lstStyle/>
          <a:p>
            <a:r>
              <a:rPr lang="en-US" altLang="zh-CN" sz="2800" dirty="0">
                <a:solidFill>
                  <a:srgbClr val="C00000"/>
                </a:solidFill>
                <a:latin typeface="Seravek" charset="0"/>
                <a:ea typeface="Seravek" charset="0"/>
                <a:cs typeface="Seravek" charset="0"/>
              </a:rPr>
              <a:t>Trajectory crossover problem</a:t>
            </a:r>
            <a:endParaRPr lang="en-US" altLang="zh-CN" sz="2800" dirty="0">
              <a:solidFill>
                <a:srgbClr val="C00000"/>
              </a:solidFill>
              <a:latin typeface="Seravek" charset="0"/>
            </a:endParaRPr>
          </a:p>
        </p:txBody>
      </p:sp>
      <p:sp>
        <p:nvSpPr>
          <p:cNvPr id="13" name="文本框 12">
            <a:extLst>
              <a:ext uri="{FF2B5EF4-FFF2-40B4-BE49-F238E27FC236}">
                <a16:creationId xmlns:a16="http://schemas.microsoft.com/office/drawing/2014/main" id="{0AC2C208-CEDE-91F9-35D4-2293D2E70835}"/>
              </a:ext>
            </a:extLst>
          </p:cNvPr>
          <p:cNvSpPr txBox="1"/>
          <p:nvPr/>
        </p:nvSpPr>
        <p:spPr>
          <a:xfrm>
            <a:off x="6911673" y="5390517"/>
            <a:ext cx="3790193" cy="523220"/>
          </a:xfrm>
          <a:prstGeom prst="rect">
            <a:avLst/>
          </a:prstGeom>
          <a:noFill/>
        </p:spPr>
        <p:txBody>
          <a:bodyPr wrap="square">
            <a:spAutoFit/>
          </a:bodyPr>
          <a:lstStyle/>
          <a:p>
            <a:r>
              <a:rPr lang="en-US" altLang="zh-CN" sz="2800" dirty="0">
                <a:solidFill>
                  <a:srgbClr val="C00000"/>
                </a:solidFill>
                <a:latin typeface="Seravek" charset="0"/>
                <a:ea typeface="Seravek" charset="0"/>
                <a:cs typeface="Seravek" charset="0"/>
              </a:rPr>
              <a:t>Multiple PMM features</a:t>
            </a:r>
            <a:endParaRPr lang="en-US" altLang="zh-CN" sz="2800" dirty="0">
              <a:solidFill>
                <a:srgbClr val="C00000"/>
              </a:solidFill>
              <a:latin typeface="Seravek" charset="0"/>
            </a:endParaRPr>
          </a:p>
        </p:txBody>
      </p:sp>
    </p:spTree>
    <p:extLst>
      <p:ext uri="{BB962C8B-B14F-4D97-AF65-F5344CB8AC3E}">
        <p14:creationId xmlns:p14="http://schemas.microsoft.com/office/powerpoint/2010/main" val="2081900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3795" y="1799846"/>
            <a:ext cx="10494334" cy="954107"/>
          </a:xfrm>
          <a:prstGeom prst="rect">
            <a:avLst/>
          </a:prstGeom>
        </p:spPr>
        <p:txBody>
          <a:bodyPr wrap="square">
            <a:spAutoFit/>
          </a:bodyPr>
          <a:lstStyle/>
          <a:p>
            <a:pPr marL="457200" indent="-457200">
              <a:buFont typeface="Wingdings" panose="05000000000000000000" pitchFamily="2" charset="2"/>
              <a:buChar char="l"/>
            </a:pPr>
            <a:r>
              <a:rPr lang="en-US" altLang="zh-CN" sz="2800" dirty="0">
                <a:latin typeface="Seravek" charset="0"/>
              </a:rPr>
              <a:t>The </a:t>
            </a:r>
            <a:r>
              <a:rPr lang="en-US" altLang="zh-CN" sz="2800" b="1" dirty="0">
                <a:latin typeface="Seravek" charset="0"/>
              </a:rPr>
              <a:t>first mmWave-based long-range </a:t>
            </a:r>
            <a:r>
              <a:rPr lang="en-US" altLang="zh-CN" sz="2800" dirty="0">
                <a:latin typeface="Seravek" charset="0"/>
              </a:rPr>
              <a:t>UAV detection approach. </a:t>
            </a:r>
            <a:br>
              <a:rPr lang="en-US" altLang="zh-CN" sz="2800" dirty="0"/>
            </a:br>
            <a:endParaRPr lang="zh-CN" altLang="en-US" sz="2800" dirty="0">
              <a:latin typeface="Seravek" charset="0"/>
              <a:ea typeface="Seravek" charset="0"/>
              <a:cs typeface="Seravek" charset="0"/>
            </a:endParaRPr>
          </a:p>
        </p:txBody>
      </p:sp>
      <p:sp>
        <p:nvSpPr>
          <p:cNvPr id="7" name="矩形 6"/>
          <p:cNvSpPr/>
          <p:nvPr/>
        </p:nvSpPr>
        <p:spPr>
          <a:xfrm>
            <a:off x="383794" y="2958308"/>
            <a:ext cx="11419644" cy="954107"/>
          </a:xfrm>
          <a:prstGeom prst="rect">
            <a:avLst/>
          </a:prstGeom>
        </p:spPr>
        <p:txBody>
          <a:bodyPr wrap="square">
            <a:spAutoFit/>
          </a:bodyPr>
          <a:lstStyle/>
          <a:p>
            <a:pPr marL="457200" indent="-457200">
              <a:buFont typeface="Wingdings" panose="05000000000000000000" pitchFamily="2" charset="2"/>
              <a:buChar char="l"/>
            </a:pPr>
            <a:r>
              <a:rPr lang="en-US" altLang="zh-CN" sz="2800" dirty="0">
                <a:latin typeface="Seravek" charset="0"/>
                <a:ea typeface="Seravek" charset="0"/>
                <a:cs typeface="Seravek" charset="0"/>
              </a:rPr>
              <a:t>Provides a tailored design based on the PMM feature to fully </a:t>
            </a:r>
            <a:r>
              <a:rPr lang="en-US" altLang="zh-CN" sz="2800" dirty="0">
                <a:latin typeface="Seravek" charset="0"/>
              </a:rPr>
              <a:t>utilize the </a:t>
            </a:r>
            <a:r>
              <a:rPr lang="en-US" altLang="zh-CN" sz="2800" b="1" dirty="0">
                <a:latin typeface="Seravek" charset="0"/>
              </a:rPr>
              <a:t>low-SNR and </a:t>
            </a:r>
            <a:r>
              <a:rPr lang="en-US" altLang="zh-CN" sz="2800" b="1" dirty="0" err="1">
                <a:latin typeface="Seravek" charset="0"/>
              </a:rPr>
              <a:t>uncertained</a:t>
            </a:r>
            <a:r>
              <a:rPr lang="en-US" altLang="zh-CN" sz="2800" b="1" dirty="0">
                <a:latin typeface="Seravek" charset="0"/>
              </a:rPr>
              <a:t> </a:t>
            </a:r>
            <a:r>
              <a:rPr lang="en-US" altLang="zh-CN" sz="2800" dirty="0">
                <a:latin typeface="Seravek" charset="0"/>
              </a:rPr>
              <a:t>UAV’s reflected signals for UAV detection. </a:t>
            </a:r>
            <a:endParaRPr lang="zh-CN" altLang="en-US" sz="2800" dirty="0">
              <a:latin typeface="Seravek" charset="0"/>
            </a:endParaRPr>
          </a:p>
        </p:txBody>
      </p:sp>
      <p:sp>
        <p:nvSpPr>
          <p:cNvPr id="8" name="矩形 7"/>
          <p:cNvSpPr/>
          <p:nvPr/>
        </p:nvSpPr>
        <p:spPr>
          <a:xfrm>
            <a:off x="383795" y="4212000"/>
            <a:ext cx="11013878" cy="954107"/>
          </a:xfrm>
          <a:prstGeom prst="rect">
            <a:avLst/>
          </a:prstGeom>
        </p:spPr>
        <p:txBody>
          <a:bodyPr wrap="square">
            <a:spAutoFit/>
          </a:bodyPr>
          <a:lstStyle/>
          <a:p>
            <a:pPr marL="457200" indent="-457200">
              <a:buFont typeface="Wingdings" panose="05000000000000000000" pitchFamily="2" charset="2"/>
              <a:buChar char="l"/>
            </a:pPr>
            <a:r>
              <a:rPr lang="en-US" altLang="zh-CN" sz="2800" dirty="0">
                <a:latin typeface="Seravek" charset="0"/>
                <a:ea typeface="Seravek" charset="0"/>
                <a:cs typeface="Seravek" charset="0"/>
              </a:rPr>
              <a:t>Implemented on</a:t>
            </a:r>
            <a:r>
              <a:rPr lang="en-US" altLang="zh-CN" sz="2800" dirty="0">
                <a:latin typeface="Seravek" charset="0"/>
              </a:rPr>
              <a:t> the </a:t>
            </a:r>
            <a:r>
              <a:rPr lang="en-US" altLang="zh-CN" sz="2800" b="1" dirty="0">
                <a:latin typeface="Seravek" charset="0"/>
              </a:rPr>
              <a:t>commercial </a:t>
            </a:r>
            <a:r>
              <a:rPr lang="en-US" altLang="zh-CN" sz="2800" dirty="0">
                <a:latin typeface="Seravek" charset="0"/>
              </a:rPr>
              <a:t>device TI IWR6843ISKODS board </a:t>
            </a:r>
            <a:r>
              <a:rPr lang="en-US" altLang="zh-CN" sz="2800" dirty="0">
                <a:latin typeface="Seravek" charset="0"/>
                <a:ea typeface="Seravek" charset="0"/>
                <a:cs typeface="Seravek" charset="0"/>
              </a:rPr>
              <a:t>and evaluated through experiments conducted </a:t>
            </a:r>
            <a:r>
              <a:rPr lang="en-US" altLang="zh-CN" sz="2800" dirty="0">
                <a:latin typeface="Seravek" charset="0"/>
              </a:rPr>
              <a:t>under various settings.</a:t>
            </a:r>
            <a:endParaRPr lang="zh-CN" altLang="en-US" sz="2800" dirty="0">
              <a:latin typeface="Seravek" charset="0"/>
            </a:endParaRPr>
          </a:p>
        </p:txBody>
      </p:sp>
      <p:sp>
        <p:nvSpPr>
          <p:cNvPr id="6" name="Title 1"/>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defPPr>
              <a:defRPr lang="zh-CN"/>
            </a:defPPr>
            <a:lvl1pPr algn="ctr">
              <a:spcBef>
                <a:spcPct val="0"/>
              </a:spcBef>
              <a:buNone/>
              <a:defRPr sz="4400">
                <a:solidFill>
                  <a:schemeClr val="bg1"/>
                </a:solidFill>
                <a:latin typeface="Sathu" charset="-34"/>
                <a:ea typeface="Sathu" charset="-34"/>
                <a:cs typeface="Sathu" charset="-34"/>
              </a:defRPr>
            </a:lvl1pPr>
          </a:lstStyle>
          <a:p>
            <a:r>
              <a:rPr lang="en-US" altLang="zh-CN" dirty="0"/>
              <a:t>Conclusion</a:t>
            </a:r>
            <a:endParaRPr lang="zh-CN" altLang="en-US" dirty="0"/>
          </a:p>
        </p:txBody>
      </p:sp>
      <p:sp>
        <p:nvSpPr>
          <p:cNvPr id="3" name="文本框 2">
            <a:extLst>
              <a:ext uri="{FF2B5EF4-FFF2-40B4-BE49-F238E27FC236}">
                <a16:creationId xmlns:a16="http://schemas.microsoft.com/office/drawing/2014/main" id="{FA3ACB8D-7C1A-6212-4B7F-C2F6B7EC9946}"/>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18/18</a:t>
            </a:r>
            <a:endParaRPr lang="zh-CN" altLang="en-US" sz="2000" b="1" dirty="0">
              <a:solidFill>
                <a:srgbClr val="757575"/>
              </a:solidFill>
              <a:latin typeface="Seravek"/>
            </a:endParaRPr>
          </a:p>
        </p:txBody>
      </p:sp>
    </p:spTree>
    <p:extLst>
      <p:ext uri="{BB962C8B-B14F-4D97-AF65-F5344CB8AC3E}">
        <p14:creationId xmlns:p14="http://schemas.microsoft.com/office/powerpoint/2010/main" val="81751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B67DF22-853D-3EAA-C4D3-43AADE871B5C}"/>
              </a:ext>
            </a:extLst>
          </p:cNvPr>
          <p:cNvPicPr>
            <a:picLocks noChangeAspect="1"/>
          </p:cNvPicPr>
          <p:nvPr/>
        </p:nvPicPr>
        <p:blipFill rotWithShape="1">
          <a:blip r:embed="rId3">
            <a:extLst>
              <a:ext uri="{28A0092B-C50C-407E-A947-70E740481C1C}">
                <a14:useLocalDpi xmlns:a14="http://schemas.microsoft.com/office/drawing/2010/main" val="0"/>
              </a:ext>
            </a:extLst>
          </a:blip>
          <a:srcRect t="31073" b="2603"/>
          <a:stretch/>
        </p:blipFill>
        <p:spPr>
          <a:xfrm>
            <a:off x="8163" y="465364"/>
            <a:ext cx="12182400" cy="5012872"/>
          </a:xfrm>
          <a:prstGeom prst="rect">
            <a:avLst/>
          </a:prstGeom>
        </p:spPr>
      </p:pic>
      <p:sp>
        <p:nvSpPr>
          <p:cNvPr id="3" name="矩形 2">
            <a:extLst>
              <a:ext uri="{FF2B5EF4-FFF2-40B4-BE49-F238E27FC236}">
                <a16:creationId xmlns:a16="http://schemas.microsoft.com/office/drawing/2014/main" id="{0663932F-A8E9-74AD-70A0-5FD55458BEB6}"/>
              </a:ext>
            </a:extLst>
          </p:cNvPr>
          <p:cNvSpPr/>
          <p:nvPr/>
        </p:nvSpPr>
        <p:spPr>
          <a:xfrm>
            <a:off x="530218" y="1943599"/>
            <a:ext cx="11131565" cy="2481449"/>
          </a:xfrm>
          <a:prstGeom prst="rect">
            <a:avLst/>
          </a:prstGeom>
        </p:spPr>
        <p:txBody>
          <a:bodyPr wrap="square">
            <a:spAutoFit/>
          </a:bodyPr>
          <a:lstStyle/>
          <a:p>
            <a:pPr algn="ctr">
              <a:lnSpc>
                <a:spcPct val="150000"/>
              </a:lnSpc>
            </a:pPr>
            <a:r>
              <a:rPr lang="en-US" altLang="zh-CN" sz="5400" b="1" dirty="0">
                <a:solidFill>
                  <a:schemeClr val="bg1"/>
                </a:solidFill>
                <a:latin typeface="Arial" panose="020B0604020202020204" pitchFamily="34" charset="0"/>
                <a:cs typeface="Arial" panose="020B0604020202020204" pitchFamily="34" charset="0"/>
              </a:rPr>
              <a:t>Thanks</a:t>
            </a:r>
          </a:p>
          <a:p>
            <a:pPr algn="ctr">
              <a:lnSpc>
                <a:spcPct val="150000"/>
              </a:lnSpc>
            </a:pPr>
            <a:r>
              <a:rPr lang="en-US" altLang="zh-CN" sz="5400" b="1" dirty="0">
                <a:solidFill>
                  <a:schemeClr val="bg1"/>
                </a:solidFill>
                <a:latin typeface="Arial" panose="020B0604020202020204" pitchFamily="34" charset="0"/>
                <a:ea typeface="Sathu" charset="-34"/>
                <a:cs typeface="Arial" panose="020B0604020202020204" pitchFamily="34" charset="0"/>
              </a:rPr>
              <a:t>Q &amp; A</a:t>
            </a:r>
            <a:endParaRPr lang="zh-CN" altLang="en-US" sz="6600" b="1" dirty="0">
              <a:solidFill>
                <a:schemeClr val="bg1"/>
              </a:solidFill>
              <a:latin typeface="Sathu" charset="-34"/>
              <a:ea typeface="Sathu" charset="-34"/>
              <a:cs typeface="Sathu" charset="-34"/>
            </a:endParaRPr>
          </a:p>
        </p:txBody>
      </p:sp>
      <p:sp>
        <p:nvSpPr>
          <p:cNvPr id="4" name="Subtitle 2">
            <a:extLst>
              <a:ext uri="{FF2B5EF4-FFF2-40B4-BE49-F238E27FC236}">
                <a16:creationId xmlns:a16="http://schemas.microsoft.com/office/drawing/2014/main" id="{FD7B9328-E074-C48A-0245-10B13A359ED4}"/>
              </a:ext>
            </a:extLst>
          </p:cNvPr>
          <p:cNvSpPr txBox="1">
            <a:spLocks/>
          </p:cNvSpPr>
          <p:nvPr/>
        </p:nvSpPr>
        <p:spPr>
          <a:xfrm>
            <a:off x="2039461" y="5418667"/>
            <a:ext cx="8113078" cy="103072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dirty="0">
                <a:latin typeface="Seravek" charset="0"/>
                <a:ea typeface="Seravek" charset="0"/>
                <a:cs typeface="Seravek" charset="0"/>
              </a:rPr>
              <a:t>Jia Zhang</a:t>
            </a:r>
          </a:p>
          <a:p>
            <a:pPr marL="0" indent="0" algn="ctr">
              <a:spcBef>
                <a:spcPts val="0"/>
              </a:spcBef>
              <a:buNone/>
            </a:pPr>
            <a:r>
              <a:rPr lang="en-US" sz="2800" b="1" dirty="0">
                <a:latin typeface="Seravek" charset="0"/>
                <a:ea typeface="Seravek" charset="0"/>
                <a:cs typeface="Seravek" charset="0"/>
              </a:rPr>
              <a:t>j-zhang19@mails.tsinghua.edu.cn</a:t>
            </a:r>
          </a:p>
        </p:txBody>
      </p:sp>
    </p:spTree>
    <p:extLst>
      <p:ext uri="{BB962C8B-B14F-4D97-AF65-F5344CB8AC3E}">
        <p14:creationId xmlns:p14="http://schemas.microsoft.com/office/powerpoint/2010/main" val="2020742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5410" y="0"/>
            <a:ext cx="12535270" cy="699560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矩形 26"/>
          <p:cNvSpPr/>
          <p:nvPr/>
        </p:nvSpPr>
        <p:spPr>
          <a:xfrm>
            <a:off x="5105761" y="2849935"/>
            <a:ext cx="2294218" cy="769441"/>
          </a:xfrm>
          <a:prstGeom prst="rect">
            <a:avLst/>
          </a:prstGeom>
        </p:spPr>
        <p:txBody>
          <a:bodyPr wrap="none">
            <a:spAutoFit/>
          </a:bodyPr>
          <a:lstStyle/>
          <a:p>
            <a:r>
              <a:rPr lang="en-US" altLang="zh-CN" sz="4400" b="1" dirty="0">
                <a:solidFill>
                  <a:schemeClr val="bg1"/>
                </a:solidFill>
                <a:latin typeface="Seravek" charset="0"/>
                <a:ea typeface="Seravek" charset="0"/>
                <a:cs typeface="Seravek" charset="0"/>
              </a:rPr>
              <a:t>Backups</a:t>
            </a:r>
            <a:endParaRPr lang="zh-CN" altLang="en-US" sz="4400" b="1" dirty="0">
              <a:solidFill>
                <a:schemeClr val="bg1"/>
              </a:solidFill>
              <a:latin typeface="Seravek" charset="0"/>
              <a:ea typeface="Seravek" charset="0"/>
              <a:cs typeface="Seravek" charset="0"/>
            </a:endParaRPr>
          </a:p>
        </p:txBody>
      </p:sp>
    </p:spTree>
    <p:extLst>
      <p:ext uri="{BB962C8B-B14F-4D97-AF65-F5344CB8AC3E}">
        <p14:creationId xmlns:p14="http://schemas.microsoft.com/office/powerpoint/2010/main" val="40660991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defPPr>
              <a:defRPr lang="zh-CN"/>
            </a:defPPr>
            <a:lvl1pPr algn="ctr">
              <a:spcBef>
                <a:spcPct val="0"/>
              </a:spcBef>
              <a:buNone/>
              <a:defRPr sz="4400">
                <a:solidFill>
                  <a:schemeClr val="bg1"/>
                </a:solidFill>
                <a:latin typeface="Sathu" charset="-34"/>
                <a:ea typeface="Sathu" charset="-34"/>
                <a:cs typeface="Sathu" charset="-34"/>
              </a:defRPr>
            </a:lvl1pPr>
          </a:lstStyle>
          <a:p>
            <a:r>
              <a:rPr lang="en-US" altLang="zh-CN" dirty="0"/>
              <a:t>Preliminary</a:t>
            </a:r>
            <a:endParaRPr lang="zh-CN" altLang="en-US" dirty="0"/>
          </a:p>
        </p:txBody>
      </p:sp>
      <p:pic>
        <p:nvPicPr>
          <p:cNvPr id="4" name="图片 3">
            <a:extLst>
              <a:ext uri="{FF2B5EF4-FFF2-40B4-BE49-F238E27FC236}">
                <a16:creationId xmlns:a16="http://schemas.microsoft.com/office/drawing/2014/main" id="{F3816B12-2D7F-E191-0E94-61051BC90368}"/>
              </a:ext>
            </a:extLst>
          </p:cNvPr>
          <p:cNvPicPr>
            <a:picLocks noChangeAspect="1"/>
          </p:cNvPicPr>
          <p:nvPr/>
        </p:nvPicPr>
        <p:blipFill rotWithShape="1">
          <a:blip r:embed="rId3"/>
          <a:srcRect b="50456"/>
          <a:stretch/>
        </p:blipFill>
        <p:spPr>
          <a:xfrm>
            <a:off x="119241" y="2696400"/>
            <a:ext cx="5981436" cy="2714325"/>
          </a:xfrm>
          <a:prstGeom prst="rect">
            <a:avLst/>
          </a:prstGeom>
        </p:spPr>
      </p:pic>
      <p:pic>
        <p:nvPicPr>
          <p:cNvPr id="5" name="图片 4">
            <a:extLst>
              <a:ext uri="{FF2B5EF4-FFF2-40B4-BE49-F238E27FC236}">
                <a16:creationId xmlns:a16="http://schemas.microsoft.com/office/drawing/2014/main" id="{7F13B100-FF81-BAC9-E813-63B29992849D}"/>
              </a:ext>
            </a:extLst>
          </p:cNvPr>
          <p:cNvPicPr>
            <a:picLocks noChangeAspect="1"/>
          </p:cNvPicPr>
          <p:nvPr/>
        </p:nvPicPr>
        <p:blipFill rotWithShape="1">
          <a:blip r:embed="rId3"/>
          <a:srcRect t="49286"/>
          <a:stretch/>
        </p:blipFill>
        <p:spPr>
          <a:xfrm>
            <a:off x="6348349" y="2695075"/>
            <a:ext cx="5843651" cy="2714400"/>
          </a:xfrm>
          <a:prstGeom prst="rect">
            <a:avLst/>
          </a:prstGeom>
        </p:spPr>
      </p:pic>
    </p:spTree>
    <p:extLst>
      <p:ext uri="{BB962C8B-B14F-4D97-AF65-F5344CB8AC3E}">
        <p14:creationId xmlns:p14="http://schemas.microsoft.com/office/powerpoint/2010/main" val="2971997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defPPr>
              <a:defRPr lang="zh-CN"/>
            </a:defPPr>
            <a:lvl1pPr algn="ctr">
              <a:spcBef>
                <a:spcPct val="0"/>
              </a:spcBef>
              <a:buNone/>
              <a:defRPr sz="4400">
                <a:solidFill>
                  <a:schemeClr val="bg1"/>
                </a:solidFill>
                <a:latin typeface="Sathu" charset="-34"/>
                <a:ea typeface="Sathu" charset="-34"/>
                <a:cs typeface="Sathu" charset="-34"/>
              </a:defRPr>
            </a:lvl1pPr>
          </a:lstStyle>
          <a:p>
            <a:r>
              <a:rPr lang="en-US" altLang="zh-CN" dirty="0"/>
              <a:t>Accuracy </a:t>
            </a:r>
            <a:r>
              <a:rPr lang="en-US" altLang="zh-CN" dirty="0" err="1"/>
              <a:t>v.s</a:t>
            </a:r>
            <a:r>
              <a:rPr lang="en-US" altLang="zh-CN" dirty="0"/>
              <a:t>. obstacle </a:t>
            </a:r>
            <a:endParaRPr lang="zh-CN" altLang="en-US" dirty="0"/>
          </a:p>
        </p:txBody>
      </p:sp>
      <p:pic>
        <p:nvPicPr>
          <p:cNvPr id="3" name="图片 2">
            <a:extLst>
              <a:ext uri="{FF2B5EF4-FFF2-40B4-BE49-F238E27FC236}">
                <a16:creationId xmlns:a16="http://schemas.microsoft.com/office/drawing/2014/main" id="{90B89BA3-5233-2894-427D-A167879734C7}"/>
              </a:ext>
            </a:extLst>
          </p:cNvPr>
          <p:cNvPicPr>
            <a:picLocks noChangeAspect="1"/>
          </p:cNvPicPr>
          <p:nvPr/>
        </p:nvPicPr>
        <p:blipFill>
          <a:blip r:embed="rId3"/>
          <a:stretch>
            <a:fillRect/>
          </a:stretch>
        </p:blipFill>
        <p:spPr>
          <a:xfrm>
            <a:off x="895927" y="1533600"/>
            <a:ext cx="10275229" cy="3542264"/>
          </a:xfrm>
          <a:prstGeom prst="rect">
            <a:avLst/>
          </a:prstGeom>
        </p:spPr>
      </p:pic>
    </p:spTree>
    <p:extLst>
      <p:ext uri="{BB962C8B-B14F-4D97-AF65-F5344CB8AC3E}">
        <p14:creationId xmlns:p14="http://schemas.microsoft.com/office/powerpoint/2010/main" val="4169223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3A732E-94CF-F7B0-43C6-BA9A4533E8F3}"/>
              </a:ext>
            </a:extLst>
          </p:cNvPr>
          <p:cNvSpPr txBox="1">
            <a:spLocks/>
          </p:cNvSpPr>
          <p:nvPr/>
        </p:nvSpPr>
        <p:spPr>
          <a:xfrm>
            <a:off x="0" y="0"/>
            <a:ext cx="12192000" cy="1143000"/>
          </a:xfrm>
          <a:prstGeom prst="rect">
            <a:avLst/>
          </a:prstGeom>
          <a:solidFill>
            <a:schemeClr val="tx1">
              <a:lumMod val="75000"/>
              <a:lumOff val="25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solidFill>
                  <a:schemeClr val="bg1"/>
                </a:solidFill>
                <a:latin typeface="Arial" panose="020B0604020202020204" pitchFamily="34" charset="0"/>
                <a:ea typeface="Sathu" charset="-34"/>
                <a:cs typeface="Arial" panose="020B0604020202020204" pitchFamily="34" charset="0"/>
              </a:rPr>
              <a:t>Ablation study</a:t>
            </a:r>
            <a:endParaRPr lang="zh-CN" altLang="en-US" sz="3200" dirty="0">
              <a:solidFill>
                <a:schemeClr val="bg1"/>
              </a:solidFill>
              <a:latin typeface="Arial" panose="020B0604020202020204" pitchFamily="34" charset="0"/>
              <a:ea typeface="Sathu" charset="-34"/>
              <a:cs typeface="Arial" panose="020B0604020202020204" pitchFamily="34" charset="0"/>
            </a:endParaRPr>
          </a:p>
        </p:txBody>
      </p:sp>
      <p:sp>
        <p:nvSpPr>
          <p:cNvPr id="11" name="文本框 10">
            <a:extLst>
              <a:ext uri="{FF2B5EF4-FFF2-40B4-BE49-F238E27FC236}">
                <a16:creationId xmlns:a16="http://schemas.microsoft.com/office/drawing/2014/main" id="{48D2296E-C15E-16DE-7077-F6BD3046EA61}"/>
              </a:ext>
            </a:extLst>
          </p:cNvPr>
          <p:cNvSpPr txBox="1"/>
          <p:nvPr/>
        </p:nvSpPr>
        <p:spPr>
          <a:xfrm>
            <a:off x="11053482" y="6445627"/>
            <a:ext cx="833718" cy="400110"/>
          </a:xfrm>
          <a:prstGeom prst="rect">
            <a:avLst/>
          </a:prstGeom>
          <a:noFill/>
        </p:spPr>
        <p:txBody>
          <a:bodyPr wrap="square" rtlCol="0">
            <a:spAutoFit/>
          </a:bodyPr>
          <a:lstStyle/>
          <a:p>
            <a:r>
              <a:rPr lang="en-US" altLang="zh-CN" sz="2000" b="1" dirty="0">
                <a:solidFill>
                  <a:srgbClr val="757575"/>
                </a:solidFill>
                <a:latin typeface="Seravek"/>
              </a:rPr>
              <a:t>17/18</a:t>
            </a:r>
            <a:endParaRPr lang="zh-CN" altLang="en-US" sz="2000" b="1" dirty="0">
              <a:solidFill>
                <a:srgbClr val="757575"/>
              </a:solidFill>
              <a:latin typeface="Seravek"/>
            </a:endParaRPr>
          </a:p>
        </p:txBody>
      </p:sp>
      <p:pic>
        <p:nvPicPr>
          <p:cNvPr id="6" name="图片 5">
            <a:extLst>
              <a:ext uri="{FF2B5EF4-FFF2-40B4-BE49-F238E27FC236}">
                <a16:creationId xmlns:a16="http://schemas.microsoft.com/office/drawing/2014/main" id="{8641CCC8-1487-574C-1AF1-AA990E35DBCA}"/>
              </a:ext>
            </a:extLst>
          </p:cNvPr>
          <p:cNvPicPr>
            <a:picLocks noChangeAspect="1"/>
          </p:cNvPicPr>
          <p:nvPr/>
        </p:nvPicPr>
        <p:blipFill>
          <a:blip r:embed="rId3"/>
          <a:stretch>
            <a:fillRect/>
          </a:stretch>
        </p:blipFill>
        <p:spPr>
          <a:xfrm>
            <a:off x="803681" y="1482776"/>
            <a:ext cx="10658645" cy="3597224"/>
          </a:xfrm>
          <a:prstGeom prst="rect">
            <a:avLst/>
          </a:prstGeom>
        </p:spPr>
      </p:pic>
    </p:spTree>
    <p:extLst>
      <p:ext uri="{BB962C8B-B14F-4D97-AF65-F5344CB8AC3E}">
        <p14:creationId xmlns:p14="http://schemas.microsoft.com/office/powerpoint/2010/main" val="385065832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5997</TotalTime>
  <Words>2768</Words>
  <Application>Microsoft Office PowerPoint</Application>
  <PresentationFormat>宽屏</PresentationFormat>
  <Paragraphs>248</Paragraphs>
  <Slides>33</Slides>
  <Notes>33</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33</vt:i4>
      </vt:variant>
    </vt:vector>
  </HeadingPairs>
  <TitlesOfParts>
    <vt:vector size="43" baseType="lpstr">
      <vt:lpstr>LinLibertineT</vt:lpstr>
      <vt:lpstr>Sathu</vt:lpstr>
      <vt:lpstr>Seravek</vt:lpstr>
      <vt:lpstr>等线</vt:lpstr>
      <vt:lpstr>等线 Light</vt:lpstr>
      <vt:lpstr>Arial</vt:lpstr>
      <vt:lpstr>Calibri</vt:lpstr>
      <vt:lpstr>Cambria Math</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jia</dc:creator>
  <cp:lastModifiedBy>jia zhang</cp:lastModifiedBy>
  <cp:revision>203</cp:revision>
  <dcterms:created xsi:type="dcterms:W3CDTF">2022-08-22T06:06:39Z</dcterms:created>
  <dcterms:modified xsi:type="dcterms:W3CDTF">2023-09-12T10:31:32Z</dcterms:modified>
</cp:coreProperties>
</file>