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416" r:id="rId3"/>
    <p:sldId id="417" r:id="rId5"/>
    <p:sldId id="539" r:id="rId6"/>
    <p:sldId id="540" r:id="rId7"/>
    <p:sldId id="547" r:id="rId8"/>
    <p:sldId id="541" r:id="rId9"/>
    <p:sldId id="545" r:id="rId10"/>
    <p:sldId id="546" r:id="rId11"/>
    <p:sldId id="548" r:id="rId12"/>
    <p:sldId id="549" r:id="rId13"/>
    <p:sldId id="550" r:id="rId14"/>
    <p:sldId id="552" r:id="rId15"/>
    <p:sldId id="553" r:id="rId16"/>
    <p:sldId id="554" r:id="rId17"/>
    <p:sldId id="551" r:id="rId18"/>
    <p:sldId id="517" r:id="rId19"/>
  </p:sldIdLst>
  <p:sldSz cx="12192000" cy="6858000"/>
  <p:notesSz cx="6858000" cy="9144000"/>
  <p:embeddedFontLst>
    <p:embeddedFont>
      <p:font typeface="微软雅黑" panose="020B0503020204020204" pitchFamily="34" charset="-122"/>
      <p:regular r:id="rId23"/>
    </p:embeddedFont>
    <p:embeddedFont>
      <p:font typeface="微软雅黑 Light" panose="020B0502040204020203" pitchFamily="34" charset="-122"/>
      <p:regular r:id="rId24"/>
    </p:embeddedFont>
    <p:embeddedFont>
      <p:font typeface="Georgia" panose="02040502050405020303" pitchFamily="18" charset="0"/>
      <p:regular r:id="rId25"/>
      <p:bold r:id="rId26"/>
      <p:italic r:id="rId27"/>
      <p:boldItalic r:id="rId28"/>
    </p:embeddedFont>
    <p:embeddedFont>
      <p:font typeface="等线" panose="02010600030101010101" pitchFamily="2" charset="-122"/>
      <p:regular r:id="rId29"/>
    </p:embeddedFont>
    <p:embeddedFont>
      <p:font typeface="Cambria Math" panose="02040503050406030204" pitchFamily="18" charset="0"/>
      <p:regular r:id="rId30"/>
    </p:embeddedFont>
    <p:embeddedFont>
      <p:font typeface="Century Schoolbook" panose="02040604050505020304" pitchFamily="18" charset="0"/>
      <p:regular r:id="rId31"/>
      <p:bold r:id="rId32"/>
      <p:italic r:id="rId33"/>
      <p:boldItalic r:id="rId34"/>
    </p:embeddedFont>
  </p:embeddedFontLst>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gin" id="{9FCA842B-E927-432E-AEF0-55B43D7F2AA1}">
          <p14:sldIdLst>
            <p14:sldId id="416"/>
          </p14:sldIdLst>
        </p14:section>
        <p14:section name="Motivation" id="{3701C454-F7B0-40CB-975A-F38E2050EF18}">
          <p14:sldIdLst>
            <p14:sldId id="417"/>
            <p14:sldId id="539"/>
          </p14:sldIdLst>
        </p14:section>
        <p14:section name="Key Problem" id="{7822F9F8-E195-41B2-B3B5-40BB3DC96D91}">
          <p14:sldIdLst>
            <p14:sldId id="540"/>
            <p14:sldId id="547"/>
            <p14:sldId id="541"/>
          </p14:sldIdLst>
        </p14:section>
        <p14:section name="Design" id="{a7186589-5aec-410a-ac29-1920edc5d680}">
          <p14:sldIdLst>
            <p14:sldId id="545"/>
            <p14:sldId id="546"/>
            <p14:sldId id="548"/>
            <p14:sldId id="549"/>
          </p14:sldIdLst>
        </p14:section>
        <p14:section name="Evaluation" id="{A3351E9F-EFA9-4897-B234-2DAFAC9333CB}">
          <p14:sldIdLst>
            <p14:sldId id="550"/>
            <p14:sldId id="552"/>
            <p14:sldId id="553"/>
            <p14:sldId id="554"/>
          </p14:sldIdLst>
        </p14:section>
        <p14:section name="Summary" id="{DF61B74F-BFFE-4E91-B428-A4BE69F09073}">
          <p14:sldIdLst>
            <p14:sldId id="551"/>
            <p14:sldId id="51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061D"/>
    <a:srgbClr val="660874"/>
    <a:srgbClr val="FFFFFF"/>
    <a:srgbClr val="114D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33" autoAdjust="0"/>
    <p:restoredTop sz="61429" autoAdjust="0"/>
  </p:normalViewPr>
  <p:slideViewPr>
    <p:cSldViewPr snapToGrid="0">
      <p:cViewPr varScale="1">
        <p:scale>
          <a:sx n="66" d="100"/>
          <a:sy n="66" d="100"/>
        </p:scale>
        <p:origin x="2514" y="66"/>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gs" Target="tags/tag1.xml"/><Relationship Id="rId34" Type="http://schemas.openxmlformats.org/officeDocument/2006/relationships/font" Target="fonts/font12.fntdata"/><Relationship Id="rId33" Type="http://schemas.openxmlformats.org/officeDocument/2006/relationships/font" Target="fonts/font11.fntdata"/><Relationship Id="rId32" Type="http://schemas.openxmlformats.org/officeDocument/2006/relationships/font" Target="fonts/font10.fntdata"/><Relationship Id="rId31" Type="http://schemas.openxmlformats.org/officeDocument/2006/relationships/font" Target="fonts/font9.fntdata"/><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7D58C-D94D-4288-B5F8-04E670C1447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D9084-2E1A-413C-AC8E-7A48E069624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101214"/>
                </a:solidFill>
                <a:effectLst/>
                <a:latin typeface="微软雅黑" panose="020B0503020204020204" pitchFamily="34" charset="-122"/>
              </a:rPr>
              <a:t>Hello everyone. I’m </a:t>
            </a:r>
            <a:r>
              <a:rPr lang="en-US" altLang="zh-CN" b="0" i="0" dirty="0" err="1">
                <a:solidFill>
                  <a:srgbClr val="101214"/>
                </a:solidFill>
                <a:effectLst/>
                <a:latin typeface="微软雅黑" panose="020B0503020204020204" pitchFamily="34" charset="-122"/>
              </a:rPr>
              <a:t>Yulong Chen</a:t>
            </a:r>
            <a:r>
              <a:rPr lang="en-US" altLang="zh-CN" b="0" i="0" dirty="0">
                <a:solidFill>
                  <a:srgbClr val="101214"/>
                </a:solidFill>
                <a:effectLst/>
                <a:latin typeface="微软雅黑" panose="020B0503020204020204" pitchFamily="34" charset="-122"/>
              </a:rPr>
              <a:t>, a second-year master student from Tsinghua University.</a:t>
            </a:r>
            <a:endParaRPr lang="en-US" altLang="zh-CN" b="0" i="0" dirty="0">
              <a:solidFill>
                <a:srgbClr val="101214"/>
              </a:solidFill>
              <a:effectLst/>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dirty="0">
                <a:solidFill>
                  <a:srgbClr val="101214"/>
                </a:solidFill>
                <a:effectLst/>
                <a:latin typeface="微软雅黑" panose="020B0503020204020204" pitchFamily="34" charset="-122"/>
              </a:rPr>
              <a:t>It's a great honor to be here to share our work:</a:t>
            </a:r>
            <a:endParaRPr lang="en-US" altLang="zh-CN" b="0" i="0" dirty="0">
              <a:solidFill>
                <a:srgbClr val="101214"/>
              </a:solidFill>
              <a:effectLst/>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lang="en-US" altLang="zh-CN" b="0" i="0">
                <a:solidFill>
                  <a:srgbClr val="101214"/>
                </a:solidFill>
                <a:effectLst/>
                <a:latin typeface="微软雅黑" panose="020B0503020204020204" pitchFamily="34" charset="-122"/>
              </a:rPr>
              <a:t>ELASE: Enabling Real-time Elastic Sensing Resource Scheduling in 5G vRAN</a:t>
            </a:r>
            <a:endParaRPr lang="en-US" altLang="zh-CN" b="0" i="0">
              <a:solidFill>
                <a:srgbClr val="101214"/>
              </a:solidFill>
              <a:effectLst/>
              <a:latin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859BF3A-664C-479E-8502-925B1B70ACA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Integrated Sensing and Communication has</a:t>
            </a:r>
            <a:r>
              <a:rPr lang="en-US" altLang="zh-CN" dirty="0"/>
              <a:t> </a:t>
            </a:r>
            <a:r>
              <a:rPr lang="zh-CN" altLang="en-US" dirty="0"/>
              <a:t>been witnessed to be a new paradigm of wireless sensing in 5G</a:t>
            </a:r>
            <a:endParaRPr lang="zh-CN" altLang="en-US" dirty="0"/>
          </a:p>
          <a:p>
            <a:r>
              <a:rPr lang="zh-CN" altLang="en-US" dirty="0"/>
              <a:t>networks. Users can benefit from pervasive sensing applications</a:t>
            </a:r>
            <a:r>
              <a:rPr lang="en-US" altLang="zh-CN" dirty="0"/>
              <a:t> </a:t>
            </a:r>
            <a:r>
              <a:rPr lang="zh-CN" altLang="en-US" dirty="0"/>
              <a:t>in various scenarios with no communication penalty</a:t>
            </a:r>
            <a:r>
              <a:rPr lang="en-US" altLang="zh-CN" dirty="0"/>
              <a:t>.</a:t>
            </a:r>
            <a:endParaRPr lang="en-US" altLang="zh-CN" dirty="0"/>
          </a:p>
          <a:p>
            <a:r>
              <a:rPr lang="en-US" altLang="zh-CN" dirty="0"/>
              <a:t>The widely deployed networks currently include cellular networks and WiFi networks</a:t>
            </a:r>
            <a:r>
              <a:rPr lang="zh-CN" altLang="en-US" dirty="0"/>
              <a:t>。</a:t>
            </a:r>
            <a:endParaRPr lang="zh-CN" altLang="en-US" dirty="0"/>
          </a:p>
          <a:p>
            <a:endParaRPr lang="en-US" altLang="zh-CN" dirty="0"/>
          </a:p>
          <a:p>
            <a:r>
              <a:rPr lang="en-US" altLang="zh-CN" dirty="0"/>
              <a:t>But Wi-Fi networks  adopt mechanisms like  CSMA/CA and the deep coupling between preamble signals and data packets.</a:t>
            </a:r>
            <a:endParaRPr lang="en-US" altLang="zh-CN" dirty="0"/>
          </a:p>
          <a:p>
            <a:r>
              <a:rPr lang="en-US" altLang="zh-CN" dirty="0"/>
              <a:t>This will produce an unstable sampling rate of the sensing signals.</a:t>
            </a:r>
            <a:endParaRPr lang="en-US" altLang="zh-CN" dirty="0"/>
          </a:p>
          <a:p>
            <a:r>
              <a:rPr lang="en-US" altLang="zh-CN" dirty="0"/>
              <a:t>Differently, the centralized resource scheduling and the separation of data and control channels in</a:t>
            </a:r>
            <a:endParaRPr lang="en-US" altLang="zh-CN" dirty="0"/>
          </a:p>
          <a:p>
            <a:r>
              <a:rPr kumimoji="1" lang="en-US" altLang="zh-CN" dirty="0">
                <a:latin typeface="Georgia" panose="02040502050405020303" pitchFamily="18" charset="0"/>
                <a:ea typeface="微软雅黑" panose="020B0503020204020204" pitchFamily="34" charset="-122"/>
                <a:sym typeface="+mn-ea"/>
              </a:rPr>
              <a:t> Cellular networks</a:t>
            </a:r>
            <a:r>
              <a:rPr lang="en-US" altLang="zh-CN" dirty="0"/>
              <a:t> can offer a stable CSI.</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In existing ISAC works with 4G LTE and 5G NR,</a:t>
            </a:r>
            <a:r>
              <a:rPr lang="en-US" altLang="zh-CN" dirty="0"/>
              <a:t> </a:t>
            </a:r>
            <a:r>
              <a:rPr lang="zh-CN" altLang="en-US" dirty="0"/>
              <a:t>we find that the majority of them have considered reducing</a:t>
            </a:r>
            <a:r>
              <a:rPr lang="en-US" altLang="zh-CN" dirty="0"/>
              <a:t> </a:t>
            </a:r>
            <a:r>
              <a:rPr lang="zh-CN" altLang="en-US" dirty="0"/>
              <a:t>the sensing errors by applying advanced signal processing</a:t>
            </a:r>
            <a:r>
              <a:rPr lang="en-US" altLang="zh-CN" dirty="0"/>
              <a:t> </a:t>
            </a:r>
            <a:r>
              <a:rPr lang="zh-CN" altLang="en-US" dirty="0"/>
              <a:t>algorithms, emerging artificial intelligence</a:t>
            </a:r>
            <a:r>
              <a:rPr lang="en-US" altLang="zh-CN" dirty="0"/>
              <a:t> </a:t>
            </a:r>
            <a:r>
              <a:rPr lang="zh-CN" altLang="en-US" dirty="0"/>
              <a:t>technologies, multi-stream infrastructure</a:t>
            </a:r>
            <a:r>
              <a:rPr lang="en-US" altLang="zh-CN" dirty="0"/>
              <a:t>. These topics are more or less discussed in other RF signal based works and similar solutions can be found.</a:t>
            </a:r>
            <a:endParaRPr lang="en-US" altLang="zh-CN" dirty="0"/>
          </a:p>
          <a:p>
            <a:r>
              <a:rPr lang="en-US" altLang="zh-CN" dirty="0"/>
              <a:t>We think </a:t>
            </a:r>
            <a:r>
              <a:rPr kumimoji="1" lang="en-US" altLang="zh-CN" b="1" dirty="0">
                <a:latin typeface="Georgia" panose="02040502050405020303" pitchFamily="18" charset="0"/>
                <a:ea typeface="微软雅黑" panose="020B0503020204020204" pitchFamily="34" charset="-122"/>
                <a:sym typeface="+mn-ea"/>
              </a:rPr>
              <a:t>Scheduling the limited sensing resources among multi targets is </a:t>
            </a:r>
            <a:r>
              <a:rPr kumimoji="1" lang="en-US" altLang="zh-CN" b="1" dirty="0">
                <a:latin typeface="Georgia" panose="02040502050405020303" pitchFamily="18" charset="0"/>
                <a:ea typeface="微软雅黑" panose="020B0503020204020204" pitchFamily="34" charset="-122"/>
                <a:sym typeface="+mn-ea"/>
              </a:rPr>
              <a:t>important. It is in parallel with the algorithm optimization and the infrastructure upgrading. </a:t>
            </a:r>
            <a:endParaRPr kumimoji="1" lang="en-US" altLang="zh-CN" b="1" dirty="0">
              <a:latin typeface="Georgia" panose="02040502050405020303" pitchFamily="18" charset="0"/>
              <a:ea typeface="微软雅黑" panose="020B0503020204020204" pitchFamily="34" charset="-122"/>
            </a:endParaRPr>
          </a:p>
          <a:p>
            <a:r>
              <a:rPr lang="en-US" altLang="zh-CN" dirty="0"/>
              <a:t>Take the scenary in the figure as an example. The moving speed varies among different user devices and varies over time. It is inappropriate for base stations to allocate fixed and average sensing resources to each device. Due to the centralized resource scheduling capability and inspired by the data plane scheduler, we would like to design one  RS scheduler to simultaneously boost the sensing quality and reduce the resource waste in the multi-target sensing</a:t>
            </a:r>
            <a:endParaRPr lang="en-US" altLang="zh-CN" dirty="0"/>
          </a:p>
          <a:p>
            <a:r>
              <a:rPr lang="en-US" altLang="zh-CN" dirty="0"/>
              <a:t>scenarios.</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In traditional hardware-based black-box mobile networking</a:t>
            </a:r>
            <a:r>
              <a:rPr lang="en-US" altLang="zh-CN" dirty="0"/>
              <a:t> </a:t>
            </a:r>
            <a:r>
              <a:rPr lang="zh-CN" altLang="en-US" dirty="0"/>
              <a:t>infrastructure, only large device vendors can </a:t>
            </a:r>
            <a:r>
              <a:rPr lang="en-US" altLang="zh-CN" dirty="0"/>
              <a:t>edit base station </a:t>
            </a:r>
            <a:endParaRPr lang="zh-CN" altLang="en-US" dirty="0"/>
          </a:p>
          <a:p>
            <a:r>
              <a:rPr lang="zh-CN" altLang="en-US" dirty="0"/>
              <a:t>and efforts have to be spent on the hardware modification.</a:t>
            </a:r>
            <a:endParaRPr lang="zh-CN" altLang="en-US" dirty="0"/>
          </a:p>
          <a:p>
            <a:r>
              <a:rPr lang="zh-CN" altLang="en-US" dirty="0"/>
              <a:t>Fortunately, the emerging 5G mobile networking technology</a:t>
            </a:r>
            <a:r>
              <a:rPr lang="en-US" altLang="zh-CN" dirty="0"/>
              <a:t> </a:t>
            </a:r>
            <a:r>
              <a:rPr lang="zh-CN" altLang="en-US" dirty="0"/>
              <a:t>named vRAN offers a more flexible way to </a:t>
            </a:r>
            <a:r>
              <a:rPr lang="en-US" altLang="zh-CN" dirty="0"/>
              <a:t>deploy a RS scheduler.</a:t>
            </a:r>
            <a:endParaRPr lang="en-US" altLang="zh-CN" dirty="0"/>
          </a:p>
          <a:p>
            <a:endParaRPr lang="en-US" altLang="zh-CN" dirty="0"/>
          </a:p>
          <a:p>
            <a:r>
              <a:rPr lang="en-US" altLang="zh-CN" dirty="0"/>
              <a:t>Figure shows the typical data-plane structure of the 5G vRAN protocol stack, from bottom to top including PHY layer,MAC layer ,RLC layer and so on. </a:t>
            </a:r>
            <a:endParaRPr lang="en-US" altLang="zh-CN" dirty="0"/>
          </a:p>
          <a:p>
            <a:r>
              <a:rPr lang="en-US" altLang="zh-CN" dirty="0"/>
              <a:t>we mainly focus on PHY’s channel estimation module for the CSI retrieving and MAC’s scheduler module for the</a:t>
            </a:r>
            <a:endParaRPr lang="en-US" altLang="zh-CN" dirty="0"/>
          </a:p>
          <a:p>
            <a:r>
              <a:rPr lang="en-US" altLang="zh-CN" dirty="0"/>
              <a:t>elastic SRS scheduling.</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vRAN specifies a group of standardized</a:t>
            </a:r>
            <a:r>
              <a:rPr lang="en-US" altLang="zh-CN" dirty="0"/>
              <a:t> </a:t>
            </a:r>
            <a:r>
              <a:rPr lang="zh-CN" altLang="en-US" dirty="0"/>
              <a:t>interoperation interfaces, which enables the dynamic service</a:t>
            </a:r>
            <a:endParaRPr lang="zh-CN" altLang="en-US" dirty="0"/>
          </a:p>
          <a:p>
            <a:r>
              <a:rPr lang="zh-CN" altLang="en-US" dirty="0"/>
              <a:t>loading and parameter adjustment.</a:t>
            </a:r>
            <a:endParaRPr lang="zh-CN" altLang="en-US" dirty="0"/>
          </a:p>
          <a:p>
            <a:r>
              <a:rPr lang="en-US" altLang="zh-CN" dirty="0"/>
              <a:t>Before channel estimation , the RIC agent can get CSI Matrix, and RIC can execute SRS scheduling instructions </a:t>
            </a:r>
            <a:r>
              <a:rPr lang="en-US" altLang="zh-CN" dirty="0"/>
              <a:t>in the MAC layer.</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Though 5G vRAN shows promise in the wireless sensing applications, we have to tackle the following technical challenges before turning the above RS scheduler extension into a practical system:</a:t>
            </a:r>
            <a:endParaRPr lang="zh-CN" altLang="en-US" dirty="0"/>
          </a:p>
          <a:p>
            <a:r>
              <a:rPr lang="zh-CN" altLang="en-US" dirty="0"/>
              <a:t>First, how to match sensing demands with sensing resources?</a:t>
            </a:r>
            <a:endParaRPr lang="zh-CN" altLang="en-US" dirty="0"/>
          </a:p>
          <a:p>
            <a:r>
              <a:rPr lang="zh-CN" altLang="en-US" dirty="0"/>
              <a:t>Within the scope of our research, there is currently no work focusing on sensing resource scheduling in 5G networks. The criteria for estimating sensing resources, defining sensing demands, and matching them are not clear. </a:t>
            </a:r>
            <a:endParaRPr lang="zh-CN" altLang="en-US" dirty="0"/>
          </a:p>
          <a:p>
            <a:r>
              <a:rPr lang="zh-CN" altLang="en-US" dirty="0"/>
              <a:t>Second, how to eliminate scheduling delays? We hope that the scheduler's resource allocation plan will change as soon as the demands of UEs change, but scheduling delays still exist inevitably. The scheduling delays come from the execution time of the state recognition algorithm and its requirement for recording some sampling points.</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Font typeface="Arial" panose="020B0604020202020204" pitchFamily="34" charset="0"/>
              <a:buNone/>
            </a:pPr>
            <a:r>
              <a:rPr lang="en-US" altLang="zh-CN" dirty="0">
                <a:latin typeface="Times New Roman" panose="02020603050405020304" pitchFamily="18" charset="0"/>
                <a:cs typeface="Times New Roman" panose="02020603050405020304" pitchFamily="18" charset="0"/>
                <a:sym typeface="+mn-ea"/>
              </a:rPr>
              <a:t>ElaSe maps different speeds to the bandwidth and sampling rate of SRS, and optimizes resource utilization through resource allocation algorithms.</a:t>
            </a:r>
            <a:endParaRPr lang="en-US" altLang="zh-CN" dirty="0">
              <a:latin typeface="Times New Roman" panose="02020603050405020304" pitchFamily="18" charset="0"/>
              <a:cs typeface="Times New Roman" panose="02020603050405020304" pitchFamily="18" charset="0"/>
              <a:sym typeface="+mn-ea"/>
            </a:endParaRPr>
          </a:p>
          <a:p>
            <a:pPr indent="0">
              <a:buFont typeface="Arial" panose="020B0604020202020204" pitchFamily="34" charset="0"/>
              <a:buNone/>
            </a:pPr>
            <a:endParaRPr lang="zh-CN" altLang="en-US" dirty="0"/>
          </a:p>
          <a:p>
            <a:pPr indent="0">
              <a:buFont typeface="Arial" panose="020B0604020202020204" pitchFamily="34" charset="0"/>
              <a:buNone/>
            </a:pPr>
            <a:r>
              <a:rPr lang="zh-CN" altLang="en-US" dirty="0"/>
              <a:t>The velocity of each</a:t>
            </a:r>
            <a:r>
              <a:rPr lang="en-US" altLang="zh-CN" dirty="0"/>
              <a:t> </a:t>
            </a:r>
            <a:r>
              <a:rPr lang="zh-CN" altLang="en-US" dirty="0"/>
              <a:t>UE is calculated by the base station at the end of </a:t>
            </a:r>
            <a:r>
              <a:rPr lang="en-US" altLang="zh-CN" dirty="0"/>
              <a:t>current</a:t>
            </a:r>
            <a:r>
              <a:rPr lang="zh-CN" altLang="en-US" dirty="0"/>
              <a:t> cycle.</a:t>
            </a:r>
            <a:r>
              <a:rPr lang="en-US" altLang="zh-CN" dirty="0"/>
              <a:t> And then we use this velocity to schedule resources in the next cycle. </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Font typeface="Arial" panose="020B0604020202020204" pitchFamily="34" charset="0"/>
              <a:buNone/>
            </a:pPr>
            <a:r>
              <a:rPr lang="en-US" altLang="zh-CN" dirty="0"/>
              <a:t>method propesed by CIL</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Font typeface="Arial" panose="020B0604020202020204" pitchFamily="34" charset="0"/>
              <a:buNone/>
            </a:pPr>
            <a:r>
              <a:rPr lang="en-US" altLang="zh-CN" dirty="0"/>
              <a:t>After obtaining the velocity of each UE, it is necessary to map the velocity to sensing resources. SRS resources is decides by both sampling rates and SRS bandwiths.  The bandwith is related to the status or the sensing tasks of each UE. our system allow the UE to set the bandwidth. if the UE doesn’t set, The base station classifies UEs into two states: stationary and moving; thus setting corresponding bandwidth.</a:t>
            </a:r>
            <a:endParaRPr lang="en-US" altLang="zh-CN" dirty="0"/>
          </a:p>
          <a:p>
            <a:pPr indent="0">
              <a:buFont typeface="Arial" panose="020B0604020202020204" pitchFamily="34" charset="0"/>
              <a:buNone/>
            </a:pPr>
            <a:r>
              <a:rPr lang="en-US" altLang="zh-CN" dirty="0"/>
              <a:t> </a:t>
            </a:r>
            <a:endParaRPr lang="en-US" altLang="zh-CN" dirty="0"/>
          </a:p>
          <a:p>
            <a:pPr indent="0">
              <a:buFont typeface="Arial" panose="020B0604020202020204" pitchFamily="34" charset="0"/>
              <a:buNone/>
            </a:pPr>
            <a:r>
              <a:rPr lang="en-US" altLang="zh-CN" dirty="0"/>
              <a:t>For the sampling rate, Assuming the UE is sampled once after the same displacement, we establish a positive correlation between the sampling rate and velocity value. The figure one shows xxx.   The localization method adopts a modified super-resolution method from SpotFi. When the velocity grows, its necessary to give a higher sampling ra</a:t>
            </a:r>
            <a:r>
              <a:rPr lang="en-US" altLang="zh-CN" dirty="0"/>
              <a:t>te.</a:t>
            </a:r>
            <a:endParaRPr lang="en-US" altLang="zh-CN" dirty="0"/>
          </a:p>
          <a:p>
            <a:pPr indent="0">
              <a:buFont typeface="Arial" panose="020B0604020202020204" pitchFamily="34" charset="0"/>
              <a:buNone/>
            </a:pPr>
            <a:endParaRPr lang="en-US" altLang="zh-CN" dirty="0"/>
          </a:p>
          <a:p>
            <a:pPr algn="l">
              <a:buClrTx/>
              <a:buSzTx/>
              <a:buFontTx/>
            </a:pPr>
            <a:r>
              <a:rPr lang="en-US" altLang="zh-CN" dirty="0"/>
              <a:t>Before we introduce the resource allocation algorithm, let’s have a look at </a:t>
            </a:r>
            <a:r>
              <a:rPr lang="zh-CN" altLang="en-US">
                <a:solidFill>
                  <a:srgbClr val="C00000"/>
                </a:solidFill>
                <a:latin typeface="Georgia" panose="02040502050405020303" pitchFamily="18" charset="0"/>
                <a:cs typeface="Georgia" panose="02040502050405020303" pitchFamily="18" charset="0"/>
                <a:sym typeface="+mn-ea"/>
              </a:rPr>
              <a:t>Effects of SRS slot numbers </a:t>
            </a:r>
            <a:endParaRPr lang="zh-CN" altLang="en-US">
              <a:solidFill>
                <a:srgbClr val="C00000"/>
              </a:solidFill>
              <a:latin typeface="Georgia" panose="02040502050405020303" pitchFamily="18" charset="0"/>
              <a:cs typeface="Georgia" panose="02040502050405020303" pitchFamily="18" charset="0"/>
            </a:endParaRPr>
          </a:p>
          <a:p>
            <a:pPr algn="l">
              <a:buClrTx/>
              <a:buSzTx/>
              <a:buFontTx/>
            </a:pPr>
            <a:r>
              <a:rPr lang="zh-CN" altLang="en-US">
                <a:solidFill>
                  <a:srgbClr val="C00000"/>
                </a:solidFill>
                <a:latin typeface="Georgia" panose="02040502050405020303" pitchFamily="18" charset="0"/>
                <a:cs typeface="Georgia" panose="02040502050405020303" pitchFamily="18" charset="0"/>
                <a:sym typeface="+mn-ea"/>
              </a:rPr>
              <a:t>on data throughput</a:t>
            </a:r>
            <a:r>
              <a:rPr lang="en-US" altLang="zh-CN">
                <a:solidFill>
                  <a:srgbClr val="C00000"/>
                </a:solidFill>
                <a:latin typeface="Georgia" panose="02040502050405020303" pitchFamily="18" charset="0"/>
                <a:cs typeface="Georgia" panose="02040502050405020303" pitchFamily="18" charset="0"/>
                <a:sym typeface="+mn-ea"/>
              </a:rPr>
              <a:t>. the uplink data throughput decreases as SRS </a:t>
            </a:r>
            <a:r>
              <a:rPr lang="en-US" altLang="zh-CN">
                <a:solidFill>
                  <a:srgbClr val="C00000"/>
                </a:solidFill>
                <a:latin typeface="Georgia" panose="02040502050405020303" pitchFamily="18" charset="0"/>
                <a:cs typeface="Georgia" panose="02040502050405020303" pitchFamily="18" charset="0"/>
              </a:rPr>
              <a:t>slot numbers increase. The throughput with 600 slots is  5.8% less than  that with 100.  The reason is sensing resources and communication resources are mutually exclusive in the OFDMA structure.</a:t>
            </a:r>
            <a:endParaRPr lang="en-US" altLang="zh-CN">
              <a:solidFill>
                <a:srgbClr val="C00000"/>
              </a:solidFill>
              <a:latin typeface="Georgia" panose="02040502050405020303" pitchFamily="18" charset="0"/>
              <a:cs typeface="Georgia" panose="02040502050405020303" pitchFamily="18" charset="0"/>
            </a:endParaRPr>
          </a:p>
          <a:p>
            <a:pPr algn="l">
              <a:buClrTx/>
              <a:buSzTx/>
              <a:buFontTx/>
            </a:pPr>
            <a:endParaRPr lang="en-US" altLang="zh-CN">
              <a:solidFill>
                <a:srgbClr val="C00000"/>
              </a:solidFill>
              <a:latin typeface="Georgia" panose="02040502050405020303" pitchFamily="18" charset="0"/>
              <a:cs typeface="Georgia" panose="02040502050405020303" pitchFamily="18" charset="0"/>
            </a:endParaRPr>
          </a:p>
          <a:p>
            <a:pPr algn="l">
              <a:buClrTx/>
              <a:buSzTx/>
              <a:buFontTx/>
            </a:pPr>
            <a:r>
              <a:rPr lang="en-US" altLang="zh-CN">
                <a:solidFill>
                  <a:srgbClr val="C00000"/>
                </a:solidFill>
                <a:latin typeface="Georgia" panose="02040502050405020303" pitchFamily="18" charset="0"/>
                <a:cs typeface="Georgia" panose="02040502050405020303" pitchFamily="18" charset="0"/>
              </a:rPr>
              <a:t>Therefore, the </a:t>
            </a:r>
            <a:r>
              <a:rPr lang="en-US" altLang="zh-CN" dirty="0">
                <a:sym typeface="+mn-ea"/>
              </a:rPr>
              <a:t>resource allocation algorithm wants to minimize the total number of SRS time </a:t>
            </a:r>
            <a:r>
              <a:rPr lang="en-US" altLang="zh-CN">
                <a:solidFill>
                  <a:srgbClr val="C00000"/>
                </a:solidFill>
                <a:latin typeface="Georgia" panose="02040502050405020303" pitchFamily="18" charset="0"/>
                <a:cs typeface="Georgia" panose="02040502050405020303" pitchFamily="18" charset="0"/>
              </a:rPr>
              <a:t>slots, It combines the sensing</a:t>
            </a:r>
            <a:endParaRPr lang="en-US" altLang="zh-CN">
              <a:solidFill>
                <a:srgbClr val="C00000"/>
              </a:solidFill>
              <a:latin typeface="Georgia" panose="02040502050405020303" pitchFamily="18" charset="0"/>
              <a:cs typeface="Georgia" panose="02040502050405020303" pitchFamily="18" charset="0"/>
            </a:endParaRPr>
          </a:p>
          <a:p>
            <a:pPr algn="l">
              <a:buClrTx/>
              <a:buSzTx/>
              <a:buFontTx/>
            </a:pPr>
            <a:r>
              <a:rPr lang="en-US" altLang="zh-CN">
                <a:solidFill>
                  <a:srgbClr val="C00000"/>
                </a:solidFill>
                <a:latin typeface="Georgia" panose="02040502050405020303" pitchFamily="18" charset="0"/>
                <a:cs typeface="Georgia" panose="02040502050405020303" pitchFamily="18" charset="0"/>
              </a:rPr>
              <a:t>resource demands of some UEs when the sum doesn’t exceed the upper limit of running bandwidth,</a:t>
            </a:r>
            <a:endParaRPr lang="zh-CN" altLang="en-US">
              <a:solidFill>
                <a:srgbClr val="C00000"/>
              </a:solidFill>
              <a:latin typeface="Georgia" panose="02040502050405020303" pitchFamily="18" charset="0"/>
              <a:cs typeface="Georgia" panose="02040502050405020303" pitchFamily="18" charset="0"/>
            </a:endParaRPr>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0">
              <a:buFont typeface="Arial" panose="020B0604020202020204" pitchFamily="34" charset="0"/>
              <a:buNone/>
            </a:pPr>
            <a:r>
              <a:rPr lang="en-US" altLang="zh-CN" dirty="0"/>
              <a:t>The third part is Elimination of Scheduling Delays. remembering we calculate the velocity of current cycle and schedules resources of the next cycle. the Reactive Scheduling Scheme uses the current velocity to schedule. The idea behind it is that the speed will not change frequently.This scheme is useful enough in some scenaries but introduces a delay of one cycle</a:t>
            </a:r>
            <a:endParaRPr lang="en-US" altLang="zh-CN" dirty="0"/>
          </a:p>
          <a:p>
            <a:pPr indent="0">
              <a:buFont typeface="Arial" panose="020B0604020202020204" pitchFamily="34" charset="0"/>
              <a:buNone/>
            </a:pPr>
            <a:r>
              <a:rPr lang="en-US" altLang="zh-CN" dirty="0"/>
              <a:t>between the change in the UE’s velocity and the adjustment of allocating sensing resources.</a:t>
            </a:r>
            <a:endParaRPr lang="en-US" altLang="zh-CN" dirty="0"/>
          </a:p>
          <a:p>
            <a:pPr indent="0">
              <a:buFont typeface="Arial" panose="020B0604020202020204" pitchFamily="34" charset="0"/>
              <a:buNone/>
            </a:pPr>
            <a:endParaRPr lang="en-US" altLang="zh-CN" dirty="0"/>
          </a:p>
          <a:p>
            <a:pPr indent="0">
              <a:buFont typeface="Arial" panose="020B0604020202020204" pitchFamily="34" charset="0"/>
              <a:buNone/>
            </a:pPr>
            <a:r>
              <a:rPr lang="en-US" altLang="zh-CN" dirty="0"/>
              <a:t>In response to this challenge, we propose the Predictive Scheduling Scheme. Although the base station</a:t>
            </a:r>
            <a:endParaRPr lang="en-US" altLang="zh-CN" dirty="0"/>
          </a:p>
          <a:p>
            <a:pPr indent="0">
              <a:buFont typeface="Arial" panose="020B0604020202020204" pitchFamily="34" charset="0"/>
              <a:buNone/>
            </a:pPr>
            <a:r>
              <a:rPr lang="en-US" altLang="zh-CN" dirty="0"/>
              <a:t>lacks knowledge of the UE’s velocity in the next cycle during resource scheduling, it can gather historical velocity data of</a:t>
            </a:r>
            <a:endParaRPr lang="en-US" altLang="zh-CN" dirty="0"/>
          </a:p>
          <a:p>
            <a:pPr indent="0">
              <a:buFont typeface="Arial" panose="020B0604020202020204" pitchFamily="34" charset="0"/>
              <a:buNone/>
            </a:pPr>
            <a:r>
              <a:rPr lang="en-US" altLang="zh-CN" dirty="0"/>
              <a:t>the UE in multiple past cycles. By utilizing this historical data, the base station uses the current acceleration and one Kalman filter to  predict the velocity in the next cycle.  We use </a:t>
            </a:r>
            <a:r>
              <a:rPr lang="en-US" altLang="zh-CN" dirty="0"/>
              <a:t>feedback mechanism, to improve the effect of  predictions based on actual observed velocity data.</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we build a complete 5G testbed including a 5G base</a:t>
            </a:r>
            <a:endParaRPr lang="zh-CN" altLang="en-US" dirty="0"/>
          </a:p>
          <a:p>
            <a:r>
              <a:rPr lang="zh-CN" altLang="en-US" dirty="0"/>
              <a:t>station and multiple commercial 5G UEs. The 5G base station</a:t>
            </a:r>
            <a:endParaRPr lang="zh-CN" altLang="en-US" dirty="0"/>
          </a:p>
          <a:p>
            <a:r>
              <a:rPr lang="zh-CN" altLang="en-US" dirty="0"/>
              <a:t>consists of the 5G vRAN and the 5G core network. Details of</a:t>
            </a:r>
            <a:endParaRPr lang="zh-CN" altLang="en-US" dirty="0"/>
          </a:p>
          <a:p>
            <a:r>
              <a:rPr lang="zh-CN" altLang="en-US" dirty="0"/>
              <a:t>these components are listed as follows:</a:t>
            </a:r>
            <a:endParaRPr lang="zh-CN" altLang="en-US" dirty="0"/>
          </a:p>
          <a:p>
            <a:endParaRPr lang="zh-CN" altLang="en-US" dirty="0"/>
          </a:p>
          <a:p>
            <a:r>
              <a:rPr lang="zh-CN" altLang="en-US" dirty="0"/>
              <a:t>The baseline is a scheme that uses the original SRS with</a:t>
            </a:r>
            <a:endParaRPr lang="zh-CN" altLang="en-US" dirty="0"/>
          </a:p>
          <a:p>
            <a:r>
              <a:rPr lang="zh-CN" altLang="en-US" dirty="0"/>
              <a:t>a sampling rate of 100 Hz and a whole bandwidth, evenly</a:t>
            </a:r>
            <a:endParaRPr lang="zh-CN" altLang="en-US" dirty="0"/>
          </a:p>
          <a:p>
            <a:r>
              <a:rPr lang="zh-CN" altLang="en-US" dirty="0"/>
              <a:t>allocated to UEs.</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A859BF3A-664C-479E-8502-925B1B70ACA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CBE50096-5CCC-4CBD-ABAA-334FDC074E0A}"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69125" y="0"/>
            <a:ext cx="10515600" cy="900979"/>
          </a:xfrm>
        </p:spPr>
        <p:txBody>
          <a:bodyPr>
            <a:normAutofit/>
          </a:bodyPr>
          <a:lstStyle>
            <a:lvl1pPr>
              <a:defRPr sz="3600" b="1">
                <a:solidFill>
                  <a:schemeClr val="tx1"/>
                </a:solidFill>
                <a:latin typeface="Georgia" panose="02040502050405020303" pitchFamily="18" charset="0"/>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369125" y="1202170"/>
            <a:ext cx="11458698" cy="5085813"/>
          </a:xfrm>
        </p:spPr>
        <p:txBody>
          <a:bodyPr/>
          <a:lstStyle>
            <a:lvl1pPr>
              <a:defRPr>
                <a:latin typeface="Georgia" panose="02040502050405020303" pitchFamily="18" charset="0"/>
                <a:ea typeface="微软雅黑 Light" panose="020B0502040204020203" pitchFamily="34" charset="-122"/>
              </a:defRPr>
            </a:lvl1pPr>
            <a:lvl2pPr>
              <a:defRPr>
                <a:latin typeface="Georgia" panose="02040502050405020303" pitchFamily="18" charset="0"/>
                <a:ea typeface="微软雅黑 Light" panose="020B0502040204020203" pitchFamily="34" charset="-122"/>
              </a:defRPr>
            </a:lvl2pPr>
            <a:lvl3pPr>
              <a:defRPr>
                <a:latin typeface="Georgia" panose="02040502050405020303" pitchFamily="18" charset="0"/>
                <a:ea typeface="微软雅黑 Light" panose="020B0502040204020203" pitchFamily="34" charset="-122"/>
              </a:defRPr>
            </a:lvl3pPr>
            <a:lvl4pPr>
              <a:defRPr>
                <a:latin typeface="Georgia" panose="02040502050405020303" pitchFamily="18" charset="0"/>
                <a:ea typeface="微软雅黑 Light" panose="020B0502040204020203" pitchFamily="34" charset="-122"/>
              </a:defRPr>
            </a:lvl4pPr>
            <a:lvl5pPr>
              <a:defRPr>
                <a:latin typeface="Georgia" panose="02040502050405020303" pitchFamily="18" charset="0"/>
                <a:ea typeface="微软雅黑 Light" panose="020B0502040204020203"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866A16B2-8F78-490E-8A4B-BCB27328E075}"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0E49DF86-A253-4663-A432-3B42799C675D}" type="slidenum">
              <a:rPr lang="zh-CN" altLang="en-US" smtClean="0"/>
            </a:fld>
            <a:endParaRPr lang="zh-CN" altLang="en-US"/>
          </a:p>
        </p:txBody>
      </p:sp>
      <p:cxnSp>
        <p:nvCxnSpPr>
          <p:cNvPr id="7" name="直接连接符 6"/>
          <p:cNvCxnSpPr/>
          <p:nvPr userDrawn="1"/>
        </p:nvCxnSpPr>
        <p:spPr>
          <a:xfrm>
            <a:off x="0" y="711202"/>
            <a:ext cx="12192000" cy="0"/>
          </a:xfrm>
          <a:prstGeom prst="line">
            <a:avLst/>
          </a:prstGeom>
          <a:ln w="28575">
            <a:solidFill>
              <a:schemeClr val="tx1">
                <a:alpha val="51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219DC8D-0301-40DF-BADD-82AA46305DBF}" type="datetime1">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Georgia" panose="02040502050405020303" pitchFamily="18" charset="0"/>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3355F8E2-45EF-44C2-A138-44B21BFD316C}"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6C08BA83-D32A-4C9E-AEB5-FF0AF79D9977}" type="datetime1">
              <a:rPr lang="zh-CN" altLang="en-US" smtClean="0"/>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Georgia" panose="02040502050405020303" pitchFamily="18" charset="0"/>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3B450282-8DB2-4150-8309-266031F4CF82}" type="datetime1">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504DA901-87CB-4E4E-8D1D-EB000998212F}" type="datetime1">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00211849-7A83-4B3D-A599-8175913C7B3A}"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272352C1-C5EC-43F9-9E37-33A2E93081D4}" type="datetime1">
              <a:rPr lang="zh-CN" altLang="en-US" smtClean="0"/>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p:txBody>
          <a:bodyPr/>
          <a:lstStyle/>
          <a:p>
            <a:fld id="{0E49DF86-A253-4663-A432-3B42799C675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243444" y="317624"/>
            <a:ext cx="11560629"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243444" y="1825625"/>
            <a:ext cx="11560629" cy="4658302"/>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灯片编号占位符 5"/>
          <p:cNvSpPr>
            <a:spLocks noGrp="1"/>
          </p:cNvSpPr>
          <p:nvPr>
            <p:ph type="sldNum" sz="quarter" idx="4"/>
          </p:nvPr>
        </p:nvSpPr>
        <p:spPr>
          <a:xfrm>
            <a:off x="9060873" y="6540376"/>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0E49DF86-A253-4663-A432-3B42799C675D}"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2.xml"/><Relationship Id="rId6" Type="http://schemas.openxmlformats.org/officeDocument/2006/relationships/themeOverride" Target="../theme/themeOverride1.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themeOverride" Target="../theme/themeOverride2.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2.xml"/><Relationship Id="rId3" Type="http://schemas.openxmlformats.org/officeDocument/2006/relationships/themeOverride" Target="../theme/themeOverride3.xml"/><Relationship Id="rId2" Type="http://schemas.openxmlformats.org/officeDocument/2006/relationships/image" Target="../media/image13.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hemeOverride" Target="../theme/themeOverride4.xml"/><Relationship Id="rId2" Type="http://schemas.openxmlformats.org/officeDocument/2006/relationships/image" Target="../media/image14.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hemeOverride" Target="../theme/themeOverride5.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hemeOverride" Target="../theme/themeOverride6.xml"/><Relationship Id="rId2" Type="http://schemas.openxmlformats.org/officeDocument/2006/relationships/image" Target="../media/image1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themeOverride" Target="../theme/themeOverride7.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xml"/><Relationship Id="rId6" Type="http://schemas.openxmlformats.org/officeDocument/2006/relationships/themeOverride" Target="../theme/themeOverride8.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xml"/><Relationship Id="rId6" Type="http://schemas.openxmlformats.org/officeDocument/2006/relationships/themeOverride" Target="../theme/themeOverride9.xml"/><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themeOverride" Target="../theme/themeOverride10.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themeOverride" Target="../theme/themeOverride11.xml"/><Relationship Id="rId2" Type="http://schemas.openxmlformats.org/officeDocument/2006/relationships/image" Target="../media/image31.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hemeOverride" Target="../theme/themeOverride12.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themeOverride" Target="../theme/themeOverride13.xml"/><Relationship Id="rId2" Type="http://schemas.openxmlformats.org/officeDocument/2006/relationships/image" Target="../media/image34.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themeOverride" Target="../theme/themeOverride14.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529139" y="798351"/>
            <a:ext cx="11133722" cy="1214238"/>
          </a:xfrm>
        </p:spPr>
        <p:txBody>
          <a:bodyPr>
            <a:noAutofit/>
          </a:bodyPr>
          <a:lstStyle/>
          <a:p>
            <a:pPr>
              <a:lnSpc>
                <a:spcPct val="120000"/>
              </a:lnSpc>
            </a:pPr>
            <a:r>
              <a:rPr lang="en-US" altLang="zh-CN" sz="3600" b="1" dirty="0">
                <a:solidFill>
                  <a:srgbClr val="81308C"/>
                </a:solidFill>
                <a:effectLst>
                  <a:outerShdw blurRad="38100" dist="38100" dir="2700000" algn="tl">
                    <a:srgbClr val="000000">
                      <a:alpha val="43137"/>
                    </a:srgbClr>
                  </a:outerShdw>
                </a:effectLst>
                <a:latin typeface="Georgia" panose="02040502050405020303" pitchFamily="18" charset="0"/>
              </a:rPr>
              <a:t>ELASE</a:t>
            </a:r>
            <a:r>
              <a:rPr lang="en-US" altLang="zh-CN" sz="3600" b="1" dirty="0">
                <a:latin typeface="Georgia" panose="02040502050405020303" pitchFamily="18" charset="0"/>
              </a:rPr>
              <a:t>: Enabling Real-time Elastic Sensing</a:t>
            </a:r>
            <a:endParaRPr lang="en-US" altLang="zh-CN" sz="3600" b="1" dirty="0">
              <a:latin typeface="Georgia" panose="02040502050405020303" pitchFamily="18" charset="0"/>
            </a:endParaRPr>
          </a:p>
          <a:p>
            <a:pPr>
              <a:lnSpc>
                <a:spcPct val="120000"/>
              </a:lnSpc>
            </a:pPr>
            <a:r>
              <a:rPr lang="en-US" altLang="zh-CN" sz="3600" b="1" dirty="0">
                <a:latin typeface="Georgia" panose="02040502050405020303" pitchFamily="18" charset="0"/>
              </a:rPr>
              <a:t>Resource Scheduling in 5G vRAN</a:t>
            </a:r>
            <a:endParaRPr lang="en-US" altLang="zh-CN" sz="3600" b="1" dirty="0">
              <a:latin typeface="Georgia" panose="02040502050405020303" pitchFamily="18" charset="0"/>
            </a:endParaRPr>
          </a:p>
        </p:txBody>
      </p:sp>
      <p:sp>
        <p:nvSpPr>
          <p:cNvPr id="6" name="矩形 5"/>
          <p:cNvSpPr/>
          <p:nvPr/>
        </p:nvSpPr>
        <p:spPr>
          <a:xfrm>
            <a:off x="1338184" y="2287779"/>
            <a:ext cx="9176537" cy="1348105"/>
          </a:xfrm>
          <a:prstGeom prst="rect">
            <a:avLst/>
          </a:prstGeom>
        </p:spPr>
        <p:txBody>
          <a:bodyPr wrap="square">
            <a:spAutoFit/>
          </a:bodyPr>
          <a:lstStyle/>
          <a:p>
            <a:pPr marL="0" marR="0" lvl="0" indent="0" algn="ctr" defTabSz="914400" rtl="0" eaLnBrk="1" fontAlgn="auto" latinLnBrk="0" hangingPunct="1">
              <a:lnSpc>
                <a:spcPts val="37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Yulong Chen</a:t>
            </a: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 Junchen Guo, Yimiao Sun, </a:t>
            </a:r>
            <a:endPar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endParaRPr>
          </a:p>
          <a:p>
            <a:pPr marL="0" marR="0" lvl="0" indent="0" algn="ctr" defTabSz="914400" rtl="0" eaLnBrk="1" fontAlgn="auto" latinLnBrk="0" hangingPunct="1">
              <a:lnSpc>
                <a:spcPts val="37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Haipeng Yao, Yunhao Liu, Yuan He†</a:t>
            </a:r>
            <a:endPar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endParaRPr>
          </a:p>
          <a:p>
            <a:pPr marL="0" marR="0" lvl="0" algn="ctr" defTabSz="914400" rtl="0" eaLnBrk="1" fontAlgn="auto" latinLnBrk="0" hangingPunct="1">
              <a:lnSpc>
                <a:spcPct val="100000"/>
              </a:lnSpc>
              <a:spcBef>
                <a:spcPts val="0"/>
              </a:spcBef>
              <a:spcAft>
                <a:spcPts val="0"/>
              </a:spcAft>
              <a:buClrTx/>
              <a:buSzTx/>
              <a:buFontTx/>
              <a:buNone/>
              <a:defRPr/>
            </a:pPr>
            <a:endParaRPr kumimoji="0" lang="en-US" altLang="zh-CN" sz="2000" b="0" i="1"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endParaRPr>
          </a:p>
        </p:txBody>
      </p:sp>
      <p:sp>
        <p:nvSpPr>
          <p:cNvPr id="1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sp>
        <p:nvSpPr>
          <p:cNvPr id="2" name="文本框 1"/>
          <p:cNvSpPr txBox="1"/>
          <p:nvPr/>
        </p:nvSpPr>
        <p:spPr>
          <a:xfrm>
            <a:off x="1887220" y="3429000"/>
            <a:ext cx="8636635" cy="768350"/>
          </a:xfrm>
          <a:prstGeom prst="rect">
            <a:avLst/>
          </a:prstGeom>
          <a:noFill/>
        </p:spPr>
        <p:txBody>
          <a:bodyPr wrap="square" rtlCol="0" anchor="t">
            <a:spAutoFit/>
          </a:bodyPr>
          <a:p>
            <a:pPr marL="0" marR="0" lvl="0" algn="ctr" defTabSz="914400" rtl="0" eaLnBrk="1" fontAlgn="auto" latinLnBrk="0" hangingPunct="1">
              <a:lnSpc>
                <a:spcPct val="100000"/>
              </a:lnSpc>
              <a:spcBef>
                <a:spcPts val="0"/>
              </a:spcBef>
              <a:spcAft>
                <a:spcPts val="0"/>
              </a:spcAft>
              <a:buClrTx/>
              <a:buSzTx/>
              <a:buFontTx/>
              <a:buNone/>
              <a:defRPr/>
            </a:pPr>
            <a:r>
              <a:rPr lang="en-US" altLang="zh-CN" sz="240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sym typeface="+mn-ea"/>
              </a:rPr>
              <a:t>1</a:t>
            </a:r>
            <a:r>
              <a:rPr lang="en-US" altLang="zh-CN" sz="2000" i="1" noProof="0" dirty="0">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sym typeface="+mn-ea"/>
              </a:rPr>
              <a:t>Tsinghua University, China 2Alibaba Group, China </a:t>
            </a:r>
            <a:endParaRPr lang="en-US" altLang="zh-CN" sz="2000" i="1" noProof="0" dirty="0">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sym typeface="+mn-ea"/>
            </a:endParaRPr>
          </a:p>
          <a:p>
            <a:pPr marL="0" marR="0" lvl="0" algn="ctr" defTabSz="914400" rtl="0" eaLnBrk="1" fontAlgn="auto" latinLnBrk="0" hangingPunct="1">
              <a:lnSpc>
                <a:spcPct val="100000"/>
              </a:lnSpc>
              <a:spcBef>
                <a:spcPts val="0"/>
              </a:spcBef>
              <a:spcAft>
                <a:spcPts val="0"/>
              </a:spcAft>
              <a:buClrTx/>
              <a:buSzTx/>
              <a:buFontTx/>
              <a:buNone/>
              <a:defRPr/>
            </a:pPr>
            <a:r>
              <a:rPr lang="en-US" altLang="zh-CN" sz="2000" i="1" noProof="0" dirty="0">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sym typeface="+mn-ea"/>
              </a:rPr>
              <a:t>3Beijing University of Posts and Telecommunications, China</a:t>
            </a:r>
            <a:endParaRPr lang="en-US" altLang="zh-CN" sz="2000" i="1" noProof="0" dirty="0">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sym typeface="+mn-ea"/>
            </a:endParaRPr>
          </a:p>
        </p:txBody>
      </p:sp>
      <p:grpSp>
        <p:nvGrpSpPr>
          <p:cNvPr id="8" name="组合 7"/>
          <p:cNvGrpSpPr/>
          <p:nvPr/>
        </p:nvGrpSpPr>
        <p:grpSpPr>
          <a:xfrm>
            <a:off x="842645" y="4565015"/>
            <a:ext cx="10876280" cy="1152525"/>
            <a:chOff x="1327" y="7461"/>
            <a:chExt cx="17128" cy="1815"/>
          </a:xfrm>
        </p:grpSpPr>
        <p:pic>
          <p:nvPicPr>
            <p:cNvPr id="1030" name="Picture 6" descr="Tsinghua Universit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27" y="7576"/>
              <a:ext cx="4887" cy="1701"/>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descr="227dd295-99df-4f13-86b8-767b17c69c04"/>
            <p:cNvPicPr>
              <a:picLocks noChangeAspect="1"/>
            </p:cNvPicPr>
            <p:nvPr/>
          </p:nvPicPr>
          <p:blipFill>
            <a:blip r:embed="rId2"/>
            <a:stretch>
              <a:fillRect/>
            </a:stretch>
          </p:blipFill>
          <p:spPr>
            <a:xfrm>
              <a:off x="7400" y="7481"/>
              <a:ext cx="4504" cy="1701"/>
            </a:xfrm>
            <a:prstGeom prst="rect">
              <a:avLst/>
            </a:prstGeom>
          </p:spPr>
        </p:pic>
        <p:pic>
          <p:nvPicPr>
            <p:cNvPr id="7" name="图片 6" descr="北邮校名校徽编排 横版中英文"/>
            <p:cNvPicPr>
              <a:picLocks noChangeAspect="1"/>
            </p:cNvPicPr>
            <p:nvPr/>
          </p:nvPicPr>
          <p:blipFill>
            <a:blip r:embed="rId3"/>
            <a:stretch>
              <a:fillRect/>
            </a:stretch>
          </p:blipFill>
          <p:spPr>
            <a:xfrm>
              <a:off x="12789" y="7461"/>
              <a:ext cx="5667" cy="1701"/>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sz="3200" dirty="0"/>
              <a:t>Paradigm: Integrated Sensing and Communication</a:t>
            </a:r>
            <a:endParaRPr lang="en-US" altLang="zh-CN" sz="3200" dirty="0"/>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5" name="组合 34"/>
          <p:cNvGrpSpPr/>
          <p:nvPr/>
        </p:nvGrpSpPr>
        <p:grpSpPr>
          <a:xfrm>
            <a:off x="678415" y="5239280"/>
            <a:ext cx="10835170" cy="978784"/>
            <a:chOff x="574039" y="4882266"/>
            <a:chExt cx="10835170" cy="978784"/>
          </a:xfrm>
        </p:grpSpPr>
        <p:sp>
          <p:nvSpPr>
            <p:cNvPr id="36" name="矩形: 圆角 35"/>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45195" y="4969022"/>
              <a:ext cx="10664014" cy="738505"/>
            </a:xfrm>
            <a:prstGeom prst="rect">
              <a:avLst/>
            </a:prstGeom>
            <a:ln>
              <a:noFill/>
            </a:ln>
          </p:spPr>
          <p:txBody>
            <a:bodyPr wrap="square" lIns="0" tIns="0" rIns="0" bIns="0">
              <a:spAutoFit/>
            </a:bodyPr>
            <a:lstStyle/>
            <a:p>
              <a:r>
                <a:rPr kumimoji="1" lang="en-US" altLang="zh-CN" sz="2400" b="1" dirty="0">
                  <a:solidFill>
                    <a:srgbClr val="98061D"/>
                  </a:solidFill>
                  <a:latin typeface="Georgia" panose="02040502050405020303" pitchFamily="18" charset="0"/>
                  <a:ea typeface="微软雅黑" panose="020B0503020204020204" pitchFamily="34" charset="-122"/>
                </a:rPr>
                <a:t>Insight</a:t>
              </a:r>
              <a:r>
                <a:rPr kumimoji="1" lang="en-US" altLang="zh-CN" sz="2400" b="1" dirty="0">
                  <a:latin typeface="Georgia" panose="02040502050405020303" pitchFamily="18" charset="0"/>
                  <a:ea typeface="微软雅黑" panose="020B0503020204020204" pitchFamily="34" charset="-122"/>
                </a:rPr>
                <a:t>: Cellular networks have the characteristics of wide distribution and </a:t>
              </a:r>
              <a:r>
                <a:rPr kumimoji="1" lang="en-US" altLang="zh-CN" sz="2400" b="1" dirty="0">
                  <a:solidFill>
                    <a:srgbClr val="98061D"/>
                  </a:solidFill>
                  <a:latin typeface="Georgia" panose="02040502050405020303" pitchFamily="18" charset="0"/>
                  <a:ea typeface="微软雅黑" panose="020B0503020204020204" pitchFamily="34" charset="-122"/>
                </a:rPr>
                <a:t>centralized RF resource scheduling</a:t>
              </a:r>
              <a:r>
                <a:rPr kumimoji="1" lang="en-US" altLang="zh-CN" sz="2400" b="1" dirty="0">
                  <a:latin typeface="Georgia" panose="02040502050405020303" pitchFamily="18" charset="0"/>
                  <a:ea typeface="微软雅黑" panose="020B0503020204020204" pitchFamily="34" charset="-122"/>
                </a:rPr>
                <a:t>. </a:t>
              </a:r>
              <a:endParaRPr kumimoji="1" lang="en-US" altLang="zh-CN" sz="2400" dirty="0">
                <a:latin typeface="Georgia" panose="02040502050405020303" pitchFamily="18" charset="0"/>
                <a:ea typeface="微软雅黑" panose="020B0503020204020204" pitchFamily="34" charset="-122"/>
              </a:endParaRPr>
            </a:p>
          </p:txBody>
        </p:sp>
      </p:grpSp>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3" name="组合 2"/>
          <p:cNvGrpSpPr/>
          <p:nvPr/>
        </p:nvGrpSpPr>
        <p:grpSpPr>
          <a:xfrm>
            <a:off x="635" y="6627495"/>
            <a:ext cx="12186920" cy="230505"/>
            <a:chOff x="1" y="10437"/>
            <a:chExt cx="19192" cy="363"/>
          </a:xfrm>
        </p:grpSpPr>
        <p:sp>
          <p:nvSpPr>
            <p:cNvPr id="23" name="矩形 22"/>
            <p:cNvSpPr/>
            <p:nvPr/>
          </p:nvSpPr>
          <p:spPr>
            <a:xfrm>
              <a:off x="1" y="10438"/>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40"/>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p:cNvSpPr/>
            <p:nvPr/>
          </p:nvSpPr>
          <p:spPr>
            <a:xfrm>
              <a:off x="7665" y="10440"/>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91" name="组合 90"/>
          <p:cNvGrpSpPr/>
          <p:nvPr/>
        </p:nvGrpSpPr>
        <p:grpSpPr>
          <a:xfrm>
            <a:off x="247650" y="1430020"/>
            <a:ext cx="11699240" cy="3512820"/>
            <a:chOff x="390" y="2252"/>
            <a:chExt cx="18424" cy="5532"/>
          </a:xfrm>
        </p:grpSpPr>
        <p:grpSp>
          <p:nvGrpSpPr>
            <p:cNvPr id="89" name="组合 88"/>
            <p:cNvGrpSpPr/>
            <p:nvPr/>
          </p:nvGrpSpPr>
          <p:grpSpPr>
            <a:xfrm>
              <a:off x="390" y="2252"/>
              <a:ext cx="8936" cy="5533"/>
              <a:chOff x="390" y="2252"/>
              <a:chExt cx="8936" cy="5533"/>
            </a:xfrm>
          </p:grpSpPr>
          <p:sp>
            <p:nvSpPr>
              <p:cNvPr id="12" name="矩形: 圆角 11"/>
              <p:cNvSpPr/>
              <p:nvPr/>
            </p:nvSpPr>
            <p:spPr>
              <a:xfrm>
                <a:off x="390" y="2261"/>
                <a:ext cx="8936" cy="5525"/>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顶角 25"/>
              <p:cNvSpPr/>
              <p:nvPr/>
            </p:nvSpPr>
            <p:spPr>
              <a:xfrm>
                <a:off x="390" y="2252"/>
                <a:ext cx="8932" cy="68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0" rIns="3600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Cellular Network</a:t>
                </a:r>
                <a:endParaRPr lang="en-US" altLang="zh-CN" sz="2000" b="1" dirty="0">
                  <a:solidFill>
                    <a:schemeClr val="bg1"/>
                  </a:solidFill>
                  <a:latin typeface="Georgia" panose="02040502050405020303" pitchFamily="18" charset="0"/>
                  <a:ea typeface="微软雅黑" panose="020B0503020204020204" pitchFamily="34" charset="-122"/>
                </a:endParaRPr>
              </a:p>
            </p:txBody>
          </p:sp>
        </p:grpSp>
        <p:grpSp>
          <p:nvGrpSpPr>
            <p:cNvPr id="87" name="组合 86"/>
            <p:cNvGrpSpPr/>
            <p:nvPr/>
          </p:nvGrpSpPr>
          <p:grpSpPr>
            <a:xfrm>
              <a:off x="9878" y="2252"/>
              <a:ext cx="8936" cy="5524"/>
              <a:chOff x="9878" y="2252"/>
              <a:chExt cx="8936" cy="5524"/>
            </a:xfrm>
          </p:grpSpPr>
          <p:sp>
            <p:nvSpPr>
              <p:cNvPr id="15" name="矩形: 圆角 14"/>
              <p:cNvSpPr/>
              <p:nvPr/>
            </p:nvSpPr>
            <p:spPr>
              <a:xfrm>
                <a:off x="9878" y="2252"/>
                <a:ext cx="8936" cy="5525"/>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CSI sampling problem</a:t>
                </a:r>
                <a:endParaRPr lang="zh-CN" altLang="en-US"/>
              </a:p>
            </p:txBody>
          </p:sp>
          <p:sp>
            <p:nvSpPr>
              <p:cNvPr id="27" name="矩形: 圆顶角 26"/>
              <p:cNvSpPr/>
              <p:nvPr/>
            </p:nvSpPr>
            <p:spPr>
              <a:xfrm>
                <a:off x="9878" y="2252"/>
                <a:ext cx="8932" cy="68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Wi-Fi Network</a:t>
                </a:r>
                <a:endParaRPr lang="en-US" altLang="zh-CN" sz="2000" b="1" dirty="0">
                  <a:solidFill>
                    <a:schemeClr val="bg1"/>
                  </a:solidFill>
                  <a:latin typeface="Georgia" panose="02040502050405020303" pitchFamily="18" charset="0"/>
                  <a:ea typeface="微软雅黑" panose="020B0503020204020204" pitchFamily="34" charset="-122"/>
                </a:endParaRPr>
              </a:p>
            </p:txBody>
          </p:sp>
        </p:grpSp>
        <p:grpSp>
          <p:nvGrpSpPr>
            <p:cNvPr id="5" name="组合 4"/>
            <p:cNvGrpSpPr/>
            <p:nvPr/>
          </p:nvGrpSpPr>
          <p:grpSpPr>
            <a:xfrm>
              <a:off x="581" y="3647"/>
              <a:ext cx="8490" cy="3386"/>
              <a:chOff x="1460" y="1392"/>
              <a:chExt cx="10010" cy="4057"/>
            </a:xfrm>
          </p:grpSpPr>
          <p:pic>
            <p:nvPicPr>
              <p:cNvPr id="60" name="picture 60"/>
              <p:cNvPicPr>
                <a:picLocks noChangeAspect="1"/>
              </p:cNvPicPr>
              <p:nvPr/>
            </p:nvPicPr>
            <p:blipFill>
              <a:blip r:embed="rId2"/>
              <a:srcRect l="5726" r="5264" b="4052"/>
              <a:stretch>
                <a:fillRect/>
              </a:stretch>
            </p:blipFill>
            <p:spPr>
              <a:xfrm rot="21600000">
                <a:off x="1460" y="1392"/>
                <a:ext cx="10010" cy="4057"/>
              </a:xfrm>
              <a:prstGeom prst="rect">
                <a:avLst/>
              </a:prstGeom>
            </p:spPr>
          </p:pic>
          <p:pic>
            <p:nvPicPr>
              <p:cNvPr id="62" name="picture 62"/>
              <p:cNvPicPr>
                <a:picLocks noChangeAspect="1"/>
              </p:cNvPicPr>
              <p:nvPr/>
            </p:nvPicPr>
            <p:blipFill>
              <a:blip r:embed="rId3"/>
              <a:stretch>
                <a:fillRect/>
              </a:stretch>
            </p:blipFill>
            <p:spPr>
              <a:xfrm rot="21600000">
                <a:off x="2409" y="2349"/>
                <a:ext cx="8160" cy="2331"/>
              </a:xfrm>
              <a:prstGeom prst="rect">
                <a:avLst/>
              </a:prstGeom>
            </p:spPr>
          </p:pic>
          <p:pic>
            <p:nvPicPr>
              <p:cNvPr id="84" name="picture 84"/>
              <p:cNvPicPr>
                <a:picLocks noChangeAspect="1"/>
              </p:cNvPicPr>
              <p:nvPr/>
            </p:nvPicPr>
            <p:blipFill>
              <a:blip r:embed="rId4"/>
              <a:stretch>
                <a:fillRect/>
              </a:stretch>
            </p:blipFill>
            <p:spPr>
              <a:xfrm rot="21600000">
                <a:off x="2611" y="2646"/>
                <a:ext cx="476" cy="705"/>
              </a:xfrm>
              <a:prstGeom prst="rect">
                <a:avLst/>
              </a:prstGeom>
            </p:spPr>
          </p:pic>
          <p:pic>
            <p:nvPicPr>
              <p:cNvPr id="86" name="picture 86"/>
              <p:cNvPicPr>
                <a:picLocks noChangeAspect="1"/>
              </p:cNvPicPr>
              <p:nvPr/>
            </p:nvPicPr>
            <p:blipFill>
              <a:blip r:embed="rId5"/>
              <a:stretch>
                <a:fillRect/>
              </a:stretch>
            </p:blipFill>
            <p:spPr>
              <a:xfrm rot="21600000">
                <a:off x="4631" y="2858"/>
                <a:ext cx="470" cy="705"/>
              </a:xfrm>
              <a:prstGeom prst="rect">
                <a:avLst/>
              </a:prstGeom>
            </p:spPr>
          </p:pic>
          <p:pic>
            <p:nvPicPr>
              <p:cNvPr id="88" name="picture 88"/>
              <p:cNvPicPr>
                <a:picLocks noChangeAspect="1"/>
              </p:cNvPicPr>
              <p:nvPr/>
            </p:nvPicPr>
            <p:blipFill>
              <a:blip r:embed="rId5"/>
              <a:stretch>
                <a:fillRect/>
              </a:stretch>
            </p:blipFill>
            <p:spPr>
              <a:xfrm rot="21600000">
                <a:off x="6999" y="2308"/>
                <a:ext cx="470" cy="705"/>
              </a:xfrm>
              <a:prstGeom prst="rect">
                <a:avLst/>
              </a:prstGeom>
            </p:spPr>
          </p:pic>
          <p:pic>
            <p:nvPicPr>
              <p:cNvPr id="90" name="picture 90"/>
              <p:cNvPicPr>
                <a:picLocks noChangeAspect="1"/>
              </p:cNvPicPr>
              <p:nvPr/>
            </p:nvPicPr>
            <p:blipFill>
              <a:blip r:embed="rId5"/>
              <a:stretch>
                <a:fillRect/>
              </a:stretch>
            </p:blipFill>
            <p:spPr>
              <a:xfrm rot="21600000">
                <a:off x="10170" y="2033"/>
                <a:ext cx="470" cy="705"/>
              </a:xfrm>
              <a:prstGeom prst="rect">
                <a:avLst/>
              </a:prstGeom>
            </p:spPr>
          </p:pic>
          <p:sp>
            <p:nvSpPr>
              <p:cNvPr id="94" name="textbox 94"/>
              <p:cNvSpPr/>
              <p:nvPr/>
            </p:nvSpPr>
            <p:spPr>
              <a:xfrm>
                <a:off x="10598" y="1719"/>
                <a:ext cx="872" cy="308"/>
              </a:xfrm>
              <a:prstGeom prst="rect">
                <a:avLst/>
              </a:prstGeom>
            </p:spPr>
            <p:txBody>
              <a:bodyPr vert="horz" wrap="square" lIns="0" tIns="0" rIns="0" bIns="0"/>
              <a:lstStyle/>
              <a:p>
                <a:pPr algn="l" rtl="0" eaLnBrk="0">
                  <a:lnSpc>
                    <a:spcPct val="79000"/>
                  </a:lnSpc>
                </a:pPr>
                <a:endParaRPr lang="en-US" altLang="en-US" sz="100" dirty="0"/>
              </a:p>
              <a:p>
                <a:pPr marL="12700" algn="l" rtl="0" eaLnBrk="0">
                  <a:lnSpc>
                    <a:spcPct val="80000"/>
                  </a:lnSpc>
                </a:pPr>
                <a:r>
                  <a:rPr sz="1400" kern="0" spc="-50" dirty="0">
                    <a:solidFill>
                      <a:srgbClr val="000000">
                        <a:alpha val="100000"/>
                      </a:srgbClr>
                    </a:solidFill>
                    <a:latin typeface="Arial" panose="020B0604020202020204"/>
                    <a:ea typeface="Arial" panose="020B0604020202020204"/>
                    <a:cs typeface="Arial" panose="020B0604020202020204"/>
                  </a:rPr>
                  <a:t>RAN</a:t>
                </a:r>
                <a:endParaRPr lang="en-US" altLang="en-US" sz="1400" dirty="0"/>
              </a:p>
            </p:txBody>
          </p:sp>
        </p:grpSp>
        <p:sp>
          <p:nvSpPr>
            <p:cNvPr id="6" name="文本框 5"/>
            <p:cNvSpPr txBox="1"/>
            <p:nvPr/>
          </p:nvSpPr>
          <p:spPr>
            <a:xfrm>
              <a:off x="16493" y="4385"/>
              <a:ext cx="2227" cy="531"/>
            </a:xfrm>
            <a:prstGeom prst="rect">
              <a:avLst/>
            </a:prstGeom>
            <a:noFill/>
          </p:spPr>
          <p:txBody>
            <a:bodyPr wrap="square" rtlCol="0">
              <a:spAutoFit/>
            </a:bodyPr>
            <a:p>
              <a:r>
                <a:rPr lang="en-US" altLang="zh-CN" sz="1600">
                  <a:latin typeface="Georgia" panose="02040502050405020303" pitchFamily="18" charset="0"/>
                  <a:cs typeface="Georgia" panose="02040502050405020303" pitchFamily="18" charset="0"/>
                </a:rPr>
                <a:t>Time</a:t>
              </a:r>
              <a:endParaRPr lang="en-US" altLang="zh-CN" sz="1600">
                <a:latin typeface="Georgia" panose="02040502050405020303" pitchFamily="18" charset="0"/>
                <a:cs typeface="Georgia" panose="02040502050405020303" pitchFamily="18" charset="0"/>
              </a:endParaRPr>
            </a:p>
          </p:txBody>
        </p:sp>
        <p:sp>
          <p:nvSpPr>
            <p:cNvPr id="66" name="文本框 65"/>
            <p:cNvSpPr txBox="1"/>
            <p:nvPr/>
          </p:nvSpPr>
          <p:spPr>
            <a:xfrm>
              <a:off x="16533" y="6129"/>
              <a:ext cx="2227" cy="531"/>
            </a:xfrm>
            <a:prstGeom prst="rect">
              <a:avLst/>
            </a:prstGeom>
            <a:noFill/>
          </p:spPr>
          <p:txBody>
            <a:bodyPr wrap="square" rtlCol="0">
              <a:spAutoFit/>
            </a:bodyPr>
            <a:p>
              <a:r>
                <a:rPr lang="en-US" altLang="zh-CN" sz="1600">
                  <a:latin typeface="Georgia" panose="02040502050405020303" pitchFamily="18" charset="0"/>
                  <a:cs typeface="Georgia" panose="02040502050405020303" pitchFamily="18" charset="0"/>
                </a:rPr>
                <a:t>Time</a:t>
              </a:r>
              <a:endParaRPr lang="en-US" altLang="zh-CN" sz="1600">
                <a:latin typeface="Georgia" panose="02040502050405020303" pitchFamily="18" charset="0"/>
                <a:cs typeface="Georgia" panose="02040502050405020303" pitchFamily="18" charset="0"/>
              </a:endParaRPr>
            </a:p>
          </p:txBody>
        </p:sp>
        <p:grpSp>
          <p:nvGrpSpPr>
            <p:cNvPr id="83" name="组合 82"/>
            <p:cNvGrpSpPr/>
            <p:nvPr/>
          </p:nvGrpSpPr>
          <p:grpSpPr>
            <a:xfrm>
              <a:off x="11415" y="3061"/>
              <a:ext cx="5861" cy="4052"/>
              <a:chOff x="11267" y="3225"/>
              <a:chExt cx="5861" cy="4052"/>
            </a:xfrm>
          </p:grpSpPr>
          <p:cxnSp>
            <p:nvCxnSpPr>
              <p:cNvPr id="4" name="直接箭头连接符 3"/>
              <p:cNvCxnSpPr/>
              <p:nvPr/>
            </p:nvCxnSpPr>
            <p:spPr>
              <a:xfrm>
                <a:off x="11267" y="4346"/>
                <a:ext cx="5693" cy="13"/>
              </a:xfrm>
              <a:prstGeom prst="straightConnector1">
                <a:avLst/>
              </a:prstGeom>
              <a:ln w="28575" cmpd="sng">
                <a:solidFill>
                  <a:schemeClr val="accent2"/>
                </a:solidFill>
                <a:prstDash val="solid"/>
                <a:tailEnd type="arrow"/>
              </a:ln>
            </p:spPr>
            <p:style>
              <a:lnRef idx="2">
                <a:schemeClr val="accent1"/>
              </a:lnRef>
              <a:fillRef idx="0">
                <a:srgbClr val="FFFFFF"/>
              </a:fillRef>
              <a:effectRef idx="0">
                <a:srgbClr val="FFFFFF"/>
              </a:effectRef>
              <a:fontRef idx="minor">
                <a:schemeClr val="tx1"/>
              </a:fontRef>
            </p:style>
          </p:cxnSp>
          <p:sp>
            <p:nvSpPr>
              <p:cNvPr id="7" name="圆角矩形 6"/>
              <p:cNvSpPr/>
              <p:nvPr/>
            </p:nvSpPr>
            <p:spPr>
              <a:xfrm>
                <a:off x="11310"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1509"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圆角矩形 10"/>
              <p:cNvSpPr/>
              <p:nvPr/>
            </p:nvSpPr>
            <p:spPr>
              <a:xfrm>
                <a:off x="117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圆角矩形 15"/>
              <p:cNvSpPr/>
              <p:nvPr/>
            </p:nvSpPr>
            <p:spPr>
              <a:xfrm>
                <a:off x="119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圆角矩形 16"/>
              <p:cNvSpPr/>
              <p:nvPr/>
            </p:nvSpPr>
            <p:spPr>
              <a:xfrm>
                <a:off x="12107"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圆角矩形 17"/>
              <p:cNvSpPr/>
              <p:nvPr/>
            </p:nvSpPr>
            <p:spPr>
              <a:xfrm>
                <a:off x="12306"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圆角矩形 21"/>
              <p:cNvSpPr/>
              <p:nvPr/>
            </p:nvSpPr>
            <p:spPr>
              <a:xfrm>
                <a:off x="12505"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圆角矩形 23"/>
              <p:cNvSpPr/>
              <p:nvPr/>
            </p:nvSpPr>
            <p:spPr>
              <a:xfrm>
                <a:off x="12704"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圆角矩形 30"/>
              <p:cNvSpPr/>
              <p:nvPr/>
            </p:nvSpPr>
            <p:spPr>
              <a:xfrm>
                <a:off x="12903"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3" name="组合 32"/>
              <p:cNvGrpSpPr/>
              <p:nvPr/>
            </p:nvGrpSpPr>
            <p:grpSpPr>
              <a:xfrm>
                <a:off x="13123" y="3920"/>
                <a:ext cx="1727" cy="226"/>
                <a:chOff x="11310" y="3920"/>
                <a:chExt cx="1727" cy="226"/>
              </a:xfrm>
            </p:grpSpPr>
            <p:grpSp>
              <p:nvGrpSpPr>
                <p:cNvPr id="34" name="组合 33"/>
                <p:cNvGrpSpPr/>
                <p:nvPr/>
              </p:nvGrpSpPr>
              <p:grpSpPr>
                <a:xfrm>
                  <a:off x="11310" y="3920"/>
                  <a:ext cx="532" cy="226"/>
                  <a:chOff x="11310" y="3920"/>
                  <a:chExt cx="532" cy="226"/>
                </a:xfrm>
              </p:grpSpPr>
              <p:sp>
                <p:nvSpPr>
                  <p:cNvPr id="38" name="圆角矩形 37"/>
                  <p:cNvSpPr/>
                  <p:nvPr/>
                </p:nvSpPr>
                <p:spPr>
                  <a:xfrm>
                    <a:off x="11310"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9" name="圆角矩形 38"/>
                  <p:cNvSpPr/>
                  <p:nvPr/>
                </p:nvSpPr>
                <p:spPr>
                  <a:xfrm>
                    <a:off x="11509"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0" name="圆角矩形 39"/>
                  <p:cNvSpPr/>
                  <p:nvPr/>
                </p:nvSpPr>
                <p:spPr>
                  <a:xfrm>
                    <a:off x="117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41" name="组合 40"/>
                <p:cNvGrpSpPr/>
                <p:nvPr/>
              </p:nvGrpSpPr>
              <p:grpSpPr>
                <a:xfrm>
                  <a:off x="11908" y="3920"/>
                  <a:ext cx="532" cy="226"/>
                  <a:chOff x="11310" y="3920"/>
                  <a:chExt cx="532" cy="226"/>
                </a:xfrm>
              </p:grpSpPr>
              <p:sp>
                <p:nvSpPr>
                  <p:cNvPr id="42" name="圆角矩形 41"/>
                  <p:cNvSpPr/>
                  <p:nvPr/>
                </p:nvSpPr>
                <p:spPr>
                  <a:xfrm>
                    <a:off x="11310"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3" name="圆角矩形 42"/>
                  <p:cNvSpPr/>
                  <p:nvPr/>
                </p:nvSpPr>
                <p:spPr>
                  <a:xfrm>
                    <a:off x="11509"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4" name="圆角矩形 43"/>
                  <p:cNvSpPr/>
                  <p:nvPr/>
                </p:nvSpPr>
                <p:spPr>
                  <a:xfrm>
                    <a:off x="117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45" name="组合 44"/>
                <p:cNvGrpSpPr/>
                <p:nvPr/>
              </p:nvGrpSpPr>
              <p:grpSpPr>
                <a:xfrm>
                  <a:off x="12505" y="3920"/>
                  <a:ext cx="532" cy="226"/>
                  <a:chOff x="11310" y="3920"/>
                  <a:chExt cx="532" cy="226"/>
                </a:xfrm>
              </p:grpSpPr>
              <p:sp>
                <p:nvSpPr>
                  <p:cNvPr id="46" name="圆角矩形 45"/>
                  <p:cNvSpPr/>
                  <p:nvPr/>
                </p:nvSpPr>
                <p:spPr>
                  <a:xfrm>
                    <a:off x="11310"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圆角矩形 46"/>
                  <p:cNvSpPr/>
                  <p:nvPr/>
                </p:nvSpPr>
                <p:spPr>
                  <a:xfrm>
                    <a:off x="11509"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圆角矩形 47"/>
                  <p:cNvSpPr/>
                  <p:nvPr/>
                </p:nvSpPr>
                <p:spPr>
                  <a:xfrm>
                    <a:off x="117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grpSp>
            <p:nvGrpSpPr>
              <p:cNvPr id="49" name="组合 48"/>
              <p:cNvGrpSpPr/>
              <p:nvPr/>
            </p:nvGrpSpPr>
            <p:grpSpPr>
              <a:xfrm>
                <a:off x="14941" y="3920"/>
                <a:ext cx="1727" cy="226"/>
                <a:chOff x="11310" y="3920"/>
                <a:chExt cx="1727" cy="226"/>
              </a:xfrm>
            </p:grpSpPr>
            <p:grpSp>
              <p:nvGrpSpPr>
                <p:cNvPr id="50" name="组合 49"/>
                <p:cNvGrpSpPr/>
                <p:nvPr/>
              </p:nvGrpSpPr>
              <p:grpSpPr>
                <a:xfrm>
                  <a:off x="11310" y="3920"/>
                  <a:ext cx="532" cy="226"/>
                  <a:chOff x="11310" y="3920"/>
                  <a:chExt cx="532" cy="226"/>
                </a:xfrm>
              </p:grpSpPr>
              <p:sp>
                <p:nvSpPr>
                  <p:cNvPr id="51" name="圆角矩形 50"/>
                  <p:cNvSpPr/>
                  <p:nvPr/>
                </p:nvSpPr>
                <p:spPr>
                  <a:xfrm>
                    <a:off x="11310"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2" name="圆角矩形 51"/>
                  <p:cNvSpPr/>
                  <p:nvPr/>
                </p:nvSpPr>
                <p:spPr>
                  <a:xfrm>
                    <a:off x="11509"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3" name="圆角矩形 52"/>
                  <p:cNvSpPr/>
                  <p:nvPr/>
                </p:nvSpPr>
                <p:spPr>
                  <a:xfrm>
                    <a:off x="117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54" name="组合 53"/>
                <p:cNvGrpSpPr/>
                <p:nvPr/>
              </p:nvGrpSpPr>
              <p:grpSpPr>
                <a:xfrm>
                  <a:off x="11908" y="3920"/>
                  <a:ext cx="532" cy="226"/>
                  <a:chOff x="11310" y="3920"/>
                  <a:chExt cx="532" cy="226"/>
                </a:xfrm>
              </p:grpSpPr>
              <p:sp>
                <p:nvSpPr>
                  <p:cNvPr id="55" name="圆角矩形 54"/>
                  <p:cNvSpPr/>
                  <p:nvPr/>
                </p:nvSpPr>
                <p:spPr>
                  <a:xfrm>
                    <a:off x="11310"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6" name="圆角矩形 55"/>
                  <p:cNvSpPr/>
                  <p:nvPr/>
                </p:nvSpPr>
                <p:spPr>
                  <a:xfrm>
                    <a:off x="11509"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圆角矩形 56"/>
                  <p:cNvSpPr/>
                  <p:nvPr/>
                </p:nvSpPr>
                <p:spPr>
                  <a:xfrm>
                    <a:off x="117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58" name="组合 57"/>
                <p:cNvGrpSpPr/>
                <p:nvPr/>
              </p:nvGrpSpPr>
              <p:grpSpPr>
                <a:xfrm>
                  <a:off x="12505" y="3920"/>
                  <a:ext cx="532" cy="226"/>
                  <a:chOff x="11310" y="3920"/>
                  <a:chExt cx="532" cy="226"/>
                </a:xfrm>
              </p:grpSpPr>
              <p:sp>
                <p:nvSpPr>
                  <p:cNvPr id="59" name="圆角矩形 58"/>
                  <p:cNvSpPr/>
                  <p:nvPr/>
                </p:nvSpPr>
                <p:spPr>
                  <a:xfrm>
                    <a:off x="11310"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1" name="圆角矩形 60"/>
                  <p:cNvSpPr/>
                  <p:nvPr/>
                </p:nvSpPr>
                <p:spPr>
                  <a:xfrm>
                    <a:off x="11509"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3" name="圆角矩形 62"/>
                  <p:cNvSpPr/>
                  <p:nvPr/>
                </p:nvSpPr>
                <p:spPr>
                  <a:xfrm>
                    <a:off x="11708" y="3920"/>
                    <a:ext cx="134" cy="227"/>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sp>
            <p:nvSpPr>
              <p:cNvPr id="64" name="文本框 63"/>
              <p:cNvSpPr txBox="1"/>
              <p:nvPr/>
            </p:nvSpPr>
            <p:spPr>
              <a:xfrm>
                <a:off x="11310" y="3225"/>
                <a:ext cx="5223" cy="531"/>
              </a:xfrm>
              <a:prstGeom prst="rect">
                <a:avLst/>
              </a:prstGeom>
              <a:noFill/>
            </p:spPr>
            <p:txBody>
              <a:bodyPr wrap="square" rtlCol="0">
                <a:spAutoFit/>
              </a:bodyPr>
              <a:p>
                <a:r>
                  <a:rPr lang="en-US" altLang="zh-CN" sz="1600">
                    <a:latin typeface="Georgia" panose="02040502050405020303" pitchFamily="18" charset="0"/>
                    <a:cs typeface="Georgia" panose="02040502050405020303" pitchFamily="18" charset="0"/>
                  </a:rPr>
                  <a:t>Excepted CSI samples for sensing</a:t>
                </a:r>
                <a:endParaRPr lang="en-US" altLang="zh-CN" sz="1600">
                  <a:latin typeface="Georgia" panose="02040502050405020303" pitchFamily="18" charset="0"/>
                  <a:cs typeface="Georgia" panose="02040502050405020303" pitchFamily="18" charset="0"/>
                </a:endParaRPr>
              </a:p>
            </p:txBody>
          </p:sp>
          <p:cxnSp>
            <p:nvCxnSpPr>
              <p:cNvPr id="65" name="直接箭头连接符 64"/>
              <p:cNvCxnSpPr/>
              <p:nvPr/>
            </p:nvCxnSpPr>
            <p:spPr>
              <a:xfrm>
                <a:off x="11307" y="6090"/>
                <a:ext cx="5693" cy="13"/>
              </a:xfrm>
              <a:prstGeom prst="straightConnector1">
                <a:avLst/>
              </a:prstGeom>
              <a:ln w="28575" cmpd="sng">
                <a:solidFill>
                  <a:srgbClr val="114D8B"/>
                </a:solidFill>
                <a:prstDash val="solid"/>
                <a:tailEnd type="arrow"/>
              </a:ln>
            </p:spPr>
            <p:style>
              <a:lnRef idx="2">
                <a:schemeClr val="accent1"/>
              </a:lnRef>
              <a:fillRef idx="0">
                <a:srgbClr val="FFFFFF"/>
              </a:fillRef>
              <a:effectRef idx="0">
                <a:srgbClr val="FFFFFF"/>
              </a:effectRef>
              <a:fontRef idx="minor">
                <a:schemeClr val="tx1"/>
              </a:fontRef>
            </p:style>
          </p:cxnSp>
          <p:sp>
            <p:nvSpPr>
              <p:cNvPr id="67" name="文本框 66"/>
              <p:cNvSpPr txBox="1"/>
              <p:nvPr/>
            </p:nvSpPr>
            <p:spPr>
              <a:xfrm>
                <a:off x="11350" y="4969"/>
                <a:ext cx="5778" cy="531"/>
              </a:xfrm>
              <a:prstGeom prst="rect">
                <a:avLst/>
              </a:prstGeom>
              <a:noFill/>
            </p:spPr>
            <p:txBody>
              <a:bodyPr wrap="square" rtlCol="0">
                <a:spAutoFit/>
              </a:bodyPr>
              <a:p>
                <a:r>
                  <a:rPr lang="en-US" altLang="zh-CN" sz="1600">
                    <a:latin typeface="Georgia" panose="02040502050405020303" pitchFamily="18" charset="0"/>
                    <a:cs typeface="Georgia" panose="02040502050405020303" pitchFamily="18" charset="0"/>
                  </a:rPr>
                  <a:t>CSI samples in actual communication</a:t>
                </a:r>
                <a:endParaRPr lang="en-US" altLang="zh-CN" sz="1600">
                  <a:latin typeface="Georgia" panose="02040502050405020303" pitchFamily="18" charset="0"/>
                  <a:cs typeface="Georgia" panose="02040502050405020303" pitchFamily="18" charset="0"/>
                </a:endParaRPr>
              </a:p>
            </p:txBody>
          </p:sp>
          <p:sp>
            <p:nvSpPr>
              <p:cNvPr id="68" name="圆角矩形 67"/>
              <p:cNvSpPr/>
              <p:nvPr/>
            </p:nvSpPr>
            <p:spPr>
              <a:xfrm>
                <a:off x="11310"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9" name="圆角矩形 68"/>
              <p:cNvSpPr/>
              <p:nvPr/>
            </p:nvSpPr>
            <p:spPr>
              <a:xfrm>
                <a:off x="11643"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0" name="圆角矩形 69"/>
              <p:cNvSpPr/>
              <p:nvPr/>
            </p:nvSpPr>
            <p:spPr>
              <a:xfrm>
                <a:off x="11774"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 name="圆角矩形 70"/>
              <p:cNvSpPr/>
              <p:nvPr/>
            </p:nvSpPr>
            <p:spPr>
              <a:xfrm>
                <a:off x="12241"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2" name="圆角矩形 71"/>
              <p:cNvSpPr/>
              <p:nvPr/>
            </p:nvSpPr>
            <p:spPr>
              <a:xfrm>
                <a:off x="12505"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3" name="圆角矩形 72"/>
              <p:cNvSpPr/>
              <p:nvPr/>
            </p:nvSpPr>
            <p:spPr>
              <a:xfrm>
                <a:off x="14582"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4" name="圆角矩形 73"/>
              <p:cNvSpPr/>
              <p:nvPr/>
            </p:nvSpPr>
            <p:spPr>
              <a:xfrm>
                <a:off x="14807"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5" name="圆角矩形 74"/>
              <p:cNvSpPr/>
              <p:nvPr/>
            </p:nvSpPr>
            <p:spPr>
              <a:xfrm>
                <a:off x="16201"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6" name="圆角矩形 75"/>
              <p:cNvSpPr/>
              <p:nvPr/>
            </p:nvSpPr>
            <p:spPr>
              <a:xfrm>
                <a:off x="15006" y="5664"/>
                <a:ext cx="134" cy="227"/>
              </a:xfrm>
              <a:prstGeom prst="roundRect">
                <a:avLst/>
              </a:prstGeom>
              <a:solidFill>
                <a:schemeClr val="accent6"/>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7" name="文本框 76"/>
              <p:cNvSpPr txBox="1"/>
              <p:nvPr/>
            </p:nvSpPr>
            <p:spPr>
              <a:xfrm>
                <a:off x="11294" y="6553"/>
                <a:ext cx="1346" cy="725"/>
              </a:xfrm>
              <a:prstGeom prst="rect">
                <a:avLst/>
              </a:prstGeom>
              <a:noFill/>
            </p:spPr>
            <p:txBody>
              <a:bodyPr wrap="square" rtlCol="0">
                <a:spAutoFit/>
              </a:bodyPr>
              <a:p>
                <a:r>
                  <a:rPr lang="en-US" altLang="zh-CN" sz="1200">
                    <a:latin typeface="Georgia" panose="02040502050405020303" pitchFamily="18" charset="0"/>
                    <a:cs typeface="Georgia" panose="02040502050405020303" pitchFamily="18" charset="0"/>
                  </a:rPr>
                  <a:t>Uneven spacing</a:t>
                </a:r>
                <a:endParaRPr lang="en-US" altLang="zh-CN" sz="1200">
                  <a:latin typeface="Georgia" panose="02040502050405020303" pitchFamily="18" charset="0"/>
                  <a:cs typeface="Georgia" panose="02040502050405020303" pitchFamily="18" charset="0"/>
                </a:endParaRPr>
              </a:p>
            </p:txBody>
          </p:sp>
          <p:sp>
            <p:nvSpPr>
              <p:cNvPr id="78" name="文本框 77"/>
              <p:cNvSpPr txBox="1"/>
              <p:nvPr/>
            </p:nvSpPr>
            <p:spPr>
              <a:xfrm>
                <a:off x="12972" y="6660"/>
                <a:ext cx="1346" cy="434"/>
              </a:xfrm>
              <a:prstGeom prst="rect">
                <a:avLst/>
              </a:prstGeom>
              <a:noFill/>
            </p:spPr>
            <p:txBody>
              <a:bodyPr wrap="square" rtlCol="0">
                <a:spAutoFit/>
              </a:bodyPr>
              <a:p>
                <a:r>
                  <a:rPr lang="en-US" altLang="zh-CN" sz="1200">
                    <a:latin typeface="Georgia" panose="02040502050405020303" pitchFamily="18" charset="0"/>
                    <a:cs typeface="Georgia" panose="02040502050405020303" pitchFamily="18" charset="0"/>
                  </a:rPr>
                  <a:t>No data</a:t>
                </a:r>
                <a:endParaRPr lang="en-US" altLang="zh-CN" sz="1200">
                  <a:latin typeface="Georgia" panose="02040502050405020303" pitchFamily="18" charset="0"/>
                  <a:cs typeface="Georgia" panose="02040502050405020303" pitchFamily="18" charset="0"/>
                </a:endParaRPr>
              </a:p>
            </p:txBody>
          </p:sp>
          <p:sp>
            <p:nvSpPr>
              <p:cNvPr id="79" name="文本框 78"/>
              <p:cNvSpPr txBox="1"/>
              <p:nvPr/>
            </p:nvSpPr>
            <p:spPr>
              <a:xfrm>
                <a:off x="14517" y="6553"/>
                <a:ext cx="1879" cy="725"/>
              </a:xfrm>
              <a:prstGeom prst="rect">
                <a:avLst/>
              </a:prstGeom>
              <a:noFill/>
            </p:spPr>
            <p:txBody>
              <a:bodyPr wrap="square" rtlCol="0">
                <a:spAutoFit/>
              </a:bodyPr>
              <a:p>
                <a:r>
                  <a:rPr lang="en-US" altLang="zh-CN" sz="1200">
                    <a:latin typeface="Georgia" panose="02040502050405020303" pitchFamily="18" charset="0"/>
                    <a:cs typeface="Georgia" panose="02040502050405020303" pitchFamily="18" charset="0"/>
                  </a:rPr>
                  <a:t>Low sampling rate</a:t>
                </a:r>
                <a:endParaRPr lang="en-US" altLang="zh-CN" sz="1200">
                  <a:latin typeface="Georgia" panose="02040502050405020303" pitchFamily="18" charset="0"/>
                  <a:cs typeface="Georgia" panose="02040502050405020303" pitchFamily="18" charset="0"/>
                </a:endParaRPr>
              </a:p>
            </p:txBody>
          </p:sp>
          <p:cxnSp>
            <p:nvCxnSpPr>
              <p:cNvPr id="80" name="直接箭头连接符 79"/>
              <p:cNvCxnSpPr>
                <a:stCxn id="77" idx="0"/>
              </p:cNvCxnSpPr>
              <p:nvPr/>
            </p:nvCxnSpPr>
            <p:spPr>
              <a:xfrm flipH="1" flipV="1">
                <a:off x="11954" y="6175"/>
                <a:ext cx="13" cy="378"/>
              </a:xfrm>
              <a:prstGeom prst="straightConnector1">
                <a:avLst/>
              </a:prstGeom>
              <a:ln w="19050">
                <a:solidFill>
                  <a:srgbClr val="114D8B"/>
                </a:solidFill>
                <a:tailEnd type="arrow"/>
              </a:ln>
            </p:spPr>
            <p:style>
              <a:lnRef idx="2">
                <a:schemeClr val="accent1"/>
              </a:lnRef>
              <a:fillRef idx="0">
                <a:srgbClr val="FFFFFF"/>
              </a:fillRef>
              <a:effectRef idx="0">
                <a:srgbClr val="FFFFFF"/>
              </a:effectRef>
              <a:fontRef idx="minor">
                <a:schemeClr val="tx1"/>
              </a:fontRef>
            </p:style>
          </p:cxnSp>
          <p:cxnSp>
            <p:nvCxnSpPr>
              <p:cNvPr id="81" name="直接箭头连接符 80"/>
              <p:cNvCxnSpPr/>
              <p:nvPr/>
            </p:nvCxnSpPr>
            <p:spPr>
              <a:xfrm flipH="1" flipV="1">
                <a:off x="13508" y="6175"/>
                <a:ext cx="13" cy="378"/>
              </a:xfrm>
              <a:prstGeom prst="straightConnector1">
                <a:avLst/>
              </a:prstGeom>
              <a:ln w="19050">
                <a:solidFill>
                  <a:srgbClr val="114D8B"/>
                </a:solidFill>
                <a:tailEnd type="arrow"/>
              </a:ln>
            </p:spPr>
            <p:style>
              <a:lnRef idx="2">
                <a:schemeClr val="accent1"/>
              </a:lnRef>
              <a:fillRef idx="0">
                <a:srgbClr val="FFFFFF"/>
              </a:fillRef>
              <a:effectRef idx="0">
                <a:srgbClr val="FFFFFF"/>
              </a:effectRef>
              <a:fontRef idx="minor">
                <a:schemeClr val="tx1"/>
              </a:fontRef>
            </p:style>
          </p:cxnSp>
          <p:sp>
            <p:nvSpPr>
              <p:cNvPr id="82" name="左大括号 81"/>
              <p:cNvSpPr/>
              <p:nvPr/>
            </p:nvSpPr>
            <p:spPr>
              <a:xfrm rot="16200000">
                <a:off x="15375" y="5481"/>
                <a:ext cx="216" cy="1826"/>
              </a:xfrm>
              <a:prstGeom prst="leftBrace">
                <a:avLst/>
              </a:prstGeom>
              <a:ln w="19050">
                <a:solidFill>
                  <a:srgbClr val="114D8B"/>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sp>
          <p:nvSpPr>
            <p:cNvPr id="85" name="文本框 84"/>
            <p:cNvSpPr txBox="1"/>
            <p:nvPr/>
          </p:nvSpPr>
          <p:spPr>
            <a:xfrm>
              <a:off x="12267" y="7114"/>
              <a:ext cx="4663" cy="580"/>
            </a:xfrm>
            <a:prstGeom prst="rect">
              <a:avLst/>
            </a:prstGeom>
            <a:noFill/>
          </p:spPr>
          <p:txBody>
            <a:bodyPr wrap="square" rtlCol="0" anchor="t">
              <a:spAutoFit/>
            </a:bodyPr>
            <a:p>
              <a:r>
                <a:rPr lang="zh-CN" altLang="en-US">
                  <a:latin typeface="Georgia" panose="02040502050405020303" pitchFamily="18" charset="0"/>
                  <a:cs typeface="Georgia" panose="02040502050405020303" pitchFamily="18" charset="0"/>
                </a:rPr>
                <a:t>CSI sampling problem</a:t>
              </a:r>
              <a:endParaRPr lang="zh-CN" altLang="en-US">
                <a:latin typeface="Georgia" panose="02040502050405020303" pitchFamily="18" charset="0"/>
                <a:cs typeface="Georgia" panose="02040502050405020303" pitchFamily="18" charset="0"/>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down)">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down)">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sz="3200" dirty="0"/>
              <a:t>Scheduling sensing resource in multi-target scenarios</a:t>
            </a:r>
            <a:endParaRPr lang="en-US" altLang="zh-CN" sz="3200" dirty="0"/>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3" name="组合 2"/>
          <p:cNvGrpSpPr/>
          <p:nvPr/>
        </p:nvGrpSpPr>
        <p:grpSpPr>
          <a:xfrm>
            <a:off x="635" y="6627495"/>
            <a:ext cx="12186920" cy="230505"/>
            <a:chOff x="1" y="10437"/>
            <a:chExt cx="19192" cy="363"/>
          </a:xfrm>
        </p:grpSpPr>
        <p:sp>
          <p:nvSpPr>
            <p:cNvPr id="23" name="矩形 22"/>
            <p:cNvSpPr/>
            <p:nvPr/>
          </p:nvSpPr>
          <p:spPr>
            <a:xfrm>
              <a:off x="1" y="10438"/>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40"/>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p:cNvSpPr/>
            <p:nvPr/>
          </p:nvSpPr>
          <p:spPr>
            <a:xfrm>
              <a:off x="7665" y="10440"/>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5" name="组合 4"/>
          <p:cNvGrpSpPr/>
          <p:nvPr/>
        </p:nvGrpSpPr>
        <p:grpSpPr>
          <a:xfrm>
            <a:off x="678180" y="788035"/>
            <a:ext cx="10834370" cy="5661660"/>
            <a:chOff x="1068" y="1241"/>
            <a:chExt cx="17062" cy="8916"/>
          </a:xfrm>
        </p:grpSpPr>
        <p:grpSp>
          <p:nvGrpSpPr>
            <p:cNvPr id="35" name="组合 34"/>
            <p:cNvGrpSpPr/>
            <p:nvPr/>
          </p:nvGrpSpPr>
          <p:grpSpPr>
            <a:xfrm>
              <a:off x="1068" y="8617"/>
              <a:ext cx="17063" cy="1541"/>
              <a:chOff x="574039" y="4882266"/>
              <a:chExt cx="10835170" cy="978784"/>
            </a:xfrm>
          </p:grpSpPr>
          <p:sp>
            <p:nvSpPr>
              <p:cNvPr id="36" name="矩形: 圆角 35"/>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45195" y="5064272"/>
                <a:ext cx="10664014" cy="615315"/>
              </a:xfrm>
              <a:prstGeom prst="rect">
                <a:avLst/>
              </a:prstGeom>
              <a:ln>
                <a:noFill/>
              </a:ln>
            </p:spPr>
            <p:txBody>
              <a:bodyPr wrap="square" lIns="0" tIns="0" rIns="0" bIns="0">
                <a:spAutoFit/>
              </a:bodyPr>
              <a:lstStyle/>
              <a:p>
                <a:r>
                  <a:rPr kumimoji="1" lang="en-US" altLang="zh-CN" sz="2000" b="1" dirty="0">
                    <a:latin typeface="Georgia" panose="02040502050405020303" pitchFamily="18" charset="0"/>
                    <a:ea typeface="微软雅黑" panose="020B0503020204020204" pitchFamily="34" charset="-122"/>
                  </a:rPr>
                  <a:t>Scheduling the limited sensing resources among multi targets </a:t>
                </a:r>
                <a:r>
                  <a:rPr kumimoji="1" lang="en-US" altLang="zh-CN" sz="2000" b="1" dirty="0">
                    <a:latin typeface="Georgia" panose="02040502050405020303" pitchFamily="18" charset="0"/>
                    <a:ea typeface="微软雅黑" panose="020B0503020204020204" pitchFamily="34" charset="-122"/>
                  </a:rPr>
                  <a:t>should be  in parallel with the algorithm optimization and the infrastructure upgrading. </a:t>
                </a:r>
                <a:endParaRPr kumimoji="1" lang="en-US" altLang="zh-CN" sz="2000" b="1" dirty="0">
                  <a:latin typeface="Georgia" panose="02040502050405020303" pitchFamily="18" charset="0"/>
                  <a:ea typeface="微软雅黑" panose="020B0503020204020204" pitchFamily="34" charset="-122"/>
                </a:endParaRPr>
              </a:p>
            </p:txBody>
          </p:sp>
        </p:grpSp>
        <p:pic>
          <p:nvPicPr>
            <p:cNvPr id="8" name="图片 7" descr="Application_Scenario_00"/>
            <p:cNvPicPr>
              <a:picLocks noChangeAspect="1"/>
            </p:cNvPicPr>
            <p:nvPr/>
          </p:nvPicPr>
          <p:blipFill>
            <a:blip r:embed="rId2"/>
            <a:stretch>
              <a:fillRect/>
            </a:stretch>
          </p:blipFill>
          <p:spPr>
            <a:xfrm>
              <a:off x="10265" y="1241"/>
              <a:ext cx="7578" cy="7153"/>
            </a:xfrm>
            <a:prstGeom prst="rect">
              <a:avLst/>
            </a:prstGeom>
          </p:spPr>
        </p:pic>
      </p:grpSp>
      <p:cxnSp>
        <p:nvCxnSpPr>
          <p:cNvPr id="10" name="直接连接符 9"/>
          <p:cNvCxnSpPr/>
          <p:nvPr/>
        </p:nvCxnSpPr>
        <p:spPr>
          <a:xfrm>
            <a:off x="6025515" y="866140"/>
            <a:ext cx="25400" cy="4445635"/>
          </a:xfrm>
          <a:prstGeom prst="line">
            <a:avLst/>
          </a:prstGeom>
          <a:ln w="28575" cmpd="dbl">
            <a:solidFill>
              <a:schemeClr val="accent1">
                <a:shade val="50000"/>
              </a:schemeClr>
            </a:solidFill>
            <a:prstDash val="sysDash"/>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368935" y="901065"/>
            <a:ext cx="5124450" cy="4410075"/>
            <a:chOff x="581" y="1419"/>
            <a:chExt cx="8070" cy="6945"/>
          </a:xfrm>
        </p:grpSpPr>
        <p:pic>
          <p:nvPicPr>
            <p:cNvPr id="13" name="图片 12" descr="一个有多天线阵列的蜂窝基站 (1)"/>
            <p:cNvPicPr>
              <a:picLocks noChangeAspect="1"/>
            </p:cNvPicPr>
            <p:nvPr/>
          </p:nvPicPr>
          <p:blipFill>
            <a:blip r:embed="rId3"/>
            <a:stretch>
              <a:fillRect/>
            </a:stretch>
          </p:blipFill>
          <p:spPr>
            <a:xfrm>
              <a:off x="2263" y="5530"/>
              <a:ext cx="2835" cy="2835"/>
            </a:xfrm>
            <a:prstGeom prst="rect">
              <a:avLst/>
            </a:prstGeom>
          </p:spPr>
        </p:pic>
        <p:pic>
          <p:nvPicPr>
            <p:cNvPr id="14" name="图片 13" descr="深度学习的一个网络"/>
            <p:cNvPicPr>
              <a:picLocks noChangeAspect="1"/>
            </p:cNvPicPr>
            <p:nvPr/>
          </p:nvPicPr>
          <p:blipFill>
            <a:blip r:embed="rId4"/>
            <a:stretch>
              <a:fillRect/>
            </a:stretch>
          </p:blipFill>
          <p:spPr>
            <a:xfrm>
              <a:off x="5817" y="1419"/>
              <a:ext cx="2835" cy="2835"/>
            </a:xfrm>
            <a:prstGeom prst="rect">
              <a:avLst/>
            </a:prstGeom>
          </p:spPr>
        </p:pic>
        <p:sp>
          <p:nvSpPr>
            <p:cNvPr id="19" name="文本框 18"/>
            <p:cNvSpPr txBox="1"/>
            <p:nvPr/>
          </p:nvSpPr>
          <p:spPr>
            <a:xfrm>
              <a:off x="5342" y="7005"/>
              <a:ext cx="2798" cy="1016"/>
            </a:xfrm>
            <a:prstGeom prst="rect">
              <a:avLst/>
            </a:prstGeom>
            <a:noFill/>
          </p:spPr>
          <p:txBody>
            <a:bodyPr wrap="square" rtlCol="0" anchor="t">
              <a:spAutoFit/>
            </a:bodyPr>
            <a:p>
              <a:pPr algn="ctr">
                <a:buClrTx/>
                <a:buSzTx/>
                <a:buFontTx/>
              </a:pPr>
              <a:r>
                <a:rPr lang="zh-CN" altLang="en-US"/>
                <a:t> </a:t>
              </a:r>
              <a:r>
                <a:rPr lang="zh-CN" altLang="en-US">
                  <a:latin typeface="Georgia" panose="02040502050405020303" pitchFamily="18" charset="0"/>
                  <a:cs typeface="Georgia" panose="02040502050405020303" pitchFamily="18" charset="0"/>
                </a:rPr>
                <a:t>Multi-stream </a:t>
              </a:r>
              <a:r>
                <a:rPr lang="zh-CN" altLang="en-US">
                  <a:latin typeface="Georgia" panose="02040502050405020303" pitchFamily="18" charset="0"/>
                  <a:cs typeface="Georgia" panose="02040502050405020303" pitchFamily="18" charset="0"/>
                </a:rPr>
                <a:t>  Infrastructure</a:t>
              </a:r>
              <a:endParaRPr lang="zh-CN" altLang="en-US">
                <a:latin typeface="Georgia" panose="02040502050405020303" pitchFamily="18" charset="0"/>
                <a:cs typeface="Georgia" panose="02040502050405020303" pitchFamily="18" charset="0"/>
              </a:endParaRPr>
            </a:p>
          </p:txBody>
        </p:sp>
        <p:sp>
          <p:nvSpPr>
            <p:cNvPr id="32" name="文本框 31"/>
            <p:cNvSpPr txBox="1"/>
            <p:nvPr/>
          </p:nvSpPr>
          <p:spPr>
            <a:xfrm>
              <a:off x="5851" y="4384"/>
              <a:ext cx="2798" cy="1016"/>
            </a:xfrm>
            <a:prstGeom prst="rect">
              <a:avLst/>
            </a:prstGeom>
            <a:noFill/>
          </p:spPr>
          <p:txBody>
            <a:bodyPr wrap="square" rtlCol="0" anchor="t">
              <a:spAutoFit/>
            </a:bodyPr>
            <a:p>
              <a:pPr algn="ctr">
                <a:buClrTx/>
                <a:buSzTx/>
                <a:buFontTx/>
              </a:pPr>
              <a:r>
                <a:rPr lang="en-US" altLang="zh-CN">
                  <a:latin typeface="Georgia" panose="02040502050405020303" pitchFamily="18" charset="0"/>
                  <a:cs typeface="Georgia" panose="02040502050405020303" pitchFamily="18" charset="0"/>
                </a:rPr>
                <a:t>A</a:t>
              </a:r>
              <a:r>
                <a:rPr lang="zh-CN" altLang="en-US">
                  <a:latin typeface="Georgia" panose="02040502050405020303" pitchFamily="18" charset="0"/>
                  <a:cs typeface="Georgia" panose="02040502050405020303" pitchFamily="18" charset="0"/>
                </a:rPr>
                <a:t>rtificial </a:t>
              </a:r>
              <a:r>
                <a:rPr lang="en-US" altLang="zh-CN">
                  <a:latin typeface="Georgia" panose="02040502050405020303" pitchFamily="18" charset="0"/>
                  <a:cs typeface="Georgia" panose="02040502050405020303" pitchFamily="18" charset="0"/>
                </a:rPr>
                <a:t>I</a:t>
              </a:r>
              <a:r>
                <a:rPr lang="zh-CN" altLang="en-US">
                  <a:latin typeface="Georgia" panose="02040502050405020303" pitchFamily="18" charset="0"/>
                  <a:cs typeface="Georgia" panose="02040502050405020303" pitchFamily="18" charset="0"/>
                </a:rPr>
                <a:t>ntelligence</a:t>
              </a:r>
              <a:endParaRPr lang="zh-CN" altLang="en-US">
                <a:latin typeface="Georgia" panose="02040502050405020303" pitchFamily="18" charset="0"/>
                <a:cs typeface="Georgia" panose="02040502050405020303" pitchFamily="18" charset="0"/>
              </a:endParaRPr>
            </a:p>
          </p:txBody>
        </p:sp>
        <p:pic>
          <p:nvPicPr>
            <p:cNvPr id="87" name="图片 86" descr="信号处理算法生成感知数据"/>
            <p:cNvPicPr>
              <a:picLocks noChangeAspect="1"/>
            </p:cNvPicPr>
            <p:nvPr/>
          </p:nvPicPr>
          <p:blipFill>
            <a:blip r:embed="rId5"/>
            <a:stretch>
              <a:fillRect/>
            </a:stretch>
          </p:blipFill>
          <p:spPr>
            <a:xfrm>
              <a:off x="1068" y="1419"/>
              <a:ext cx="2835" cy="2835"/>
            </a:xfrm>
            <a:prstGeom prst="rect">
              <a:avLst/>
            </a:prstGeom>
          </p:spPr>
        </p:pic>
        <p:sp>
          <p:nvSpPr>
            <p:cNvPr id="89" name="文本框 88"/>
            <p:cNvSpPr txBox="1"/>
            <p:nvPr/>
          </p:nvSpPr>
          <p:spPr>
            <a:xfrm>
              <a:off x="581" y="4384"/>
              <a:ext cx="4063" cy="1016"/>
            </a:xfrm>
            <a:prstGeom prst="rect">
              <a:avLst/>
            </a:prstGeom>
            <a:noFill/>
          </p:spPr>
          <p:txBody>
            <a:bodyPr wrap="square" rtlCol="0" anchor="t">
              <a:spAutoFit/>
            </a:bodyPr>
            <a:p>
              <a:pPr algn="ctr">
                <a:buClrTx/>
                <a:buSzTx/>
                <a:buFontTx/>
              </a:pPr>
              <a:r>
                <a:rPr>
                  <a:latin typeface="Georgia" panose="02040502050405020303" pitchFamily="18" charset="0"/>
                  <a:cs typeface="Georgia" panose="02040502050405020303" pitchFamily="18" charset="0"/>
                </a:rPr>
                <a:t> </a:t>
              </a:r>
              <a:r>
                <a:rPr lang="en-US">
                  <a:latin typeface="Georgia" panose="02040502050405020303" pitchFamily="18" charset="0"/>
                  <a:cs typeface="Georgia" panose="02040502050405020303" pitchFamily="18" charset="0"/>
                </a:rPr>
                <a:t>S</a:t>
              </a:r>
              <a:r>
                <a:rPr lang="zh-CN" altLang="en-US">
                  <a:latin typeface="Georgia" panose="02040502050405020303" pitchFamily="18" charset="0"/>
                  <a:cs typeface="Georgia" panose="02040502050405020303" pitchFamily="18" charset="0"/>
                </a:rPr>
                <a:t>ignal </a:t>
              </a:r>
              <a:r>
                <a:rPr lang="en-US" altLang="zh-CN">
                  <a:latin typeface="Georgia" panose="02040502050405020303" pitchFamily="18" charset="0"/>
                  <a:cs typeface="Georgia" panose="02040502050405020303" pitchFamily="18" charset="0"/>
                </a:rPr>
                <a:t>P</a:t>
              </a:r>
              <a:r>
                <a:rPr lang="zh-CN" altLang="en-US">
                  <a:latin typeface="Georgia" panose="02040502050405020303" pitchFamily="18" charset="0"/>
                  <a:cs typeface="Georgia" panose="02040502050405020303" pitchFamily="18" charset="0"/>
                </a:rPr>
                <a:t>rocessing</a:t>
              </a:r>
              <a:endParaRPr lang="zh-CN" altLang="en-US">
                <a:latin typeface="Georgia" panose="02040502050405020303" pitchFamily="18" charset="0"/>
                <a:cs typeface="Georgia" panose="02040502050405020303" pitchFamily="18" charset="0"/>
              </a:endParaRPr>
            </a:p>
            <a:p>
              <a:pPr algn="ctr">
                <a:buClrTx/>
                <a:buSzTx/>
                <a:buFontTx/>
              </a:pPr>
              <a:r>
                <a:rPr lang="en-US" altLang="zh-CN">
                  <a:latin typeface="Georgia" panose="02040502050405020303" pitchFamily="18" charset="0"/>
                  <a:cs typeface="Georgia" panose="02040502050405020303" pitchFamily="18" charset="0"/>
                </a:rPr>
                <a:t>A</a:t>
              </a:r>
              <a:r>
                <a:rPr lang="zh-CN" altLang="en-US">
                  <a:latin typeface="Georgia" panose="02040502050405020303" pitchFamily="18" charset="0"/>
                  <a:cs typeface="Georgia" panose="02040502050405020303" pitchFamily="18" charset="0"/>
                </a:rPr>
                <a:t>lgorithms</a:t>
              </a:r>
              <a:endParaRPr lang="zh-CN" altLang="en-US">
                <a:latin typeface="Georgia" panose="02040502050405020303" pitchFamily="18" charset="0"/>
                <a:cs typeface="Georgia" panose="02040502050405020303" pitchFamily="18" charset="0"/>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sz="3200" dirty="0"/>
              <a:t>Virtual Radio Access Networks </a:t>
            </a:r>
            <a:endParaRPr lang="en-US" altLang="zh-CN" sz="3200" dirty="0"/>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pic>
        <p:nvPicPr>
          <p:cNvPr id="230" name="图片 229"/>
          <p:cNvPicPr>
            <a:picLocks noChangeAspect="1"/>
          </p:cNvPicPr>
          <p:nvPr/>
        </p:nvPicPr>
        <p:blipFill>
          <a:blip r:embed="rId2"/>
          <a:stretch>
            <a:fillRect/>
          </a:stretch>
        </p:blipFill>
        <p:spPr>
          <a:xfrm>
            <a:off x="1177290" y="1231265"/>
            <a:ext cx="9401175" cy="2621915"/>
          </a:xfrm>
          <a:prstGeom prst="rect">
            <a:avLst/>
          </a:prstGeom>
        </p:spPr>
      </p:pic>
      <p:sp>
        <p:nvSpPr>
          <p:cNvPr id="231" name="文本框 230"/>
          <p:cNvSpPr txBox="1"/>
          <p:nvPr/>
        </p:nvSpPr>
        <p:spPr>
          <a:xfrm>
            <a:off x="3637915" y="4091940"/>
            <a:ext cx="6096000" cy="398780"/>
          </a:xfrm>
          <a:prstGeom prst="rect">
            <a:avLst/>
          </a:prstGeom>
          <a:noFill/>
        </p:spPr>
        <p:txBody>
          <a:bodyPr wrap="square" rtlCol="0" anchor="t">
            <a:spAutoFit/>
          </a:bodyPr>
          <a:p>
            <a:r>
              <a:rPr lang="zh-CN" altLang="en-US" sz="2000" b="1">
                <a:latin typeface="Georgia" panose="02040502050405020303" pitchFamily="18" charset="0"/>
                <a:cs typeface="Georgia" panose="02040502050405020303" pitchFamily="18" charset="0"/>
              </a:rPr>
              <a:t>Protocol stack of 5G vRAN</a:t>
            </a:r>
            <a:endParaRPr lang="zh-CN" altLang="en-US" sz="2000" b="1">
              <a:latin typeface="Georgia" panose="02040502050405020303" pitchFamily="18" charset="0"/>
              <a:cs typeface="Georgia" panose="02040502050405020303" pitchFamily="18" charset="0"/>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sz="3200" dirty="0"/>
              <a:t>Virtual Radio Access Networks </a:t>
            </a:r>
            <a:endParaRPr lang="en-US" altLang="zh-CN" sz="3200" dirty="0"/>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5" name="组合 34"/>
          <p:cNvGrpSpPr/>
          <p:nvPr/>
        </p:nvGrpSpPr>
        <p:grpSpPr>
          <a:xfrm>
            <a:off x="679050" y="5267855"/>
            <a:ext cx="10835170" cy="978784"/>
            <a:chOff x="574039" y="4882266"/>
            <a:chExt cx="10835170" cy="978784"/>
          </a:xfrm>
        </p:grpSpPr>
        <p:sp>
          <p:nvSpPr>
            <p:cNvPr id="36" name="矩形: 圆角 35"/>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45195" y="4969022"/>
              <a:ext cx="10664014" cy="738505"/>
            </a:xfrm>
            <a:prstGeom prst="rect">
              <a:avLst/>
            </a:prstGeom>
            <a:ln>
              <a:noFill/>
            </a:ln>
          </p:spPr>
          <p:txBody>
            <a:bodyPr wrap="square" lIns="0" tIns="0" rIns="0" bIns="0">
              <a:spAutoFit/>
            </a:bodyPr>
            <a:lstStyle/>
            <a:p>
              <a:r>
                <a:rPr kumimoji="1" lang="en-US" altLang="zh-CN" sz="2400" b="1" dirty="0">
                  <a:solidFill>
                    <a:srgbClr val="98061D"/>
                  </a:solidFill>
                  <a:latin typeface="Georgia" panose="02040502050405020303" pitchFamily="18" charset="0"/>
                  <a:ea typeface="微软雅黑" panose="020B0503020204020204" pitchFamily="34" charset="-122"/>
                </a:rPr>
                <a:t>Insight</a:t>
              </a:r>
              <a:r>
                <a:rPr kumimoji="1" lang="en-US" altLang="zh-CN" sz="2400" b="1" dirty="0">
                  <a:latin typeface="Georgia" panose="02040502050405020303" pitchFamily="18" charset="0"/>
                  <a:ea typeface="微软雅黑" panose="020B0503020204020204" pitchFamily="34" charset="-122"/>
                </a:rPr>
                <a:t>: The interface of its protocol stack gives us the opportunity of deploying a dedicated RS scheduler on demand.. </a:t>
              </a:r>
              <a:endParaRPr kumimoji="1" lang="en-US" altLang="zh-CN" sz="2400" dirty="0">
                <a:latin typeface="Georgia" panose="02040502050405020303" pitchFamily="18" charset="0"/>
                <a:ea typeface="微软雅黑" panose="020B0503020204020204" pitchFamily="34" charset="-122"/>
              </a:endParaRPr>
            </a:p>
          </p:txBody>
        </p:sp>
      </p:grpSp>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pic>
        <p:nvPicPr>
          <p:cNvPr id="126" name="图片 125"/>
          <p:cNvPicPr>
            <a:picLocks noChangeAspect="1"/>
          </p:cNvPicPr>
          <p:nvPr/>
        </p:nvPicPr>
        <p:blipFill>
          <a:blip r:embed="rId2"/>
          <a:stretch>
            <a:fillRect/>
          </a:stretch>
        </p:blipFill>
        <p:spPr>
          <a:xfrm>
            <a:off x="2506980" y="937895"/>
            <a:ext cx="6657340" cy="415163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sz="3200" dirty="0">
                <a:sym typeface="+mn-ea"/>
              </a:rPr>
              <a:t>T</a:t>
            </a:r>
            <a:r>
              <a:rPr lang="zh-CN" altLang="en-US" sz="3200" dirty="0">
                <a:sym typeface="+mn-ea"/>
              </a:rPr>
              <a:t>echnical challenges</a:t>
            </a:r>
            <a:r>
              <a:rPr lang="en-US" altLang="zh-CN" sz="3200" dirty="0"/>
              <a:t> </a:t>
            </a:r>
            <a:endParaRPr lang="en-US" altLang="zh-CN" sz="3200" dirty="0"/>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89" name="组合 88"/>
          <p:cNvGrpSpPr/>
          <p:nvPr/>
        </p:nvGrpSpPr>
        <p:grpSpPr>
          <a:xfrm>
            <a:off x="247650" y="1586865"/>
            <a:ext cx="5674360" cy="3513455"/>
            <a:chOff x="390" y="2252"/>
            <a:chExt cx="8936" cy="5533"/>
          </a:xfrm>
        </p:grpSpPr>
        <p:sp>
          <p:nvSpPr>
            <p:cNvPr id="8" name="矩形: 圆角 11"/>
            <p:cNvSpPr/>
            <p:nvPr/>
          </p:nvSpPr>
          <p:spPr>
            <a:xfrm>
              <a:off x="390" y="2261"/>
              <a:ext cx="8936" cy="5525"/>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圆顶角 25"/>
            <p:cNvSpPr/>
            <p:nvPr/>
          </p:nvSpPr>
          <p:spPr>
            <a:xfrm>
              <a:off x="390" y="2252"/>
              <a:ext cx="8932" cy="68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0" rIns="3600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Matching demands with RS</a:t>
              </a:r>
              <a:endParaRPr lang="en-US" altLang="zh-CN" sz="2000" b="1" dirty="0">
                <a:solidFill>
                  <a:schemeClr val="bg1"/>
                </a:solidFill>
                <a:latin typeface="Georgia" panose="02040502050405020303" pitchFamily="18" charset="0"/>
                <a:ea typeface="微软雅黑" panose="020B0503020204020204" pitchFamily="34" charset="-122"/>
              </a:endParaRPr>
            </a:p>
          </p:txBody>
        </p:sp>
      </p:grpSp>
      <p:grpSp>
        <p:nvGrpSpPr>
          <p:cNvPr id="11" name="组合 10"/>
          <p:cNvGrpSpPr/>
          <p:nvPr/>
        </p:nvGrpSpPr>
        <p:grpSpPr>
          <a:xfrm>
            <a:off x="6272530" y="1586865"/>
            <a:ext cx="5674360" cy="3507740"/>
            <a:chOff x="9878" y="2252"/>
            <a:chExt cx="8936" cy="5524"/>
          </a:xfrm>
        </p:grpSpPr>
        <p:sp>
          <p:nvSpPr>
            <p:cNvPr id="13" name="矩形: 圆角 14"/>
            <p:cNvSpPr/>
            <p:nvPr/>
          </p:nvSpPr>
          <p:spPr>
            <a:xfrm>
              <a:off x="9878" y="2252"/>
              <a:ext cx="8936" cy="5525"/>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CSI sampling problem</a:t>
              </a:r>
              <a:endParaRPr lang="zh-CN" altLang="en-US"/>
            </a:p>
          </p:txBody>
        </p:sp>
        <p:sp>
          <p:nvSpPr>
            <p:cNvPr id="14" name="矩形: 圆顶角 26"/>
            <p:cNvSpPr/>
            <p:nvPr/>
          </p:nvSpPr>
          <p:spPr>
            <a:xfrm>
              <a:off x="9878" y="2252"/>
              <a:ext cx="8932" cy="68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Eliminating scheduling delays</a:t>
              </a:r>
              <a:endParaRPr lang="en-US" altLang="zh-CN" sz="2000" b="1" dirty="0">
                <a:solidFill>
                  <a:schemeClr val="bg1"/>
                </a:solidFill>
                <a:latin typeface="Georgia" panose="02040502050405020303" pitchFamily="18" charset="0"/>
                <a:ea typeface="微软雅黑" panose="020B0503020204020204" pitchFamily="34" charset="-122"/>
              </a:endParaRPr>
            </a:p>
          </p:txBody>
        </p:sp>
      </p:grpSp>
      <p:pic>
        <p:nvPicPr>
          <p:cNvPr id="19" name="图片 18"/>
          <p:cNvPicPr>
            <a:picLocks noChangeAspect="1"/>
          </p:cNvPicPr>
          <p:nvPr/>
        </p:nvPicPr>
        <p:blipFill>
          <a:blip r:embed="rId2"/>
          <a:srcRect r="3256"/>
          <a:stretch>
            <a:fillRect/>
          </a:stretch>
        </p:blipFill>
        <p:spPr>
          <a:xfrm>
            <a:off x="6335395" y="2279650"/>
            <a:ext cx="5490845" cy="2035810"/>
          </a:xfrm>
          <a:prstGeom prst="rect">
            <a:avLst/>
          </a:prstGeom>
        </p:spPr>
      </p:pic>
      <p:pic>
        <p:nvPicPr>
          <p:cNvPr id="22" name="图片 21"/>
          <p:cNvPicPr>
            <a:picLocks noChangeAspect="1"/>
          </p:cNvPicPr>
          <p:nvPr/>
        </p:nvPicPr>
        <p:blipFill>
          <a:blip r:embed="rId3"/>
          <a:stretch>
            <a:fillRect/>
          </a:stretch>
        </p:blipFill>
        <p:spPr>
          <a:xfrm>
            <a:off x="325755" y="2035175"/>
            <a:ext cx="5425440" cy="288480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sz="3200" dirty="0">
                <a:sym typeface="+mn-ea"/>
              </a:rPr>
              <a:t>ElaSe: Design overview</a:t>
            </a:r>
            <a:endParaRPr lang="en-US" sz="3200" dirty="0"/>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3" name="组合 2"/>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16" name="组合 15"/>
          <p:cNvGrpSpPr/>
          <p:nvPr/>
        </p:nvGrpSpPr>
        <p:grpSpPr>
          <a:xfrm>
            <a:off x="473710" y="3089275"/>
            <a:ext cx="3622675" cy="2761615"/>
            <a:chOff x="362817" y="1025748"/>
            <a:chExt cx="3635062" cy="3539693"/>
          </a:xfrm>
        </p:grpSpPr>
        <p:sp>
          <p:nvSpPr>
            <p:cNvPr id="44" name="矩形: 圆角 43"/>
            <p:cNvSpPr/>
            <p:nvPr/>
          </p:nvSpPr>
          <p:spPr>
            <a:xfrm>
              <a:off x="362817" y="1025748"/>
              <a:ext cx="3505079" cy="3539693"/>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Georgia" panose="02040502050405020303" pitchFamily="18" charset="0"/>
              </a:endParaRPr>
            </a:p>
          </p:txBody>
        </p:sp>
        <p:sp>
          <p:nvSpPr>
            <p:cNvPr id="45" name="矩形: 圆顶角 44"/>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UE state recognition</a:t>
              </a:r>
              <a:endParaRPr lang="en-US" altLang="zh-CN" sz="2000" b="1" dirty="0">
                <a:solidFill>
                  <a:schemeClr val="bg1"/>
                </a:solidFill>
                <a:latin typeface="Georgia" panose="02040502050405020303" pitchFamily="18" charset="0"/>
                <a:ea typeface="微软雅黑" panose="020B0503020204020204" pitchFamily="34" charset="-122"/>
              </a:endParaRPr>
            </a:p>
          </p:txBody>
        </p:sp>
        <p:sp>
          <p:nvSpPr>
            <p:cNvPr id="80" name="矩形 79"/>
            <p:cNvSpPr/>
            <p:nvPr/>
          </p:nvSpPr>
          <p:spPr>
            <a:xfrm>
              <a:off x="362817" y="1856750"/>
              <a:ext cx="3635062" cy="2290342"/>
            </a:xfrm>
            <a:prstGeom prst="rect">
              <a:avLst/>
            </a:prstGeom>
          </p:spPr>
          <p:txBody>
            <a:bodyPr wrap="square">
              <a:noAutofit/>
            </a:bodyPr>
            <a:p>
              <a:pPr indent="0">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We utilize the </a:t>
              </a:r>
              <a:r>
                <a:rPr kumimoji="1" lang="en-US" altLang="zh-CN" sz="2000" b="1" dirty="0">
                  <a:solidFill>
                    <a:srgbClr val="98061D"/>
                  </a:solidFill>
                  <a:latin typeface="Times New Roman" panose="02020603050405020304" pitchFamily="18" charset="0"/>
                  <a:ea typeface="微软雅黑" panose="020B0503020204020204" pitchFamily="34" charset="-122"/>
                  <a:cs typeface="Times New Roman" panose="02020603050405020304" pitchFamily="18" charset="0"/>
                </a:rPr>
                <a:t>existing</a:t>
              </a:r>
              <a:r>
                <a:rPr lang="en-US" altLang="zh-CN" sz="2000" b="1" dirty="0">
                  <a:latin typeface="Times New Roman" panose="02020603050405020304" pitchFamily="18" charset="0"/>
                  <a:cs typeface="Times New Roman" panose="02020603050405020304" pitchFamily="18" charset="0"/>
                </a:rPr>
                <a:t> low sampling rate SRS available in</a:t>
              </a:r>
              <a:endParaRPr lang="en-US" altLang="zh-CN" sz="2000" b="1"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communication and derive the velocity as an indicator of demands.</a:t>
              </a:r>
              <a:endParaRPr lang="en-US" altLang="zh-CN" sz="2000" b="1" dirty="0">
                <a:latin typeface="Times New Roman" panose="02020603050405020304" pitchFamily="18" charset="0"/>
                <a:cs typeface="Times New Roman" panose="02020603050405020304" pitchFamily="18" charset="0"/>
              </a:endParaRPr>
            </a:p>
          </p:txBody>
        </p:sp>
      </p:grpSp>
      <p:pic>
        <p:nvPicPr>
          <p:cNvPr id="17" name="图片 16"/>
          <p:cNvPicPr>
            <a:picLocks noChangeAspect="1"/>
          </p:cNvPicPr>
          <p:nvPr/>
        </p:nvPicPr>
        <p:blipFill>
          <a:blip r:embed="rId2"/>
          <a:srcRect r="3256"/>
          <a:stretch>
            <a:fillRect/>
          </a:stretch>
        </p:blipFill>
        <p:spPr>
          <a:xfrm>
            <a:off x="953770" y="799465"/>
            <a:ext cx="6102350" cy="2125980"/>
          </a:xfrm>
          <a:prstGeom prst="rect">
            <a:avLst/>
          </a:prstGeom>
        </p:spPr>
      </p:pic>
      <p:grpSp>
        <p:nvGrpSpPr>
          <p:cNvPr id="32" name="组合 31"/>
          <p:cNvGrpSpPr/>
          <p:nvPr/>
        </p:nvGrpSpPr>
        <p:grpSpPr>
          <a:xfrm>
            <a:off x="7973060" y="3089275"/>
            <a:ext cx="3622675" cy="2761615"/>
            <a:chOff x="362817" y="1025748"/>
            <a:chExt cx="3635062" cy="3539693"/>
          </a:xfrm>
        </p:grpSpPr>
        <p:sp>
          <p:nvSpPr>
            <p:cNvPr id="33" name="矩形: 圆角 43"/>
            <p:cNvSpPr/>
            <p:nvPr/>
          </p:nvSpPr>
          <p:spPr>
            <a:xfrm>
              <a:off x="362817" y="1025748"/>
              <a:ext cx="3505079" cy="3539693"/>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Georgia" panose="02040502050405020303" pitchFamily="18" charset="0"/>
              </a:endParaRPr>
            </a:p>
          </p:txBody>
        </p:sp>
        <p:sp>
          <p:nvSpPr>
            <p:cNvPr id="34" name="矩形: 圆顶角 44"/>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Eliminating delays</a:t>
              </a:r>
              <a:endParaRPr lang="en-US" altLang="zh-CN" sz="2000" b="1" dirty="0">
                <a:solidFill>
                  <a:schemeClr val="bg1"/>
                </a:solidFill>
                <a:latin typeface="Georgia" panose="02040502050405020303" pitchFamily="18" charset="0"/>
                <a:ea typeface="微软雅黑" panose="020B0503020204020204" pitchFamily="34" charset="-122"/>
              </a:endParaRPr>
            </a:p>
          </p:txBody>
        </p:sp>
        <p:sp>
          <p:nvSpPr>
            <p:cNvPr id="35" name="矩形 34"/>
            <p:cNvSpPr/>
            <p:nvPr/>
          </p:nvSpPr>
          <p:spPr>
            <a:xfrm>
              <a:off x="362817" y="1500405"/>
              <a:ext cx="3635062" cy="2484052"/>
            </a:xfrm>
            <a:prstGeom prst="rect">
              <a:avLst/>
            </a:prstGeom>
          </p:spPr>
          <p:txBody>
            <a:bodyPr wrap="square">
              <a:spAutoFit/>
            </a:bodyPr>
            <a:p>
              <a:pPr indent="0">
                <a:buFont typeface="Arial" panose="020B0604020202020204" pitchFamily="34" charset="0"/>
                <a:buNone/>
              </a:pPr>
              <a:endParaRPr lang="en-US" altLang="zh-C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kumimoji="1" lang="en-US" altLang="zh-CN" sz="2000" b="1" dirty="0">
                  <a:solidFill>
                    <a:srgbClr val="98061D"/>
                  </a:solidFill>
                  <a:latin typeface="Times New Roman" panose="02020603050405020304" pitchFamily="18" charset="0"/>
                  <a:ea typeface="微软雅黑" panose="020B0503020204020204" pitchFamily="34" charset="-122"/>
                  <a:cs typeface="Times New Roman" panose="02020603050405020304" pitchFamily="18" charset="0"/>
                </a:rPr>
                <a:t>Predictive Scheduling Scheme</a:t>
              </a:r>
              <a:endParaRPr kumimoji="1" lang="en-US" altLang="zh-CN" sz="2000" b="1" dirty="0">
                <a:solidFill>
                  <a:srgbClr val="98061D"/>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buFont typeface="Arial" panose="020B0604020202020204" pitchFamily="34" charset="0"/>
                <a:buChar char="•"/>
              </a:pPr>
              <a:r>
                <a:rPr lang="en-US" altLang="zh-CN" sz="2000" b="1" dirty="0">
                  <a:latin typeface="Times New Roman" panose="02020603050405020304" pitchFamily="18" charset="0"/>
                  <a:cs typeface="Times New Roman" panose="02020603050405020304" pitchFamily="18" charset="0"/>
                </a:rPr>
                <a:t>Delay between the UE acquiring sensing resources and its state change.</a:t>
              </a:r>
              <a:endParaRPr lang="zh-CN" altLang="en-US" sz="2000" b="1" dirty="0">
                <a:latin typeface="Times New Roman" panose="02020603050405020304" pitchFamily="18" charset="0"/>
                <a:cs typeface="Times New Roman" panose="02020603050405020304" pitchFamily="18" charset="0"/>
              </a:endParaRPr>
            </a:p>
          </p:txBody>
        </p:sp>
      </p:grpSp>
      <p:grpSp>
        <p:nvGrpSpPr>
          <p:cNvPr id="4" name="组合 3"/>
          <p:cNvGrpSpPr/>
          <p:nvPr/>
        </p:nvGrpSpPr>
        <p:grpSpPr>
          <a:xfrm>
            <a:off x="4191635" y="3089275"/>
            <a:ext cx="3653790" cy="2760980"/>
            <a:chOff x="6601" y="4865"/>
            <a:chExt cx="5754" cy="4348"/>
          </a:xfrm>
        </p:grpSpPr>
        <p:grpSp>
          <p:nvGrpSpPr>
            <p:cNvPr id="24" name="组合 23"/>
            <p:cNvGrpSpPr/>
            <p:nvPr/>
          </p:nvGrpSpPr>
          <p:grpSpPr>
            <a:xfrm>
              <a:off x="6601" y="4865"/>
              <a:ext cx="5705" cy="4349"/>
              <a:chOff x="362817" y="1025748"/>
              <a:chExt cx="3635062" cy="3539693"/>
            </a:xfrm>
          </p:grpSpPr>
          <p:sp>
            <p:nvSpPr>
              <p:cNvPr id="26" name="矩形: 圆角 43"/>
              <p:cNvSpPr/>
              <p:nvPr/>
            </p:nvSpPr>
            <p:spPr>
              <a:xfrm>
                <a:off x="362817" y="1025748"/>
                <a:ext cx="3505079" cy="3539693"/>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Georgia" panose="02040502050405020303" pitchFamily="18" charset="0"/>
                </a:endParaRPr>
              </a:p>
            </p:txBody>
          </p:sp>
          <p:sp>
            <p:nvSpPr>
              <p:cNvPr id="27" name="矩形: 圆顶角 44"/>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b="1" dirty="0">
                    <a:solidFill>
                      <a:schemeClr val="bg1"/>
                    </a:solidFill>
                    <a:latin typeface="Georgia" panose="02040502050405020303" pitchFamily="18" charset="0"/>
                    <a:ea typeface="微软雅黑" panose="020B0503020204020204" pitchFamily="34" charset="-122"/>
                  </a:rPr>
                  <a:t>SRS resource scheduling</a:t>
                </a:r>
                <a:endParaRPr lang="en-US" altLang="zh-CN" b="1" dirty="0">
                  <a:solidFill>
                    <a:schemeClr val="bg1"/>
                  </a:solidFill>
                  <a:latin typeface="Georgia" panose="02040502050405020303" pitchFamily="18" charset="0"/>
                  <a:ea typeface="微软雅黑" panose="020B0503020204020204" pitchFamily="34" charset="-122"/>
                </a:endParaRPr>
              </a:p>
            </p:txBody>
          </p:sp>
          <p:sp>
            <p:nvSpPr>
              <p:cNvPr id="31" name="矩形 30"/>
              <p:cNvSpPr/>
              <p:nvPr/>
            </p:nvSpPr>
            <p:spPr>
              <a:xfrm>
                <a:off x="362817" y="1500405"/>
                <a:ext cx="3635062" cy="905881"/>
              </a:xfrm>
              <a:prstGeom prst="rect">
                <a:avLst/>
              </a:prstGeom>
            </p:spPr>
            <p:txBody>
              <a:bodyPr wrap="square">
                <a:spAutoFit/>
              </a:bodyPr>
              <a:p>
                <a:pPr indent="0">
                  <a:buFont typeface="Arial" panose="020B0604020202020204" pitchFamily="34" charset="0"/>
                  <a:buNone/>
                </a:pPr>
                <a:endParaRPr lang="en-US" altLang="zh-CN" sz="2000" b="1"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US" altLang="zh-CN" sz="2000" b="1" dirty="0">
                  <a:latin typeface="Times New Roman" panose="02020603050405020304" pitchFamily="18" charset="0"/>
                  <a:cs typeface="Times New Roman" panose="02020603050405020304" pitchFamily="18" charset="0"/>
                </a:endParaRPr>
              </a:p>
            </p:txBody>
          </p:sp>
        </p:grpSp>
        <p:sp>
          <p:nvSpPr>
            <p:cNvPr id="36" name="矩形 35"/>
            <p:cNvSpPr/>
            <p:nvPr/>
          </p:nvSpPr>
          <p:spPr>
            <a:xfrm>
              <a:off x="6651" y="5886"/>
              <a:ext cx="5705" cy="2814"/>
            </a:xfrm>
            <a:prstGeom prst="rect">
              <a:avLst/>
            </a:prstGeom>
          </p:spPr>
          <p:txBody>
            <a:bodyPr wrap="square">
              <a:noAutofit/>
            </a:bodyPr>
            <a:p>
              <a:pPr marL="342900" indent="-342900">
                <a:buFont typeface="Arial" panose="020B0604020202020204" pitchFamily="34" charset="0"/>
                <a:buChar char="•"/>
              </a:pPr>
              <a:r>
                <a:rPr lang="en-US" altLang="zh-CN" sz="2000" b="1" dirty="0">
                  <a:latin typeface="Times New Roman" panose="02020603050405020304" pitchFamily="18" charset="0"/>
                  <a:cs typeface="Times New Roman" panose="02020603050405020304" pitchFamily="18" charset="0"/>
                </a:rPr>
                <a:t>Mapping indicator to SRS resources</a:t>
              </a:r>
              <a:endParaRPr lang="en-US" altLang="zh-CN"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zh-CN" sz="2000" b="1" dirty="0">
                  <a:latin typeface="Times New Roman" panose="02020603050405020304" pitchFamily="18" charset="0"/>
                  <a:cs typeface="Times New Roman" panose="02020603050405020304" pitchFamily="18" charset="0"/>
                  <a:sym typeface="+mn-ea"/>
                </a:rPr>
                <a:t>Resource allocation algorithm.</a:t>
              </a:r>
              <a:endParaRPr lang="en-US" altLang="zh-CN" sz="2000" b="1" dirty="0">
                <a:latin typeface="Times New Roman" panose="02020603050405020304" pitchFamily="18" charset="0"/>
                <a:cs typeface="Times New Roman" panose="02020603050405020304" pitchFamily="18" charset="0"/>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down)">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sz="3200" dirty="0">
                <a:sym typeface="+mn-ea"/>
              </a:rPr>
              <a:t>UE state recognition</a:t>
            </a:r>
            <a:endParaRPr lang="en-US" sz="3200"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3" name="组合 2"/>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16" name="组合 15"/>
          <p:cNvGrpSpPr/>
          <p:nvPr/>
        </p:nvGrpSpPr>
        <p:grpSpPr>
          <a:xfrm>
            <a:off x="473710" y="901065"/>
            <a:ext cx="3493170" cy="5320665"/>
            <a:chOff x="362817" y="1025748"/>
            <a:chExt cx="3505114" cy="3539693"/>
          </a:xfrm>
        </p:grpSpPr>
        <p:sp>
          <p:nvSpPr>
            <p:cNvPr id="44" name="矩形: 圆角 43"/>
            <p:cNvSpPr/>
            <p:nvPr/>
          </p:nvSpPr>
          <p:spPr>
            <a:xfrm>
              <a:off x="362817" y="1025748"/>
              <a:ext cx="3505079" cy="3539693"/>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Georgia" panose="02040502050405020303" pitchFamily="18" charset="0"/>
              </a:endParaRPr>
            </a:p>
          </p:txBody>
        </p:sp>
        <p:sp>
          <p:nvSpPr>
            <p:cNvPr id="45" name="矩形: 圆顶角 44"/>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UE state recognition</a:t>
              </a:r>
              <a:endParaRPr lang="en-US" altLang="zh-CN" sz="2000" b="1" dirty="0">
                <a:solidFill>
                  <a:schemeClr val="bg1"/>
                </a:solidFill>
                <a:latin typeface="Georgia" panose="02040502050405020303" pitchFamily="18" charset="0"/>
                <a:ea typeface="微软雅黑" panose="020B0503020204020204" pitchFamily="34" charset="-122"/>
              </a:endParaRPr>
            </a:p>
          </p:txBody>
        </p:sp>
      </p:grpSp>
      <p:pic>
        <p:nvPicPr>
          <p:cNvPr id="4" name="图片 3"/>
          <p:cNvPicPr>
            <a:picLocks noChangeAspect="1"/>
          </p:cNvPicPr>
          <p:nvPr/>
        </p:nvPicPr>
        <p:blipFill>
          <a:blip r:embed="rId2"/>
          <a:stretch>
            <a:fillRect/>
          </a:stretch>
        </p:blipFill>
        <p:spPr>
          <a:xfrm>
            <a:off x="959485" y="1770380"/>
            <a:ext cx="2520950" cy="3987800"/>
          </a:xfrm>
          <a:prstGeom prst="rect">
            <a:avLst/>
          </a:prstGeom>
        </p:spPr>
      </p:pic>
      <p:grpSp>
        <p:nvGrpSpPr>
          <p:cNvPr id="37" name="组合 36"/>
          <p:cNvGrpSpPr/>
          <p:nvPr/>
        </p:nvGrpSpPr>
        <p:grpSpPr>
          <a:xfrm>
            <a:off x="5310505" y="1022350"/>
            <a:ext cx="5012055" cy="4953635"/>
            <a:chOff x="8363" y="1610"/>
            <a:chExt cx="7893" cy="7801"/>
          </a:xfrm>
        </p:grpSpPr>
        <p:sp>
          <p:nvSpPr>
            <p:cNvPr id="6" name="矩形: 圆顶角 44"/>
            <p:cNvSpPr/>
            <p:nvPr/>
          </p:nvSpPr>
          <p:spPr>
            <a:xfrm>
              <a:off x="8363" y="1610"/>
              <a:ext cx="5048" cy="1085"/>
            </a:xfrm>
            <a:prstGeom prst="roundRect">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Data preprocessing</a:t>
              </a:r>
              <a:endParaRPr lang="en-US" altLang="zh-CN" sz="2000" b="1" dirty="0">
                <a:solidFill>
                  <a:schemeClr val="bg1"/>
                </a:solidFill>
                <a:latin typeface="Georgia" panose="02040502050405020303" pitchFamily="18" charset="0"/>
                <a:ea typeface="微软雅黑" panose="020B0503020204020204" pitchFamily="34" charset="-122"/>
              </a:endParaRPr>
            </a:p>
          </p:txBody>
        </p:sp>
        <p:sp>
          <p:nvSpPr>
            <p:cNvPr id="7" name="矩形: 圆顶角 44"/>
            <p:cNvSpPr/>
            <p:nvPr/>
          </p:nvSpPr>
          <p:spPr>
            <a:xfrm>
              <a:off x="8363" y="3276"/>
              <a:ext cx="5046" cy="1085"/>
            </a:xfrm>
            <a:prstGeom prst="roundRect">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Noise cancellation</a:t>
              </a:r>
              <a:endParaRPr lang="en-US" altLang="zh-CN" sz="2000" b="1" dirty="0">
                <a:solidFill>
                  <a:schemeClr val="bg1"/>
                </a:solidFill>
                <a:latin typeface="Georgia" panose="02040502050405020303" pitchFamily="18" charset="0"/>
                <a:ea typeface="微软雅黑" panose="020B0503020204020204" pitchFamily="34" charset="-122"/>
              </a:endParaRPr>
            </a:p>
          </p:txBody>
        </p:sp>
        <p:sp>
          <p:nvSpPr>
            <p:cNvPr id="8" name="矩形: 圆顶角 44"/>
            <p:cNvSpPr/>
            <p:nvPr/>
          </p:nvSpPr>
          <p:spPr>
            <a:xfrm>
              <a:off x="8363" y="5024"/>
              <a:ext cx="5046" cy="1085"/>
            </a:xfrm>
            <a:prstGeom prst="roundRect">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Fading enhancement</a:t>
              </a:r>
              <a:endParaRPr lang="en-US" altLang="zh-CN" sz="2000" b="1" dirty="0">
                <a:solidFill>
                  <a:schemeClr val="bg1"/>
                </a:solidFill>
                <a:latin typeface="Georgia" panose="02040502050405020303" pitchFamily="18" charset="0"/>
                <a:ea typeface="微软雅黑" panose="020B0503020204020204" pitchFamily="34" charset="-122"/>
              </a:endParaRPr>
            </a:p>
          </p:txBody>
        </p:sp>
        <p:sp>
          <p:nvSpPr>
            <p:cNvPr id="9" name="矩形: 圆顶角 44"/>
            <p:cNvSpPr/>
            <p:nvPr/>
          </p:nvSpPr>
          <p:spPr>
            <a:xfrm>
              <a:off x="8363" y="6579"/>
              <a:ext cx="5046" cy="1085"/>
            </a:xfrm>
            <a:prstGeom prst="roundRect">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 Frequency estimation</a:t>
              </a:r>
              <a:endParaRPr lang="en-US" altLang="zh-CN" sz="2000" b="1" dirty="0">
                <a:solidFill>
                  <a:schemeClr val="bg1"/>
                </a:solidFill>
                <a:latin typeface="Georgia" panose="02040502050405020303" pitchFamily="18" charset="0"/>
                <a:ea typeface="微软雅黑" panose="020B0503020204020204" pitchFamily="34" charset="-122"/>
              </a:endParaRPr>
            </a:p>
          </p:txBody>
        </p:sp>
        <p:cxnSp>
          <p:nvCxnSpPr>
            <p:cNvPr id="10" name="直接箭头连接符 9"/>
            <p:cNvCxnSpPr>
              <a:endCxn id="11" idx="0"/>
            </p:cNvCxnSpPr>
            <p:nvPr/>
          </p:nvCxnSpPr>
          <p:spPr>
            <a:xfrm flipH="1">
              <a:off x="9082" y="7725"/>
              <a:ext cx="16" cy="744"/>
            </a:xfrm>
            <a:prstGeom prst="straightConnector1">
              <a:avLst/>
            </a:prstGeom>
            <a:ln w="34925">
              <a:solidFill>
                <a:srgbClr val="660874"/>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8793" y="8469"/>
              <a:ext cx="577" cy="750"/>
            </a:xfrm>
            <a:prstGeom prst="rect">
              <a:avLst/>
            </a:prstGeom>
            <a:noFill/>
          </p:spPr>
          <p:txBody>
            <a:bodyPr wrap="none" rtlCol="0" anchor="t">
              <a:noAutofit/>
            </a:bodyPr>
            <a:p>
              <a:pPr algn="l"/>
              <a:r>
                <a:rPr lang="en-US" altLang="zh-CN" i="1">
                  <a:latin typeface="Cambria Math" panose="02040503050406030204" pitchFamily="18" charset="0"/>
                  <a:cs typeface="Cambria Math" panose="02040503050406030204" pitchFamily="18" charset="0"/>
                </a:rPr>
                <a:t>f</a:t>
              </a:r>
              <a:endParaRPr lang="en-US" altLang="zh-CN" i="1">
                <a:latin typeface="Cambria Math" panose="02040503050406030204" pitchFamily="18" charset="0"/>
                <a:cs typeface="Cambria Math" panose="02040503050406030204" pitchFamily="18" charset="0"/>
              </a:endParaRPr>
            </a:p>
          </p:txBody>
        </p:sp>
        <mc:AlternateContent xmlns:mc="http://schemas.openxmlformats.org/markup-compatibility/2006">
          <mc:Choice xmlns:a14="http://schemas.microsoft.com/office/drawing/2010/main" Requires="a14">
            <p:sp>
              <p:nvSpPr>
                <p:cNvPr id="13" name="文本框 12"/>
                <p:cNvSpPr txBox="1"/>
                <p:nvPr/>
              </p:nvSpPr>
              <p:spPr>
                <a:xfrm>
                  <a:off x="12335" y="8438"/>
                  <a:ext cx="909" cy="58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𝑓</m:t>
                            </m:r>
                          </m:e>
                          <m:sub>
                            <m:r>
                              <a:rPr lang="en-US" altLang="zh-CN" i="1">
                                <a:latin typeface="Cambria Math" panose="02040503050406030204" pitchFamily="18" charset="0"/>
                                <a:cs typeface="Cambria Math" panose="02040503050406030204" pitchFamily="18" charset="0"/>
                              </a:rPr>
                              <m:t>0</m:t>
                            </m:r>
                          </m:sub>
                        </m:sSub>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12335" y="8438"/>
                  <a:ext cx="909" cy="580"/>
                </a:xfrm>
                <a:prstGeom prst="rect">
                  <a:avLst/>
                </a:prstGeom>
                <a:blipFill rotWithShape="1">
                  <a:blip r:embed="rId3"/>
                </a:blipFill>
              </p:spPr>
              <p:txBody>
                <a:bodyPr/>
                <a:lstStyle/>
                <a:p>
                  <a:r>
                    <a:rPr lang="zh-CN" altLang="en-US">
                      <a:noFill/>
                    </a:rPr>
                    <a:t> </a:t>
                  </a:r>
                </a:p>
              </p:txBody>
            </p:sp>
          </mc:Fallback>
        </mc:AlternateContent>
        <p:cxnSp>
          <p:nvCxnSpPr>
            <p:cNvPr id="14" name="直接箭头连接符 13"/>
            <p:cNvCxnSpPr/>
            <p:nvPr/>
          </p:nvCxnSpPr>
          <p:spPr>
            <a:xfrm>
              <a:off x="9498" y="8669"/>
              <a:ext cx="2785" cy="10"/>
            </a:xfrm>
            <a:prstGeom prst="straightConnector1">
              <a:avLst/>
            </a:prstGeom>
            <a:ln w="34925">
              <a:solidFill>
                <a:srgbClr val="660874"/>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9352" y="8831"/>
              <a:ext cx="3150" cy="580"/>
            </a:xfrm>
            <a:prstGeom prst="rect">
              <a:avLst/>
            </a:prstGeom>
            <a:noFill/>
          </p:spPr>
          <p:txBody>
            <a:bodyPr wrap="square" rtlCol="0">
              <a:spAutoFit/>
            </a:bodyPr>
            <a:p>
              <a:r>
                <a:rPr lang="en-US" altLang="zh-CN"/>
                <a:t>the median value</a:t>
              </a:r>
              <a:endParaRPr lang="en-US" altLang="zh-CN"/>
            </a:p>
          </p:txBody>
        </p:sp>
        <p:cxnSp>
          <p:nvCxnSpPr>
            <p:cNvPr id="18" name="直接箭头连接符 17"/>
            <p:cNvCxnSpPr/>
            <p:nvPr/>
          </p:nvCxnSpPr>
          <p:spPr>
            <a:xfrm>
              <a:off x="13296" y="8669"/>
              <a:ext cx="942" cy="10"/>
            </a:xfrm>
            <a:prstGeom prst="straightConnector1">
              <a:avLst/>
            </a:prstGeom>
            <a:ln w="34925">
              <a:solidFill>
                <a:srgbClr val="660874"/>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a14="http://schemas.microsoft.com/office/drawing/2010/main" Requires="a14">
            <p:sp>
              <p:nvSpPr>
                <p:cNvPr id="22" name="文本框 21"/>
                <p:cNvSpPr txBox="1"/>
                <p:nvPr/>
              </p:nvSpPr>
              <p:spPr>
                <a:xfrm>
                  <a:off x="14420" y="8438"/>
                  <a:ext cx="1836" cy="962"/>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𝑣</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𝜆</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𝑓</m:t>
                                </m:r>
                              </m:e>
                              <m:sub>
                                <m:r>
                                  <a:rPr lang="en-US" altLang="zh-CN" i="1">
                                    <a:latin typeface="Cambria Math" panose="02040503050406030204" pitchFamily="18" charset="0"/>
                                    <a:cs typeface="Cambria Math" panose="02040503050406030204" pitchFamily="18" charset="0"/>
                                  </a:rPr>
                                  <m:t>0</m:t>
                                </m:r>
                              </m:sub>
                            </m:sSub>
                          </m:num>
                          <m:den>
                            <m:r>
                              <a:rPr lang="en-US" altLang="zh-CN" i="1">
                                <a:latin typeface="Cambria Math" panose="02040503050406030204" pitchFamily="18" charset="0"/>
                                <a:cs typeface="Cambria Math" panose="02040503050406030204" pitchFamily="18" charset="0"/>
                              </a:rPr>
                              <m:t>2</m:t>
                            </m:r>
                          </m:den>
                        </m:f>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14420" y="8438"/>
                  <a:ext cx="1836" cy="962"/>
                </a:xfrm>
                <a:prstGeom prst="rect">
                  <a:avLst/>
                </a:prstGeom>
                <a:blipFill rotWithShape="1">
                  <a:blip r:embed="rId4"/>
                </a:blipFill>
              </p:spPr>
              <p:txBody>
                <a:bodyPr/>
                <a:lstStyle/>
                <a:p>
                  <a:r>
                    <a:rPr lang="zh-CN" altLang="en-US">
                      <a:noFill/>
                    </a:rPr>
                    <a:t> </a:t>
                  </a:r>
                </a:p>
              </p:txBody>
            </p:sp>
          </mc:Fallback>
        </mc:AlternateContent>
      </p:gr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sz="3200" dirty="0">
                <a:sym typeface="+mn-ea"/>
              </a:rPr>
              <a:t>SRS resource scheduling</a:t>
            </a:r>
            <a:endParaRPr lang="en-US" sz="3200"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3" name="组合 2"/>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16" name="组合 15"/>
          <p:cNvGrpSpPr/>
          <p:nvPr/>
        </p:nvGrpSpPr>
        <p:grpSpPr>
          <a:xfrm>
            <a:off x="473710" y="901065"/>
            <a:ext cx="3493170" cy="5320665"/>
            <a:chOff x="362817" y="1025748"/>
            <a:chExt cx="3505114" cy="3539693"/>
          </a:xfrm>
        </p:grpSpPr>
        <p:sp>
          <p:nvSpPr>
            <p:cNvPr id="44" name="矩形: 圆角 43"/>
            <p:cNvSpPr/>
            <p:nvPr/>
          </p:nvSpPr>
          <p:spPr>
            <a:xfrm>
              <a:off x="362817" y="1025748"/>
              <a:ext cx="3505079" cy="3539693"/>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Georgia" panose="02040502050405020303" pitchFamily="18" charset="0"/>
              </a:endParaRPr>
            </a:p>
          </p:txBody>
        </p:sp>
        <p:sp>
          <p:nvSpPr>
            <p:cNvPr id="45" name="矩形: 圆顶角 44"/>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sym typeface="+mn-ea"/>
                </a:rPr>
                <a:t>SRS resource scheduling</a:t>
              </a:r>
              <a:endParaRPr lang="en-US" altLang="zh-CN" sz="2000" b="1" dirty="0">
                <a:solidFill>
                  <a:schemeClr val="bg1"/>
                </a:solidFill>
                <a:latin typeface="Georgia" panose="02040502050405020303" pitchFamily="18" charset="0"/>
                <a:ea typeface="微软雅黑" panose="020B0503020204020204" pitchFamily="34" charset="-122"/>
              </a:endParaRPr>
            </a:p>
          </p:txBody>
        </p:sp>
      </p:grpSp>
      <p:pic>
        <p:nvPicPr>
          <p:cNvPr id="5" name="图片 4"/>
          <p:cNvPicPr>
            <a:picLocks noChangeAspect="1"/>
          </p:cNvPicPr>
          <p:nvPr/>
        </p:nvPicPr>
        <p:blipFill>
          <a:blip r:embed="rId2"/>
          <a:stretch>
            <a:fillRect/>
          </a:stretch>
        </p:blipFill>
        <p:spPr>
          <a:xfrm>
            <a:off x="869950" y="1984375"/>
            <a:ext cx="2520000" cy="3869819"/>
          </a:xfrm>
          <a:prstGeom prst="rect">
            <a:avLst/>
          </a:prstGeom>
        </p:spPr>
      </p:pic>
      <p:grpSp>
        <p:nvGrpSpPr>
          <p:cNvPr id="31" name="组合 30"/>
          <p:cNvGrpSpPr/>
          <p:nvPr/>
        </p:nvGrpSpPr>
        <p:grpSpPr>
          <a:xfrm>
            <a:off x="4364990" y="1177925"/>
            <a:ext cx="3447415" cy="4684395"/>
            <a:chOff x="7011" y="1855"/>
            <a:chExt cx="5429" cy="7377"/>
          </a:xfrm>
        </p:grpSpPr>
        <p:sp>
          <p:nvSpPr>
            <p:cNvPr id="17" name="文本框 16"/>
            <p:cNvSpPr txBox="1"/>
            <p:nvPr/>
          </p:nvSpPr>
          <p:spPr>
            <a:xfrm>
              <a:off x="7182" y="6353"/>
              <a:ext cx="5259" cy="1480"/>
            </a:xfrm>
            <a:prstGeom prst="rect">
              <a:avLst/>
            </a:prstGeom>
            <a:noFill/>
          </p:spPr>
          <p:txBody>
            <a:bodyPr wrap="square" rtlCol="0" anchor="t">
              <a:noAutofit/>
            </a:bodyPr>
            <a:p>
              <a:r>
                <a:rPr lang="zh-CN" altLang="en-US">
                  <a:latin typeface="Georgia" panose="02040502050405020303" pitchFamily="18" charset="0"/>
                  <a:cs typeface="Georgia" panose="02040502050405020303" pitchFamily="18" charset="0"/>
                </a:rPr>
                <a:t>Variant tracking errors</a:t>
              </a:r>
              <a:r>
                <a:rPr lang="en-US" altLang="zh-CN">
                  <a:latin typeface="Georgia" panose="02040502050405020303" pitchFamily="18" charset="0"/>
                  <a:cs typeface="Georgia" panose="02040502050405020303" pitchFamily="18" charset="0"/>
                </a:rPr>
                <a:t> </a:t>
              </a:r>
              <a:r>
                <a:rPr lang="zh-CN" altLang="en-US">
                  <a:latin typeface="Georgia" panose="02040502050405020303" pitchFamily="18" charset="0"/>
                  <a:cs typeface="Georgia" panose="02040502050405020303" pitchFamily="18" charset="0"/>
                </a:rPr>
                <a:t>under different velocities and</a:t>
              </a:r>
              <a:r>
                <a:rPr lang="en-US" altLang="zh-CN">
                  <a:latin typeface="Georgia" panose="02040502050405020303" pitchFamily="18" charset="0"/>
                  <a:cs typeface="Georgia" panose="02040502050405020303" pitchFamily="18" charset="0"/>
                </a:rPr>
                <a:t> </a:t>
              </a:r>
              <a:r>
                <a:rPr lang="zh-CN" altLang="en-US">
                  <a:latin typeface="Georgia" panose="02040502050405020303" pitchFamily="18" charset="0"/>
                  <a:cs typeface="Georgia" panose="02040502050405020303" pitchFamily="18" charset="0"/>
                </a:rPr>
                <a:t>sampling rates</a:t>
              </a:r>
              <a:r>
                <a:rPr lang="en-US" altLang="zh-CN">
                  <a:latin typeface="Georgia" panose="02040502050405020303" pitchFamily="18" charset="0"/>
                  <a:cs typeface="Georgia" panose="02040502050405020303" pitchFamily="18" charset="0"/>
                </a:rPr>
                <a:t>.</a:t>
              </a:r>
              <a:endParaRPr lang="en-US" altLang="zh-CN">
                <a:latin typeface="Georgia" panose="02040502050405020303" pitchFamily="18" charset="0"/>
                <a:cs typeface="Georgia" panose="02040502050405020303" pitchFamily="18" charset="0"/>
              </a:endParaRPr>
            </a:p>
          </p:txBody>
        </p:sp>
        <p:pic>
          <p:nvPicPr>
            <p:cNvPr id="19" name="图片 18"/>
            <p:cNvPicPr>
              <a:picLocks noChangeAspect="1"/>
            </p:cNvPicPr>
            <p:nvPr/>
          </p:nvPicPr>
          <p:blipFill>
            <a:blip r:embed="rId3"/>
            <a:stretch>
              <a:fillRect/>
            </a:stretch>
          </p:blipFill>
          <p:spPr>
            <a:xfrm>
              <a:off x="7971" y="8208"/>
              <a:ext cx="3293" cy="1025"/>
            </a:xfrm>
            <a:prstGeom prst="rect">
              <a:avLst/>
            </a:prstGeom>
          </p:spPr>
        </p:pic>
        <p:pic>
          <p:nvPicPr>
            <p:cNvPr id="27" name="图片 26"/>
            <p:cNvPicPr>
              <a:picLocks noChangeAspect="1"/>
            </p:cNvPicPr>
            <p:nvPr/>
          </p:nvPicPr>
          <p:blipFill>
            <a:blip r:embed="rId4"/>
            <a:stretch>
              <a:fillRect/>
            </a:stretch>
          </p:blipFill>
          <p:spPr>
            <a:xfrm>
              <a:off x="7011" y="1855"/>
              <a:ext cx="5167" cy="4123"/>
            </a:xfrm>
            <a:prstGeom prst="rect">
              <a:avLst/>
            </a:prstGeom>
          </p:spPr>
        </p:pic>
      </p:grpSp>
      <p:grpSp>
        <p:nvGrpSpPr>
          <p:cNvPr id="34" name="组合 33"/>
          <p:cNvGrpSpPr/>
          <p:nvPr/>
        </p:nvGrpSpPr>
        <p:grpSpPr>
          <a:xfrm>
            <a:off x="7945120" y="944880"/>
            <a:ext cx="4065270" cy="4727575"/>
            <a:chOff x="12512" y="1488"/>
            <a:chExt cx="6402" cy="7445"/>
          </a:xfrm>
        </p:grpSpPr>
        <p:sp>
          <p:nvSpPr>
            <p:cNvPr id="26" name="文本框 25"/>
            <p:cNvSpPr txBox="1"/>
            <p:nvPr/>
          </p:nvSpPr>
          <p:spPr>
            <a:xfrm>
              <a:off x="12512" y="1488"/>
              <a:ext cx="6403" cy="1016"/>
            </a:xfrm>
            <a:prstGeom prst="rect">
              <a:avLst/>
            </a:prstGeom>
            <a:noFill/>
          </p:spPr>
          <p:txBody>
            <a:bodyPr wrap="square" rtlCol="0" anchor="t">
              <a:spAutoFit/>
            </a:bodyPr>
            <a:p>
              <a:pPr algn="l">
                <a:buClrTx/>
                <a:buSzTx/>
                <a:buFontTx/>
              </a:pPr>
              <a:r>
                <a:rPr lang="zh-CN" altLang="en-US" b="1">
                  <a:solidFill>
                    <a:srgbClr val="C00000"/>
                  </a:solidFill>
                  <a:latin typeface="Georgia" panose="02040502050405020303" pitchFamily="18" charset="0"/>
                  <a:cs typeface="Georgia" panose="02040502050405020303" pitchFamily="18" charset="0"/>
                </a:rPr>
                <a:t>Effects of SRS slot numbers </a:t>
              </a:r>
              <a:endParaRPr lang="zh-CN" altLang="en-US" b="1">
                <a:solidFill>
                  <a:srgbClr val="C00000"/>
                </a:solidFill>
                <a:latin typeface="Georgia" panose="02040502050405020303" pitchFamily="18" charset="0"/>
                <a:cs typeface="Georgia" panose="02040502050405020303" pitchFamily="18" charset="0"/>
              </a:endParaRPr>
            </a:p>
            <a:p>
              <a:pPr algn="l">
                <a:buClrTx/>
                <a:buSzTx/>
                <a:buFontTx/>
              </a:pPr>
              <a:r>
                <a:rPr lang="zh-CN" altLang="en-US" b="1">
                  <a:solidFill>
                    <a:srgbClr val="C00000"/>
                  </a:solidFill>
                  <a:latin typeface="Georgia" panose="02040502050405020303" pitchFamily="18" charset="0"/>
                  <a:cs typeface="Georgia" panose="02040502050405020303" pitchFamily="18" charset="0"/>
                </a:rPr>
                <a:t>on data throughput</a:t>
              </a:r>
              <a:r>
                <a:rPr lang="en-US" altLang="zh-CN" b="1">
                  <a:solidFill>
                    <a:srgbClr val="C00000"/>
                  </a:solidFill>
                  <a:latin typeface="Georgia" panose="02040502050405020303" pitchFamily="18" charset="0"/>
                  <a:cs typeface="Georgia" panose="02040502050405020303" pitchFamily="18" charset="0"/>
                </a:rPr>
                <a:t>:</a:t>
              </a:r>
              <a:endParaRPr lang="en-US" altLang="zh-CN" b="1">
                <a:solidFill>
                  <a:srgbClr val="C00000"/>
                </a:solidFill>
                <a:latin typeface="Georgia" panose="02040502050405020303" pitchFamily="18" charset="0"/>
                <a:cs typeface="Georgia" panose="02040502050405020303" pitchFamily="18" charset="0"/>
              </a:endParaRPr>
            </a:p>
          </p:txBody>
        </p:sp>
        <p:pic>
          <p:nvPicPr>
            <p:cNvPr id="32" name="图片 31"/>
            <p:cNvPicPr>
              <a:picLocks noChangeAspect="1"/>
            </p:cNvPicPr>
            <p:nvPr/>
          </p:nvPicPr>
          <p:blipFill>
            <a:blip r:embed="rId5"/>
            <a:stretch>
              <a:fillRect/>
            </a:stretch>
          </p:blipFill>
          <p:spPr>
            <a:xfrm>
              <a:off x="12934" y="2975"/>
              <a:ext cx="4909" cy="4242"/>
            </a:xfrm>
            <a:prstGeom prst="rect">
              <a:avLst/>
            </a:prstGeom>
          </p:spPr>
        </p:pic>
        <p:sp>
          <p:nvSpPr>
            <p:cNvPr id="33" name="文本框 32"/>
            <p:cNvSpPr txBox="1"/>
            <p:nvPr/>
          </p:nvSpPr>
          <p:spPr>
            <a:xfrm>
              <a:off x="12934" y="7481"/>
              <a:ext cx="5436" cy="1452"/>
            </a:xfrm>
            <a:prstGeom prst="rect">
              <a:avLst/>
            </a:prstGeom>
            <a:noFill/>
          </p:spPr>
          <p:txBody>
            <a:bodyPr wrap="square" rtlCol="0" anchor="t">
              <a:spAutoFit/>
            </a:bodyPr>
            <a:p>
              <a:r>
                <a:rPr lang="zh-CN" altLang="en-US">
                  <a:latin typeface="Georgia" panose="02040502050405020303" pitchFamily="18" charset="0"/>
                  <a:cs typeface="Georgia" panose="02040502050405020303" pitchFamily="18" charset="0"/>
                </a:rPr>
                <a:t>Uplink data</a:t>
              </a:r>
              <a:r>
                <a:rPr lang="en-US" altLang="zh-CN">
                  <a:latin typeface="Georgia" panose="02040502050405020303" pitchFamily="18" charset="0"/>
                  <a:cs typeface="Georgia" panose="02040502050405020303" pitchFamily="18" charset="0"/>
                </a:rPr>
                <a:t> </a:t>
              </a:r>
              <a:r>
                <a:rPr lang="zh-CN" altLang="en-US">
                  <a:latin typeface="Georgia" panose="02040502050405020303" pitchFamily="18" charset="0"/>
                  <a:cs typeface="Georgia" panose="02040502050405020303" pitchFamily="18" charset="0"/>
                </a:rPr>
                <a:t>throughput using SRS with</a:t>
              </a:r>
              <a:r>
                <a:rPr lang="en-US" altLang="zh-CN">
                  <a:latin typeface="Georgia" panose="02040502050405020303" pitchFamily="18" charset="0"/>
                  <a:cs typeface="Georgia" panose="02040502050405020303" pitchFamily="18" charset="0"/>
                </a:rPr>
                <a:t> </a:t>
              </a:r>
              <a:r>
                <a:rPr lang="zh-CN" altLang="en-US">
                  <a:latin typeface="Georgia" panose="02040502050405020303" pitchFamily="18" charset="0"/>
                  <a:cs typeface="Georgia" panose="02040502050405020303" pitchFamily="18" charset="0"/>
                </a:rPr>
                <a:t>different time slot numbers</a:t>
              </a:r>
              <a:r>
                <a:rPr lang="en-US" altLang="zh-CN">
                  <a:latin typeface="Georgia" panose="02040502050405020303" pitchFamily="18" charset="0"/>
                  <a:cs typeface="Georgia" panose="02040502050405020303" pitchFamily="18" charset="0"/>
                </a:rPr>
                <a:t>.</a:t>
              </a:r>
              <a:endParaRPr lang="en-US" altLang="zh-CN">
                <a:latin typeface="Georgia" panose="02040502050405020303" pitchFamily="18" charset="0"/>
                <a:cs typeface="Georgia" panose="02040502050405020303" pitchFamily="18" charset="0"/>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635"/>
            <a:ext cx="12277930" cy="900979"/>
          </a:xfrm>
        </p:spPr>
        <p:txBody>
          <a:bodyPr>
            <a:normAutofit/>
          </a:bodyPr>
          <a:lstStyle/>
          <a:p>
            <a:r>
              <a:rPr lang="en-US" sz="3200" dirty="0">
                <a:sym typeface="+mn-ea"/>
              </a:rPr>
              <a:t>Elimination of scheduling delays</a:t>
            </a:r>
            <a:endParaRPr lang="en-US" sz="3200"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3" name="组合 2"/>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16" name="组合 15"/>
          <p:cNvGrpSpPr/>
          <p:nvPr/>
        </p:nvGrpSpPr>
        <p:grpSpPr>
          <a:xfrm>
            <a:off x="473710" y="901065"/>
            <a:ext cx="3493170" cy="5320665"/>
            <a:chOff x="362817" y="1025748"/>
            <a:chExt cx="3505114" cy="3539693"/>
          </a:xfrm>
        </p:grpSpPr>
        <p:sp>
          <p:nvSpPr>
            <p:cNvPr id="44" name="矩形: 圆角 43"/>
            <p:cNvSpPr/>
            <p:nvPr/>
          </p:nvSpPr>
          <p:spPr>
            <a:xfrm>
              <a:off x="362817" y="1025748"/>
              <a:ext cx="3505079" cy="3539693"/>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Georgia" panose="02040502050405020303" pitchFamily="18" charset="0"/>
              </a:endParaRPr>
            </a:p>
          </p:txBody>
        </p:sp>
        <p:sp>
          <p:nvSpPr>
            <p:cNvPr id="45" name="矩形: 圆顶角 44"/>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p>
              <a:pPr algn="ctr"/>
              <a:r>
                <a:rPr lang="en-US" altLang="zh-CN" sz="2000" b="1" dirty="0">
                  <a:solidFill>
                    <a:schemeClr val="bg1"/>
                  </a:solidFill>
                  <a:latin typeface="Georgia" panose="02040502050405020303" pitchFamily="18" charset="0"/>
                  <a:ea typeface="微软雅黑" panose="020B0503020204020204" pitchFamily="34" charset="-122"/>
                </a:rPr>
                <a:t>Elimination of scheduling delays</a:t>
              </a:r>
              <a:endParaRPr lang="en-US" altLang="zh-CN" sz="2000" b="1" dirty="0">
                <a:solidFill>
                  <a:schemeClr val="bg1"/>
                </a:solidFill>
                <a:latin typeface="Georgia" panose="02040502050405020303" pitchFamily="18" charset="0"/>
                <a:ea typeface="微软雅黑" panose="020B0503020204020204" pitchFamily="34" charset="-122"/>
              </a:endParaRPr>
            </a:p>
          </p:txBody>
        </p:sp>
      </p:grpSp>
      <p:pic>
        <p:nvPicPr>
          <p:cNvPr id="5" name="图片 4"/>
          <p:cNvPicPr>
            <a:picLocks noChangeAspect="1"/>
          </p:cNvPicPr>
          <p:nvPr/>
        </p:nvPicPr>
        <p:blipFill>
          <a:blip r:embed="rId2"/>
          <a:stretch>
            <a:fillRect/>
          </a:stretch>
        </p:blipFill>
        <p:spPr>
          <a:xfrm>
            <a:off x="875030" y="1644015"/>
            <a:ext cx="2520000" cy="4241339"/>
          </a:xfrm>
          <a:prstGeom prst="rect">
            <a:avLst/>
          </a:prstGeom>
        </p:spPr>
      </p:pic>
      <p:sp>
        <p:nvSpPr>
          <p:cNvPr id="35" name="文本框 34"/>
          <p:cNvSpPr txBox="1"/>
          <p:nvPr/>
        </p:nvSpPr>
        <p:spPr>
          <a:xfrm>
            <a:off x="10610215" y="3841750"/>
            <a:ext cx="1440180" cy="645160"/>
          </a:xfrm>
          <a:prstGeom prst="rect">
            <a:avLst/>
          </a:prstGeom>
          <a:noFill/>
        </p:spPr>
        <p:txBody>
          <a:bodyPr wrap="square" rtlCol="0">
            <a:spAutoFit/>
          </a:bodyPr>
          <a:p>
            <a:r>
              <a:rPr lang="en-US" altLang="zh-CN"/>
              <a:t>User</a:t>
            </a:r>
            <a:endParaRPr lang="en-US" altLang="zh-CN"/>
          </a:p>
          <a:p>
            <a:r>
              <a:rPr lang="en-US" altLang="zh-CN"/>
              <a:t>Equipments</a:t>
            </a:r>
            <a:endParaRPr lang="en-US" altLang="zh-CN"/>
          </a:p>
        </p:txBody>
      </p:sp>
      <p:grpSp>
        <p:nvGrpSpPr>
          <p:cNvPr id="4" name="组合 3"/>
          <p:cNvGrpSpPr/>
          <p:nvPr/>
        </p:nvGrpSpPr>
        <p:grpSpPr>
          <a:xfrm>
            <a:off x="4761230" y="1186180"/>
            <a:ext cx="6569075" cy="3269615"/>
            <a:chOff x="7498" y="1868"/>
            <a:chExt cx="10345" cy="5149"/>
          </a:xfrm>
        </p:grpSpPr>
        <p:pic>
          <p:nvPicPr>
            <p:cNvPr id="12" name="图片 11"/>
            <p:cNvPicPr>
              <a:picLocks noChangeAspect="1"/>
            </p:cNvPicPr>
            <p:nvPr/>
          </p:nvPicPr>
          <p:blipFill>
            <a:blip r:embed="rId3"/>
            <a:srcRect b="13171"/>
            <a:stretch>
              <a:fillRect/>
            </a:stretch>
          </p:blipFill>
          <p:spPr>
            <a:xfrm>
              <a:off x="7665" y="1868"/>
              <a:ext cx="2268" cy="1969"/>
            </a:xfrm>
            <a:prstGeom prst="rect">
              <a:avLst/>
            </a:prstGeom>
          </p:spPr>
        </p:pic>
        <p:pic>
          <p:nvPicPr>
            <p:cNvPr id="17" name="图片 16"/>
            <p:cNvPicPr>
              <a:picLocks noChangeAspect="1"/>
            </p:cNvPicPr>
            <p:nvPr/>
          </p:nvPicPr>
          <p:blipFill>
            <a:blip r:embed="rId4"/>
            <a:stretch>
              <a:fillRect/>
            </a:stretch>
          </p:blipFill>
          <p:spPr>
            <a:xfrm>
              <a:off x="10996" y="3393"/>
              <a:ext cx="2268" cy="2268"/>
            </a:xfrm>
            <a:prstGeom prst="rect">
              <a:avLst/>
            </a:prstGeom>
          </p:spPr>
        </p:pic>
        <p:pic>
          <p:nvPicPr>
            <p:cNvPr id="19" name="图片 18"/>
            <p:cNvPicPr>
              <a:picLocks noChangeAspect="1"/>
            </p:cNvPicPr>
            <p:nvPr/>
          </p:nvPicPr>
          <p:blipFill>
            <a:blip r:embed="rId5"/>
            <a:stretch>
              <a:fillRect/>
            </a:stretch>
          </p:blipFill>
          <p:spPr>
            <a:xfrm>
              <a:off x="16709" y="3849"/>
              <a:ext cx="1134" cy="1357"/>
            </a:xfrm>
            <a:prstGeom prst="rect">
              <a:avLst/>
            </a:prstGeom>
          </p:spPr>
        </p:pic>
        <p:pic>
          <p:nvPicPr>
            <p:cNvPr id="24" name="图片 23"/>
            <p:cNvPicPr>
              <a:picLocks noChangeAspect="1"/>
            </p:cNvPicPr>
            <p:nvPr/>
          </p:nvPicPr>
          <p:blipFill>
            <a:blip r:embed="rId5"/>
            <a:stretch>
              <a:fillRect/>
            </a:stretch>
          </p:blipFill>
          <p:spPr>
            <a:xfrm>
              <a:off x="15194" y="2945"/>
              <a:ext cx="1134" cy="1357"/>
            </a:xfrm>
            <a:prstGeom prst="rect">
              <a:avLst/>
            </a:prstGeom>
          </p:spPr>
        </p:pic>
        <p:pic>
          <p:nvPicPr>
            <p:cNvPr id="26" name="图片 25"/>
            <p:cNvPicPr>
              <a:picLocks noChangeAspect="1"/>
            </p:cNvPicPr>
            <p:nvPr/>
          </p:nvPicPr>
          <p:blipFill>
            <a:blip r:embed="rId5"/>
            <a:stretch>
              <a:fillRect/>
            </a:stretch>
          </p:blipFill>
          <p:spPr>
            <a:xfrm>
              <a:off x="15575" y="5661"/>
              <a:ext cx="1134" cy="1357"/>
            </a:xfrm>
            <a:prstGeom prst="rect">
              <a:avLst/>
            </a:prstGeom>
          </p:spPr>
        </p:pic>
        <p:cxnSp>
          <p:nvCxnSpPr>
            <p:cNvPr id="27" name="曲线连接符 26"/>
            <p:cNvCxnSpPr>
              <a:stCxn id="12" idx="3"/>
            </p:cNvCxnSpPr>
            <p:nvPr/>
          </p:nvCxnSpPr>
          <p:spPr>
            <a:xfrm>
              <a:off x="9933" y="2853"/>
              <a:ext cx="5621" cy="2099"/>
            </a:xfrm>
            <a:prstGeom prst="curvedConnector3">
              <a:avLst>
                <a:gd name="adj1" fmla="val 50009"/>
              </a:avLst>
            </a:prstGeom>
            <a:ln>
              <a:solidFill>
                <a:schemeClr val="tx1"/>
              </a:solidFill>
              <a:headEnd type="arrow"/>
              <a:tailEnd type="arrow"/>
            </a:ln>
          </p:spPr>
          <p:style>
            <a:lnRef idx="2">
              <a:schemeClr val="accent1"/>
            </a:lnRef>
            <a:fillRef idx="0">
              <a:srgbClr val="FFFFFF"/>
            </a:fillRef>
            <a:effectRef idx="0">
              <a:srgbClr val="FFFFFF"/>
            </a:effectRef>
            <a:fontRef idx="minor">
              <a:schemeClr val="tx1"/>
            </a:fontRef>
          </p:style>
        </p:cxnSp>
        <p:cxnSp>
          <p:nvCxnSpPr>
            <p:cNvPr id="32" name="曲线连接符 31"/>
            <p:cNvCxnSpPr/>
            <p:nvPr/>
          </p:nvCxnSpPr>
          <p:spPr>
            <a:xfrm>
              <a:off x="9690" y="3664"/>
              <a:ext cx="5318" cy="2833"/>
            </a:xfrm>
            <a:prstGeom prst="curvedConnector3">
              <a:avLst>
                <a:gd name="adj1" fmla="val 50019"/>
              </a:avLst>
            </a:prstGeom>
            <a:ln>
              <a:solidFill>
                <a:schemeClr val="tx1"/>
              </a:solidFill>
              <a:headEnd type="arrow"/>
              <a:tailEnd type="arrow"/>
            </a:ln>
          </p:spPr>
          <p:style>
            <a:lnRef idx="2">
              <a:schemeClr val="accent1"/>
            </a:lnRef>
            <a:fillRef idx="0">
              <a:srgbClr val="FFFFFF"/>
            </a:fillRef>
            <a:effectRef idx="0">
              <a:srgbClr val="FFFFFF"/>
            </a:effectRef>
            <a:fontRef idx="minor">
              <a:schemeClr val="tx1"/>
            </a:fontRef>
          </p:style>
        </p:cxnSp>
        <p:sp>
          <p:nvSpPr>
            <p:cNvPr id="33" name="文本框 32"/>
            <p:cNvSpPr txBox="1"/>
            <p:nvPr/>
          </p:nvSpPr>
          <p:spPr>
            <a:xfrm>
              <a:off x="7664" y="3997"/>
              <a:ext cx="2268" cy="580"/>
            </a:xfrm>
            <a:prstGeom prst="rect">
              <a:avLst/>
            </a:prstGeom>
            <a:noFill/>
          </p:spPr>
          <p:txBody>
            <a:bodyPr wrap="square" rtlCol="0">
              <a:spAutoFit/>
            </a:bodyPr>
            <a:p>
              <a:r>
                <a:rPr lang="en-US" altLang="zh-CN"/>
                <a:t>Edge Server</a:t>
              </a:r>
              <a:endParaRPr lang="en-US" altLang="zh-CN"/>
            </a:p>
          </p:txBody>
        </p:sp>
        <p:sp>
          <p:nvSpPr>
            <p:cNvPr id="34" name="文本框 33"/>
            <p:cNvSpPr txBox="1"/>
            <p:nvPr/>
          </p:nvSpPr>
          <p:spPr>
            <a:xfrm>
              <a:off x="11497" y="5818"/>
              <a:ext cx="2268" cy="580"/>
            </a:xfrm>
            <a:prstGeom prst="rect">
              <a:avLst/>
            </a:prstGeom>
            <a:noFill/>
          </p:spPr>
          <p:txBody>
            <a:bodyPr wrap="square" rtlCol="0">
              <a:spAutoFit/>
            </a:bodyPr>
            <a:p>
              <a:r>
                <a:rPr lang="en-US" altLang="zh-CN"/>
                <a:t>RAN</a:t>
              </a:r>
              <a:endParaRPr lang="en-US" altLang="zh-CN"/>
            </a:p>
          </p:txBody>
        </p:sp>
        <p:sp>
          <p:nvSpPr>
            <p:cNvPr id="36" name="圆角矩形标注 35"/>
            <p:cNvSpPr/>
            <p:nvPr/>
          </p:nvSpPr>
          <p:spPr>
            <a:xfrm rot="10800000">
              <a:off x="7498" y="5206"/>
              <a:ext cx="3498" cy="1684"/>
            </a:xfrm>
            <a:prstGeom prst="wedgeRoundRectCallout">
              <a:avLst>
                <a:gd name="adj1" fmla="val -33419"/>
                <a:gd name="adj2" fmla="val 120195"/>
                <a:gd name="adj3" fmla="val 16667"/>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8" name="文本框 37"/>
            <p:cNvSpPr txBox="1"/>
            <p:nvPr/>
          </p:nvSpPr>
          <p:spPr>
            <a:xfrm>
              <a:off x="7664" y="5389"/>
              <a:ext cx="3443" cy="1629"/>
            </a:xfrm>
            <a:prstGeom prst="rect">
              <a:avLst/>
            </a:prstGeom>
            <a:noFill/>
          </p:spPr>
          <p:txBody>
            <a:bodyPr wrap="square" rtlCol="0">
              <a:noAutofit/>
            </a:bodyPr>
            <a:p>
              <a:r>
                <a:rPr lang="en-US" altLang="zh-CN" b="1">
                  <a:solidFill>
                    <a:srgbClr val="C00000"/>
                  </a:solidFill>
                </a:rPr>
                <a:t>Historical velocity data of the UE in past cycles</a:t>
              </a:r>
              <a:endParaRPr lang="en-US" altLang="zh-CN" b="1">
                <a:solidFill>
                  <a:srgbClr val="C00000"/>
                </a:solidFill>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dirty="0">
                <a:sym typeface="+mn-ea"/>
              </a:rPr>
              <a:t>Implementation</a:t>
            </a:r>
            <a:endParaRPr lang="en-US" altLang="zh-CN"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grpSp>
        <p:nvGrpSpPr>
          <p:cNvPr id="26" name="组合 25"/>
          <p:cNvGrpSpPr/>
          <p:nvPr/>
        </p:nvGrpSpPr>
        <p:grpSpPr>
          <a:xfrm>
            <a:off x="428625" y="965835"/>
            <a:ext cx="6042660" cy="4597400"/>
            <a:chOff x="1206798" y="1433060"/>
            <a:chExt cx="9778406" cy="2277093"/>
          </a:xfrm>
        </p:grpSpPr>
        <p:sp>
          <p:nvSpPr>
            <p:cNvPr id="18" name="矩形: 圆角 17"/>
            <p:cNvSpPr/>
            <p:nvPr/>
          </p:nvSpPr>
          <p:spPr>
            <a:xfrm>
              <a:off x="1206798" y="1433061"/>
              <a:ext cx="9778406" cy="2277092"/>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3" name="矩形: 圆顶角 18"/>
            <p:cNvSpPr/>
            <p:nvPr/>
          </p:nvSpPr>
          <p:spPr>
            <a:xfrm>
              <a:off x="1206798" y="1433060"/>
              <a:ext cx="9778406" cy="305709"/>
            </a:xfrm>
            <a:prstGeom prst="round2SameRect">
              <a:avLst>
                <a:gd name="adj1" fmla="val 36333"/>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A complete 5G testbed</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pic>
        <p:nvPicPr>
          <p:cNvPr id="4" name="图片 3"/>
          <p:cNvPicPr>
            <a:picLocks noChangeAspect="1"/>
          </p:cNvPicPr>
          <p:nvPr/>
        </p:nvPicPr>
        <p:blipFill>
          <a:blip r:embed="rId2"/>
          <a:stretch>
            <a:fillRect/>
          </a:stretch>
        </p:blipFill>
        <p:spPr>
          <a:xfrm>
            <a:off x="548005" y="1809750"/>
            <a:ext cx="5803900" cy="3239135"/>
          </a:xfrm>
          <a:prstGeom prst="rect">
            <a:avLst/>
          </a:prstGeom>
        </p:spPr>
      </p:pic>
      <p:pic>
        <p:nvPicPr>
          <p:cNvPr id="5" name="图片 4"/>
          <p:cNvPicPr>
            <a:picLocks noChangeAspect="1"/>
          </p:cNvPicPr>
          <p:nvPr/>
        </p:nvPicPr>
        <p:blipFill>
          <a:blip r:embed="rId3"/>
          <a:stretch>
            <a:fillRect/>
          </a:stretch>
        </p:blipFill>
        <p:spPr>
          <a:xfrm>
            <a:off x="709930" y="4730750"/>
            <a:ext cx="2425700" cy="1511300"/>
          </a:xfrm>
          <a:prstGeom prst="rect">
            <a:avLst/>
          </a:prstGeom>
        </p:spPr>
      </p:pic>
      <p:pic>
        <p:nvPicPr>
          <p:cNvPr id="6" name="图片 5"/>
          <p:cNvPicPr>
            <a:picLocks noChangeAspect="1"/>
          </p:cNvPicPr>
          <p:nvPr/>
        </p:nvPicPr>
        <p:blipFill>
          <a:blip r:embed="rId4"/>
          <a:stretch>
            <a:fillRect/>
          </a:stretch>
        </p:blipFill>
        <p:spPr>
          <a:xfrm>
            <a:off x="4048760" y="4730750"/>
            <a:ext cx="2197100" cy="1778000"/>
          </a:xfrm>
          <a:prstGeom prst="rect">
            <a:avLst/>
          </a:prstGeom>
        </p:spPr>
      </p:pic>
      <p:sp>
        <p:nvSpPr>
          <p:cNvPr id="7" name="文本框 6"/>
          <p:cNvSpPr txBox="1"/>
          <p:nvPr/>
        </p:nvSpPr>
        <p:spPr>
          <a:xfrm>
            <a:off x="6809740" y="1583055"/>
            <a:ext cx="4563745" cy="3248025"/>
          </a:xfrm>
          <a:prstGeom prst="rect">
            <a:avLst/>
          </a:prstGeom>
          <a:noFill/>
        </p:spPr>
        <p:txBody>
          <a:bodyPr wrap="square" rtlCol="0">
            <a:noAutofit/>
          </a:bodyPr>
          <a:p>
            <a:pPr marL="285750" indent="-285750">
              <a:buFont typeface="Arial" panose="020B0604020202020204" pitchFamily="34" charset="0"/>
              <a:buChar char="•"/>
            </a:pPr>
            <a:r>
              <a:rPr lang="en-US" altLang="zh-CN" sz="2000" b="1"/>
              <a:t>5G vRAN</a:t>
            </a:r>
            <a:r>
              <a:rPr lang="en-US" altLang="zh-CN" sz="2000"/>
              <a:t>: Adopt OpenAirInterface (open-sourced) and run at 3.7GHz.</a:t>
            </a:r>
            <a:endParaRPr lang="en-US" altLang="zh-CN" sz="2000"/>
          </a:p>
          <a:p>
            <a:pPr marL="285750" indent="-285750">
              <a:buFont typeface="Arial" panose="020B0604020202020204" pitchFamily="34" charset="0"/>
              <a:buChar char="•"/>
            </a:pPr>
            <a:endParaRPr lang="en-US" altLang="zh-CN" sz="2000"/>
          </a:p>
          <a:p>
            <a:pPr marL="285750" indent="-285750">
              <a:buFont typeface="Arial" panose="020B0604020202020204" pitchFamily="34" charset="0"/>
              <a:buChar char="•"/>
            </a:pPr>
            <a:r>
              <a:rPr lang="en-US" altLang="zh-CN" sz="2000" b="1"/>
              <a:t>5G core network</a:t>
            </a:r>
            <a:r>
              <a:rPr lang="en-US" altLang="zh-CN" sz="2000"/>
              <a:t>: Adopt free5GC. </a:t>
            </a:r>
            <a:endParaRPr lang="en-US" altLang="zh-CN" sz="2000"/>
          </a:p>
          <a:p>
            <a:pPr marL="285750" indent="-285750">
              <a:buFont typeface="Arial" panose="020B0604020202020204" pitchFamily="34" charset="0"/>
              <a:buChar char="•"/>
            </a:pPr>
            <a:endParaRPr lang="en-US" altLang="zh-CN" sz="2000"/>
          </a:p>
          <a:p>
            <a:pPr marL="285750" indent="-285750">
              <a:buFont typeface="Arial" panose="020B0604020202020204" pitchFamily="34" charset="0"/>
              <a:buChar char="•"/>
            </a:pPr>
            <a:r>
              <a:rPr lang="en-US" altLang="zh-CN" sz="2000" b="1"/>
              <a:t>5G UEs</a:t>
            </a:r>
            <a:r>
              <a:rPr lang="en-US" altLang="zh-CN" sz="2000"/>
              <a:t>: Use </a:t>
            </a:r>
            <a:r>
              <a:rPr lang="zh-CN" altLang="en-US" sz="2000"/>
              <a:t>commercial 5G Customer Premise</a:t>
            </a:r>
            <a:r>
              <a:rPr lang="en-US" altLang="zh-CN" sz="2000"/>
              <a:t> Equipment with </a:t>
            </a:r>
            <a:r>
              <a:rPr lang="en-US" altLang="zh-CN" sz="2000" b="1"/>
              <a:t>no hardware and software modifications</a:t>
            </a:r>
            <a:r>
              <a:rPr lang="en-US" altLang="zh-CN" sz="2000"/>
              <a:t>.</a:t>
            </a:r>
            <a:endParaRPr lang="en-US" altLang="zh-CN" sz="2000"/>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dirty="0">
                <a:sym typeface="+mn-ea"/>
              </a:rPr>
              <a:t>Overall Performance</a:t>
            </a:r>
            <a:endParaRPr lang="en-US" altLang="zh-CN"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pic>
        <p:nvPicPr>
          <p:cNvPr id="8" name="图片 7"/>
          <p:cNvPicPr>
            <a:picLocks noChangeAspect="1"/>
          </p:cNvPicPr>
          <p:nvPr/>
        </p:nvPicPr>
        <p:blipFill>
          <a:blip r:embed="rId2"/>
          <a:srcRect b="10996"/>
          <a:stretch>
            <a:fillRect/>
          </a:stretch>
        </p:blipFill>
        <p:spPr>
          <a:xfrm>
            <a:off x="521335" y="1060450"/>
            <a:ext cx="10913110" cy="2611120"/>
          </a:xfrm>
          <a:prstGeom prst="rect">
            <a:avLst/>
          </a:prstGeom>
        </p:spPr>
      </p:pic>
      <p:sp>
        <p:nvSpPr>
          <p:cNvPr id="11" name="文本框 10"/>
          <p:cNvSpPr txBox="1"/>
          <p:nvPr/>
        </p:nvSpPr>
        <p:spPr>
          <a:xfrm>
            <a:off x="1018540" y="3581400"/>
            <a:ext cx="2184400" cy="922020"/>
          </a:xfrm>
          <a:prstGeom prst="rect">
            <a:avLst/>
          </a:prstGeom>
          <a:noFill/>
        </p:spPr>
        <p:txBody>
          <a:bodyPr wrap="square" rtlCol="0">
            <a:spAutoFit/>
          </a:bodyPr>
          <a:p>
            <a:r>
              <a:rPr lang="en-US" altLang="zh-CN">
                <a:latin typeface="Georgia" panose="02040502050405020303" pitchFamily="18" charset="0"/>
                <a:cs typeface="Georgia" panose="02040502050405020303" pitchFamily="18" charset="0"/>
              </a:rPr>
              <a:t>M</a:t>
            </a:r>
            <a:r>
              <a:rPr lang="zh-CN" altLang="en-US">
                <a:latin typeface="Georgia" panose="02040502050405020303" pitchFamily="18" charset="0"/>
                <a:cs typeface="Georgia" panose="02040502050405020303" pitchFamily="18" charset="0"/>
              </a:rPr>
              <a:t>eeting room with few</a:t>
            </a:r>
            <a:r>
              <a:rPr lang="en-US" altLang="zh-CN">
                <a:latin typeface="Georgia" panose="02040502050405020303" pitchFamily="18" charset="0"/>
                <a:cs typeface="Georgia" panose="02040502050405020303" pitchFamily="18" charset="0"/>
              </a:rPr>
              <a:t> </a:t>
            </a:r>
            <a:r>
              <a:rPr lang="zh-CN" altLang="en-US">
                <a:latin typeface="Georgia" panose="02040502050405020303" pitchFamily="18" charset="0"/>
                <a:cs typeface="Georgia" panose="02040502050405020303" pitchFamily="18" charset="0"/>
              </a:rPr>
              <a:t>multipath effects (5m×4.2m)</a:t>
            </a:r>
            <a:endParaRPr lang="zh-CN" altLang="en-US">
              <a:latin typeface="Georgia" panose="02040502050405020303" pitchFamily="18" charset="0"/>
              <a:cs typeface="Georgia" panose="02040502050405020303" pitchFamily="18" charset="0"/>
            </a:endParaRPr>
          </a:p>
        </p:txBody>
      </p:sp>
      <p:sp>
        <p:nvSpPr>
          <p:cNvPr id="13" name="文本框 12"/>
          <p:cNvSpPr txBox="1"/>
          <p:nvPr/>
        </p:nvSpPr>
        <p:spPr>
          <a:xfrm>
            <a:off x="3813175" y="3655695"/>
            <a:ext cx="1921510" cy="64516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Narrow corridor(5m×2m)</a:t>
            </a:r>
            <a:endParaRPr lang="en-US" altLang="zh-CN">
              <a:latin typeface="Georgia" panose="02040502050405020303" pitchFamily="18" charset="0"/>
              <a:cs typeface="Georgia" panose="02040502050405020303" pitchFamily="18" charset="0"/>
            </a:endParaRPr>
          </a:p>
        </p:txBody>
      </p:sp>
      <p:sp>
        <p:nvSpPr>
          <p:cNvPr id="14" name="文本框 13"/>
          <p:cNvSpPr txBox="1"/>
          <p:nvPr/>
        </p:nvSpPr>
        <p:spPr>
          <a:xfrm>
            <a:off x="6479540" y="3691255"/>
            <a:ext cx="2108200" cy="92202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Laboratory with rich multipath effects (5m×4m)</a:t>
            </a:r>
            <a:endParaRPr lang="en-US" altLang="zh-CN">
              <a:latin typeface="Georgia" panose="02040502050405020303" pitchFamily="18" charset="0"/>
              <a:cs typeface="Georgia" panose="02040502050405020303" pitchFamily="18" charset="0"/>
            </a:endParaRPr>
          </a:p>
        </p:txBody>
      </p:sp>
      <p:sp>
        <p:nvSpPr>
          <p:cNvPr id="15" name="文本框 14"/>
          <p:cNvSpPr txBox="1"/>
          <p:nvPr/>
        </p:nvSpPr>
        <p:spPr>
          <a:xfrm>
            <a:off x="9128125" y="3691255"/>
            <a:ext cx="2075180" cy="64516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CDF of Tracking Error</a:t>
            </a:r>
            <a:endParaRPr lang="en-US" altLang="zh-CN">
              <a:latin typeface="Georgia" panose="02040502050405020303" pitchFamily="18" charset="0"/>
              <a:cs typeface="Georgia" panose="02040502050405020303" pitchFamily="18" charset="0"/>
            </a:endParaRPr>
          </a:p>
        </p:txBody>
      </p:sp>
      <p:grpSp>
        <p:nvGrpSpPr>
          <p:cNvPr id="46" name="组合 45"/>
          <p:cNvGrpSpPr/>
          <p:nvPr/>
        </p:nvGrpSpPr>
        <p:grpSpPr>
          <a:xfrm>
            <a:off x="458698" y="4996149"/>
            <a:ext cx="11363313" cy="978784"/>
            <a:chOff x="574039" y="4882266"/>
            <a:chExt cx="10835170" cy="978784"/>
          </a:xfrm>
        </p:grpSpPr>
        <p:sp>
          <p:nvSpPr>
            <p:cNvPr id="47" name="矩形: 圆角 46"/>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矩形 47"/>
            <p:cNvSpPr/>
            <p:nvPr/>
          </p:nvSpPr>
          <p:spPr>
            <a:xfrm>
              <a:off x="745195" y="4969022"/>
              <a:ext cx="10664014" cy="738505"/>
            </a:xfrm>
            <a:prstGeom prst="rect">
              <a:avLst/>
            </a:prstGeom>
            <a:ln>
              <a:noFill/>
            </a:ln>
          </p:spPr>
          <p:txBody>
            <a:bodyPr wrap="square" lIns="0" tIns="0" rIns="0" bIns="0">
              <a:spAutoFit/>
            </a:bodyPr>
            <a:p>
              <a:pPr algn="ctr"/>
              <a:r>
                <a:rPr kumimoji="1" lang="en-US" altLang="zh-CN" sz="2400" b="1" spc="-50" dirty="0">
                  <a:solidFill>
                    <a:srgbClr val="660874"/>
                  </a:solidFill>
                  <a:latin typeface="Georgia" panose="02040502050405020303" pitchFamily="18" charset="0"/>
                  <a:ea typeface="微软雅黑" panose="020B0503020204020204" pitchFamily="34" charset="-122"/>
                </a:rPr>
                <a:t>The median tracking error of ElaSe is </a:t>
              </a:r>
              <a:r>
                <a:rPr kumimoji="1" lang="en-US" altLang="zh-CN" sz="2400" b="1" u="sng"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0.60m,0.63m,0.78m</a:t>
              </a:r>
              <a:r>
                <a:rPr kumimoji="1" lang="en-US" altLang="zh-CN" sz="2400" b="1" spc="-50" dirty="0">
                  <a:solidFill>
                    <a:srgbClr val="660874"/>
                  </a:solidFill>
                  <a:latin typeface="Georgia" panose="02040502050405020303" pitchFamily="18" charset="0"/>
                  <a:ea typeface="微软雅黑" panose="020B0503020204020204" pitchFamily="34" charset="-122"/>
                </a:rPr>
                <a:t>,</a:t>
              </a:r>
              <a:endParaRPr kumimoji="1" lang="en-US" altLang="zh-CN" sz="2400" b="1" spc="-50" dirty="0">
                <a:solidFill>
                  <a:srgbClr val="660874"/>
                </a:solidFill>
                <a:latin typeface="Georgia" panose="02040502050405020303" pitchFamily="18" charset="0"/>
                <a:ea typeface="微软雅黑" panose="020B0503020204020204" pitchFamily="34" charset="-122"/>
              </a:endParaRPr>
            </a:p>
            <a:p>
              <a:pPr algn="ctr"/>
              <a:r>
                <a:rPr kumimoji="1" lang="en-US" altLang="zh-CN" sz="2400" b="1" spc="-50" dirty="0">
                  <a:solidFill>
                    <a:srgbClr val="660874"/>
                  </a:solidFill>
                  <a:latin typeface="Georgia" panose="02040502050405020303" pitchFamily="18" charset="0"/>
                  <a:ea typeface="微软雅黑" panose="020B0503020204020204" pitchFamily="34" charset="-122"/>
                </a:rPr>
                <a:t>respectively,</a:t>
              </a:r>
              <a:r>
                <a:rPr kumimoji="1" lang="en-US" altLang="zh-CN" sz="2400" b="1" u="sng"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34%</a:t>
              </a:r>
              <a:r>
                <a:rPr kumimoji="1" lang="en-US" altLang="zh-CN" sz="2400" b="1" spc="-50" dirty="0">
                  <a:solidFill>
                    <a:srgbClr val="660874"/>
                  </a:solidFill>
                  <a:latin typeface="Georgia" panose="02040502050405020303" pitchFamily="18" charset="0"/>
                  <a:ea typeface="微软雅黑" panose="020B0503020204020204" pitchFamily="34" charset="-122"/>
                </a:rPr>
                <a:t> less than that of </a:t>
              </a:r>
              <a:r>
                <a:rPr kumimoji="1" lang="en-US" altLang="zh-CN" sz="2400" b="1" spc="-50" dirty="0" err="1">
                  <a:solidFill>
                    <a:srgbClr val="660874"/>
                  </a:solidFill>
                  <a:latin typeface="Georgia" panose="02040502050405020303" pitchFamily="18" charset="0"/>
                  <a:ea typeface="微软雅黑" panose="020B0503020204020204" pitchFamily="34" charset="-122"/>
                </a:rPr>
                <a:t>baseline scheme without</a:t>
              </a:r>
              <a:r>
                <a:rPr kumimoji="1" lang="en-US" altLang="zh-CN" sz="2400" b="1" spc="-50" dirty="0">
                  <a:solidFill>
                    <a:srgbClr val="660874"/>
                  </a:solidFill>
                  <a:latin typeface="Georgia" panose="02040502050405020303" pitchFamily="18" charset="0"/>
                  <a:ea typeface="微软雅黑" panose="020B0503020204020204" pitchFamily="34" charset="-122"/>
                </a:rPr>
                <a:t> scheduling.</a:t>
              </a:r>
              <a:endParaRPr kumimoji="1" lang="en-US" altLang="zh-CN" sz="2400" b="1" spc="-50" dirty="0">
                <a:solidFill>
                  <a:srgbClr val="660874"/>
                </a:solidFill>
                <a:latin typeface="Georgia" panose="02040502050405020303" pitchFamily="18" charset="0"/>
                <a:ea typeface="微软雅黑" panose="020B0503020204020204" pitchFamily="34" charset="-122"/>
              </a:endParaRP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dirty="0">
                <a:sym typeface="+mn-ea"/>
              </a:rPr>
              <a:t>Allocation Error</a:t>
            </a:r>
            <a:endParaRPr lang="en-US" altLang="zh-CN"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
        <p:nvSpPr>
          <p:cNvPr id="14" name="文本框 13"/>
          <p:cNvSpPr txBox="1"/>
          <p:nvPr/>
        </p:nvSpPr>
        <p:spPr>
          <a:xfrm>
            <a:off x="5327650" y="4020185"/>
            <a:ext cx="2531110" cy="64516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Demand and allocaton over 10</a:t>
            </a:r>
            <a:r>
              <a:rPr lang="en-US" altLang="zh-CN">
                <a:latin typeface="Georgia" panose="02040502050405020303" pitchFamily="18" charset="0"/>
                <a:cs typeface="Georgia" panose="02040502050405020303" pitchFamily="18" charset="0"/>
              </a:rPr>
              <a:t>s.</a:t>
            </a:r>
            <a:endParaRPr lang="en-US" altLang="zh-CN">
              <a:latin typeface="Georgia" panose="02040502050405020303" pitchFamily="18" charset="0"/>
              <a:cs typeface="Georgia" panose="02040502050405020303" pitchFamily="18" charset="0"/>
            </a:endParaRPr>
          </a:p>
        </p:txBody>
      </p:sp>
      <p:sp>
        <p:nvSpPr>
          <p:cNvPr id="15" name="文本框 14"/>
          <p:cNvSpPr txBox="1"/>
          <p:nvPr/>
        </p:nvSpPr>
        <p:spPr>
          <a:xfrm>
            <a:off x="8663305" y="4020185"/>
            <a:ext cx="2734310" cy="64516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Resource allocation error of three schemes.</a:t>
            </a:r>
            <a:endParaRPr lang="en-US" altLang="zh-CN">
              <a:latin typeface="Georgia" panose="02040502050405020303" pitchFamily="18" charset="0"/>
              <a:cs typeface="Georgia" panose="02040502050405020303" pitchFamily="18" charset="0"/>
            </a:endParaRPr>
          </a:p>
        </p:txBody>
      </p:sp>
      <p:grpSp>
        <p:nvGrpSpPr>
          <p:cNvPr id="46" name="组合 45"/>
          <p:cNvGrpSpPr/>
          <p:nvPr/>
        </p:nvGrpSpPr>
        <p:grpSpPr>
          <a:xfrm>
            <a:off x="458698" y="4996149"/>
            <a:ext cx="11363313" cy="978784"/>
            <a:chOff x="574039" y="4882266"/>
            <a:chExt cx="10835170" cy="978784"/>
          </a:xfrm>
        </p:grpSpPr>
        <p:sp>
          <p:nvSpPr>
            <p:cNvPr id="47" name="矩形: 圆角 46"/>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矩形 47"/>
            <p:cNvSpPr/>
            <p:nvPr/>
          </p:nvSpPr>
          <p:spPr>
            <a:xfrm>
              <a:off x="745195" y="4969022"/>
              <a:ext cx="10664014" cy="738505"/>
            </a:xfrm>
            <a:prstGeom prst="rect">
              <a:avLst/>
            </a:prstGeom>
            <a:ln>
              <a:noFill/>
            </a:ln>
          </p:spPr>
          <p:txBody>
            <a:bodyPr wrap="square" lIns="0" tIns="0" rIns="0" bIns="0">
              <a:spAutoFit/>
            </a:bodyPr>
            <a:p>
              <a:pPr algn="ctr"/>
              <a:r>
                <a:rPr kumimoji="1" lang="en-US" altLang="zh-CN" sz="2400" b="1" spc="-50" dirty="0">
                  <a:solidFill>
                    <a:srgbClr val="660874"/>
                  </a:solidFill>
                  <a:latin typeface="Georgia" panose="02040502050405020303" pitchFamily="18" charset="0"/>
                  <a:ea typeface="微软雅黑" panose="020B0503020204020204" pitchFamily="34" charset="-122"/>
                </a:rPr>
                <a:t>The resource allocation error of predictive scheme is </a:t>
              </a:r>
              <a:r>
                <a:rPr kumimoji="1" lang="en-US" altLang="zh-CN" sz="2400" b="1" u="sng"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63%</a:t>
              </a:r>
              <a:r>
                <a:rPr kumimoji="1" lang="en-US" altLang="zh-CN" sz="2400" b="1" spc="-50" dirty="0">
                  <a:solidFill>
                    <a:srgbClr val="660874"/>
                  </a:solidFill>
                  <a:latin typeface="Georgia" panose="02040502050405020303" pitchFamily="18" charset="0"/>
                  <a:ea typeface="微软雅黑" panose="020B0503020204020204" pitchFamily="34" charset="-122"/>
                </a:rPr>
                <a:t> less than that of </a:t>
              </a:r>
              <a:r>
                <a:rPr kumimoji="1" lang="en-US" altLang="zh-CN" sz="2400" b="1" spc="-50" dirty="0" err="1">
                  <a:solidFill>
                    <a:srgbClr val="660874"/>
                  </a:solidFill>
                  <a:latin typeface="Georgia" panose="02040502050405020303" pitchFamily="18" charset="0"/>
                  <a:ea typeface="微软雅黑" panose="020B0503020204020204" pitchFamily="34" charset="-122"/>
                </a:rPr>
                <a:t>reactive scheme </a:t>
              </a:r>
              <a:r>
                <a:rPr kumimoji="1" lang="en-US" altLang="zh-CN" sz="2400" b="1" spc="-50" dirty="0">
                  <a:solidFill>
                    <a:srgbClr val="660874"/>
                  </a:solidFill>
                  <a:latin typeface="Georgia" panose="02040502050405020303" pitchFamily="18" charset="0"/>
                  <a:ea typeface="微软雅黑" panose="020B0503020204020204" pitchFamily="34" charset="-122"/>
                </a:rPr>
                <a:t>.</a:t>
              </a:r>
              <a:endParaRPr kumimoji="1" lang="en-US" altLang="zh-CN" sz="2400" b="1" spc="-50" dirty="0">
                <a:solidFill>
                  <a:srgbClr val="660874"/>
                </a:solidFill>
                <a:latin typeface="Georgia" panose="02040502050405020303" pitchFamily="18" charset="0"/>
                <a:ea typeface="微软雅黑" panose="020B0503020204020204" pitchFamily="34" charset="-122"/>
              </a:endParaRPr>
            </a:p>
          </p:txBody>
        </p:sp>
      </p:grpSp>
      <p:sp>
        <p:nvSpPr>
          <p:cNvPr id="3" name="文本框 2"/>
          <p:cNvSpPr txBox="1"/>
          <p:nvPr/>
        </p:nvSpPr>
        <p:spPr>
          <a:xfrm>
            <a:off x="561975" y="1184275"/>
            <a:ext cx="3651250" cy="2451100"/>
          </a:xfrm>
          <a:prstGeom prst="rect">
            <a:avLst/>
          </a:prstGeom>
          <a:noFill/>
        </p:spPr>
        <p:txBody>
          <a:bodyPr wrap="square" rtlCol="0" anchor="t">
            <a:noAutofit/>
          </a:bodyPr>
          <a:p>
            <a:r>
              <a:rPr lang="en-US" altLang="zh-CN" sz="2000">
                <a:latin typeface="Georgia" panose="02040502050405020303" pitchFamily="18" charset="0"/>
                <a:cs typeface="Georgia" panose="02040502050405020303" pitchFamily="18" charset="0"/>
                <a:sym typeface="+mn-ea"/>
              </a:rPr>
              <a:t>The </a:t>
            </a:r>
            <a:r>
              <a:rPr lang="zh-CN" altLang="en-US" sz="2000">
                <a:latin typeface="Georgia" panose="02040502050405020303" pitchFamily="18" charset="0"/>
                <a:cs typeface="Georgia" panose="02040502050405020303" pitchFamily="18" charset="0"/>
                <a:sym typeface="+mn-ea"/>
              </a:rPr>
              <a:t>resource </a:t>
            </a:r>
            <a:r>
              <a:rPr lang="zh-CN" altLang="en-US" sz="2000">
                <a:solidFill>
                  <a:srgbClr val="C00000"/>
                </a:solidFill>
                <a:latin typeface="Georgia" panose="02040502050405020303" pitchFamily="18" charset="0"/>
                <a:cs typeface="Georgia" panose="02040502050405020303" pitchFamily="18" charset="0"/>
                <a:sym typeface="+mn-ea"/>
              </a:rPr>
              <a:t>allocation error</a:t>
            </a:r>
            <a:r>
              <a:rPr lang="zh-CN" altLang="en-US" sz="2000">
                <a:latin typeface="Georgia" panose="02040502050405020303" pitchFamily="18" charset="0"/>
                <a:cs typeface="Georgia" panose="02040502050405020303" pitchFamily="18" charset="0"/>
                <a:sym typeface="+mn-ea"/>
              </a:rPr>
              <a:t> is defined as the </a:t>
            </a:r>
            <a:r>
              <a:rPr lang="zh-CN" altLang="en-US" sz="2000">
                <a:solidFill>
                  <a:srgbClr val="C00000"/>
                </a:solidFill>
                <a:latin typeface="Georgia" panose="02040502050405020303" pitchFamily="18" charset="0"/>
                <a:cs typeface="Georgia" panose="02040502050405020303" pitchFamily="18" charset="0"/>
                <a:sym typeface="+mn-ea"/>
              </a:rPr>
              <a:t>absolute difference</a:t>
            </a:r>
            <a:r>
              <a:rPr lang="en-US" altLang="zh-CN" sz="2000">
                <a:latin typeface="Georgia" panose="02040502050405020303" pitchFamily="18" charset="0"/>
                <a:cs typeface="Georgia" panose="02040502050405020303" pitchFamily="18" charset="0"/>
                <a:sym typeface="+mn-ea"/>
              </a:rPr>
              <a:t> </a:t>
            </a:r>
            <a:r>
              <a:rPr lang="zh-CN" altLang="en-US" sz="2000">
                <a:latin typeface="Georgia" panose="02040502050405020303" pitchFamily="18" charset="0"/>
                <a:cs typeface="Georgia" panose="02040502050405020303" pitchFamily="18" charset="0"/>
                <a:sym typeface="+mn-ea"/>
              </a:rPr>
              <a:t>between the number of SRS allocated to one UE and the</a:t>
            </a:r>
            <a:r>
              <a:rPr lang="en-US" altLang="zh-CN" sz="2000">
                <a:latin typeface="Georgia" panose="02040502050405020303" pitchFamily="18" charset="0"/>
                <a:cs typeface="Georgia" panose="02040502050405020303" pitchFamily="18" charset="0"/>
                <a:sym typeface="+mn-ea"/>
              </a:rPr>
              <a:t> </a:t>
            </a:r>
            <a:r>
              <a:rPr lang="zh-CN" altLang="en-US" sz="2000">
                <a:latin typeface="Georgia" panose="02040502050405020303" pitchFamily="18" charset="0"/>
                <a:cs typeface="Georgia" panose="02040502050405020303" pitchFamily="18" charset="0"/>
                <a:sym typeface="+mn-ea"/>
              </a:rPr>
              <a:t>real demand in one cycle</a:t>
            </a:r>
            <a:r>
              <a:rPr lang="en-US" altLang="zh-CN" sz="2000">
                <a:latin typeface="Georgia" panose="02040502050405020303" pitchFamily="18" charset="0"/>
                <a:cs typeface="Georgia" panose="02040502050405020303" pitchFamily="18" charset="0"/>
                <a:sym typeface="+mn-ea"/>
              </a:rPr>
              <a:t>.</a:t>
            </a:r>
            <a:endParaRPr lang="en-US" altLang="zh-CN" sz="2000">
              <a:latin typeface="Georgia" panose="02040502050405020303" pitchFamily="18" charset="0"/>
              <a:cs typeface="Georgia" panose="02040502050405020303" pitchFamily="18" charset="0"/>
              <a:sym typeface="+mn-ea"/>
            </a:endParaRPr>
          </a:p>
        </p:txBody>
      </p:sp>
      <p:pic>
        <p:nvPicPr>
          <p:cNvPr id="4" name="图片 3"/>
          <p:cNvPicPr>
            <a:picLocks noChangeAspect="1"/>
          </p:cNvPicPr>
          <p:nvPr/>
        </p:nvPicPr>
        <p:blipFill>
          <a:blip r:embed="rId2"/>
          <a:stretch>
            <a:fillRect/>
          </a:stretch>
        </p:blipFill>
        <p:spPr>
          <a:xfrm>
            <a:off x="4429760" y="901065"/>
            <a:ext cx="3600000" cy="3115673"/>
          </a:xfrm>
          <a:prstGeom prst="rect">
            <a:avLst/>
          </a:prstGeom>
        </p:spPr>
      </p:pic>
      <p:pic>
        <p:nvPicPr>
          <p:cNvPr id="5" name="图片 4"/>
          <p:cNvPicPr>
            <a:picLocks noChangeAspect="1"/>
          </p:cNvPicPr>
          <p:nvPr/>
        </p:nvPicPr>
        <p:blipFill>
          <a:blip r:embed="rId3"/>
          <a:stretch>
            <a:fillRect/>
          </a:stretch>
        </p:blipFill>
        <p:spPr>
          <a:xfrm>
            <a:off x="8313420" y="961390"/>
            <a:ext cx="3298825" cy="2788920"/>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dirty="0">
                <a:sym typeface="+mn-ea"/>
              </a:rPr>
              <a:t>Impacting Factors</a:t>
            </a:r>
            <a:endParaRPr lang="en-US" altLang="zh-CN"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
        <p:nvSpPr>
          <p:cNvPr id="11" name="文本框 10"/>
          <p:cNvSpPr txBox="1"/>
          <p:nvPr/>
        </p:nvSpPr>
        <p:spPr>
          <a:xfrm>
            <a:off x="1018540" y="3581400"/>
            <a:ext cx="2184400" cy="645160"/>
          </a:xfrm>
          <a:prstGeom prst="rect">
            <a:avLst/>
          </a:prstGeom>
          <a:noFill/>
        </p:spPr>
        <p:txBody>
          <a:bodyPr wrap="square" rtlCol="0">
            <a:spAutoFit/>
          </a:bodyPr>
          <a:p>
            <a:r>
              <a:rPr>
                <a:latin typeface="Georgia" panose="02040502050405020303" pitchFamily="18" charset="0"/>
                <a:cs typeface="Georgia" panose="02040502050405020303" pitchFamily="18" charset="0"/>
              </a:rPr>
              <a:t>Length of the scheduling cycle</a:t>
            </a:r>
            <a:endParaRPr>
              <a:latin typeface="Georgia" panose="02040502050405020303" pitchFamily="18" charset="0"/>
              <a:cs typeface="Georgia" panose="02040502050405020303" pitchFamily="18" charset="0"/>
            </a:endParaRPr>
          </a:p>
        </p:txBody>
      </p:sp>
      <p:sp>
        <p:nvSpPr>
          <p:cNvPr id="13" name="文本框 12"/>
          <p:cNvSpPr txBox="1"/>
          <p:nvPr/>
        </p:nvSpPr>
        <p:spPr>
          <a:xfrm>
            <a:off x="3699510" y="3656330"/>
            <a:ext cx="2283460" cy="64516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Length of prediction window</a:t>
            </a:r>
            <a:endParaRPr lang="en-US" altLang="zh-CN">
              <a:latin typeface="Georgia" panose="02040502050405020303" pitchFamily="18" charset="0"/>
              <a:cs typeface="Georgia" panose="02040502050405020303" pitchFamily="18" charset="0"/>
            </a:endParaRPr>
          </a:p>
        </p:txBody>
      </p:sp>
      <p:sp>
        <p:nvSpPr>
          <p:cNvPr id="14" name="文本框 13"/>
          <p:cNvSpPr txBox="1"/>
          <p:nvPr/>
        </p:nvSpPr>
        <p:spPr>
          <a:xfrm>
            <a:off x="6615430" y="3691255"/>
            <a:ext cx="2108200" cy="36830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UE velocity</a:t>
            </a:r>
            <a:endParaRPr lang="en-US" altLang="zh-CN">
              <a:latin typeface="Georgia" panose="02040502050405020303" pitchFamily="18" charset="0"/>
              <a:cs typeface="Georgia" panose="02040502050405020303" pitchFamily="18" charset="0"/>
            </a:endParaRPr>
          </a:p>
        </p:txBody>
      </p:sp>
      <p:sp>
        <p:nvSpPr>
          <p:cNvPr id="15" name="文本框 14"/>
          <p:cNvSpPr txBox="1"/>
          <p:nvPr/>
        </p:nvSpPr>
        <p:spPr>
          <a:xfrm>
            <a:off x="9255125" y="3691255"/>
            <a:ext cx="2075180" cy="368300"/>
          </a:xfrm>
          <a:prstGeom prst="rect">
            <a:avLst/>
          </a:prstGeom>
          <a:noFill/>
        </p:spPr>
        <p:txBody>
          <a:bodyPr wrap="square" rtlCol="0">
            <a:spAutoFit/>
          </a:bodyPr>
          <a:p>
            <a:pPr algn="l">
              <a:buClrTx/>
              <a:buSzTx/>
              <a:buFontTx/>
            </a:pPr>
            <a:r>
              <a:rPr lang="en-US" altLang="zh-CN">
                <a:latin typeface="Georgia" panose="02040502050405020303" pitchFamily="18" charset="0"/>
                <a:cs typeface="Georgia" panose="02040502050405020303" pitchFamily="18" charset="0"/>
              </a:rPr>
              <a:t>UE acceleration</a:t>
            </a:r>
            <a:endParaRPr lang="en-US" altLang="zh-CN">
              <a:latin typeface="Georgia" panose="02040502050405020303" pitchFamily="18" charset="0"/>
              <a:cs typeface="Georgia" panose="02040502050405020303" pitchFamily="18" charset="0"/>
            </a:endParaRPr>
          </a:p>
        </p:txBody>
      </p:sp>
      <p:grpSp>
        <p:nvGrpSpPr>
          <p:cNvPr id="46" name="组合 45"/>
          <p:cNvGrpSpPr/>
          <p:nvPr/>
        </p:nvGrpSpPr>
        <p:grpSpPr>
          <a:xfrm>
            <a:off x="458698" y="4996149"/>
            <a:ext cx="11363312" cy="978784"/>
            <a:chOff x="574039" y="4882266"/>
            <a:chExt cx="10835169" cy="978784"/>
          </a:xfrm>
        </p:grpSpPr>
        <p:sp>
          <p:nvSpPr>
            <p:cNvPr id="47" name="矩形: 圆角 46"/>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8" name="矩形 47"/>
            <p:cNvSpPr/>
            <p:nvPr/>
          </p:nvSpPr>
          <p:spPr>
            <a:xfrm>
              <a:off x="659821" y="5128407"/>
              <a:ext cx="10664014" cy="368935"/>
            </a:xfrm>
            <a:prstGeom prst="rect">
              <a:avLst/>
            </a:prstGeom>
            <a:ln>
              <a:noFill/>
            </a:ln>
          </p:spPr>
          <p:txBody>
            <a:bodyPr wrap="square" lIns="0" tIns="0" rIns="0" bIns="0">
              <a:spAutoFit/>
            </a:bodyPr>
            <a:p>
              <a:pPr algn="ctr"/>
              <a:r>
                <a:rPr kumimoji="1" lang="en-US" altLang="zh-CN" sz="2400" b="1" spc="-50" dirty="0">
                  <a:solidFill>
                    <a:srgbClr val="660874"/>
                  </a:solidFill>
                  <a:latin typeface="Georgia" panose="02040502050405020303" pitchFamily="18" charset="0"/>
                  <a:ea typeface="微软雅黑" panose="020B0503020204020204" pitchFamily="34" charset="-122"/>
                </a:rPr>
                <a:t>The predictive scheduling scheme works well in different conditions.</a:t>
              </a:r>
              <a:endParaRPr kumimoji="1" lang="en-US" altLang="zh-CN" sz="2400" b="1" spc="-50" dirty="0">
                <a:solidFill>
                  <a:srgbClr val="660874"/>
                </a:solidFill>
                <a:latin typeface="Georgia" panose="02040502050405020303" pitchFamily="18" charset="0"/>
                <a:ea typeface="微软雅黑" panose="020B0503020204020204" pitchFamily="34" charset="-122"/>
              </a:endParaRPr>
            </a:p>
          </p:txBody>
        </p:sp>
      </p:grpSp>
      <p:pic>
        <p:nvPicPr>
          <p:cNvPr id="3" name="图片 2"/>
          <p:cNvPicPr>
            <a:picLocks noChangeAspect="1"/>
          </p:cNvPicPr>
          <p:nvPr/>
        </p:nvPicPr>
        <p:blipFill>
          <a:blip r:embed="rId2"/>
          <a:stretch>
            <a:fillRect/>
          </a:stretch>
        </p:blipFill>
        <p:spPr>
          <a:xfrm>
            <a:off x="255270" y="827405"/>
            <a:ext cx="11362690" cy="2692400"/>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369124" y="0"/>
            <a:ext cx="12277930" cy="900979"/>
          </a:xfrm>
        </p:spPr>
        <p:txBody>
          <a:bodyPr>
            <a:normAutofit/>
          </a:bodyPr>
          <a:lstStyle/>
          <a:p>
            <a:r>
              <a:rPr lang="en-US" altLang="zh-CN" dirty="0">
                <a:sym typeface="+mn-ea"/>
              </a:rPr>
              <a:t>Conclusion</a:t>
            </a:r>
            <a:endParaRPr lang="en-US" altLang="zh-CN" dirty="0">
              <a:sym typeface="+mn-ea"/>
            </a:endParaRPr>
          </a:p>
        </p:txBody>
      </p:sp>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0" name="灯片编号占位符 1"/>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pitchFamily="2" charset="-122"/>
              <a:ea typeface="等线" panose="02010600030101010101" pitchFamily="2" charset="-122"/>
              <a:cs typeface="+mn-cs"/>
            </a:endParaRPr>
          </a:p>
        </p:txBody>
      </p:sp>
      <p:grpSp>
        <p:nvGrpSpPr>
          <p:cNvPr id="10" name="组合 9"/>
          <p:cNvGrpSpPr/>
          <p:nvPr/>
        </p:nvGrpSpPr>
        <p:grpSpPr>
          <a:xfrm>
            <a:off x="635" y="6627495"/>
            <a:ext cx="12186920" cy="228600"/>
            <a:chOff x="1" y="10437"/>
            <a:chExt cx="19192" cy="360"/>
          </a:xfrm>
        </p:grpSpPr>
        <p:sp>
          <p:nvSpPr>
            <p:cNvPr id="23" name="矩形 22"/>
            <p:cNvSpPr/>
            <p:nvPr/>
          </p:nvSpPr>
          <p:spPr>
            <a:xfrm>
              <a:off x="1"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p:cNvSpPr/>
            <p:nvPr/>
          </p:nvSpPr>
          <p:spPr>
            <a:xfrm>
              <a:off x="3833"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Problems</a:t>
              </a:r>
              <a:endParaRPr lang="en-US" altLang="zh-CN" sz="1600" b="1" dirty="0">
                <a:solidFill>
                  <a:schemeClr val="bg1"/>
                </a:solidFill>
                <a:latin typeface="Georgia" panose="02040502050405020303" pitchFamily="18" charset="0"/>
                <a:ea typeface="微软雅黑" panose="020B0503020204020204" pitchFamily="34" charset="-122"/>
              </a:endParaRPr>
            </a:p>
          </p:txBody>
        </p:sp>
        <p:sp>
          <p:nvSpPr>
            <p:cNvPr id="28" name="矩形 27"/>
            <p:cNvSpPr/>
            <p:nvPr/>
          </p:nvSpPr>
          <p:spPr>
            <a:xfrm>
              <a:off x="7665"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p:cNvSpPr/>
            <p:nvPr/>
          </p:nvSpPr>
          <p:spPr>
            <a:xfrm>
              <a:off x="11497" y="10437"/>
              <a:ext cx="3832" cy="36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p:cNvSpPr/>
            <p:nvPr/>
          </p:nvSpPr>
          <p:spPr>
            <a:xfrm>
              <a:off x="15329" y="10437"/>
              <a:ext cx="3864" cy="36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
        <p:nvSpPr>
          <p:cNvPr id="11" name="矩形 10"/>
          <p:cNvSpPr/>
          <p:nvPr/>
        </p:nvSpPr>
        <p:spPr>
          <a:xfrm>
            <a:off x="894897" y="1662492"/>
            <a:ext cx="10301112" cy="829945"/>
          </a:xfrm>
          <a:prstGeom prst="rect">
            <a:avLst/>
          </a:prstGeom>
          <a:ln>
            <a:noFill/>
          </a:ln>
        </p:spPr>
        <p:txBody>
          <a:bodyPr wrap="square">
            <a:spAutoFit/>
          </a:bodyPr>
          <a:p>
            <a:pPr marL="457200" indent="-457200">
              <a:buFont typeface="Arial" panose="020B0604020202020204" pitchFamily="34" charset="0"/>
              <a:buChar char="•"/>
            </a:pPr>
            <a:r>
              <a:rPr kumimoji="1" lang="en-US" altLang="zh-CN" sz="2400">
                <a:latin typeface="Georgia" panose="02040502050405020303" pitchFamily="18" charset="0"/>
                <a:ea typeface="微软雅黑" panose="020B0503020204020204" pitchFamily="34" charset="-122"/>
              </a:rPr>
              <a:t>ElaSe is the first sensing resource scheduler in 5G networks and schedules RS </a:t>
            </a:r>
            <a:r>
              <a:rPr kumimoji="1" lang="en-US" altLang="zh-CN" sz="2400" b="1" dirty="0">
                <a:solidFill>
                  <a:srgbClr val="660874"/>
                </a:solidFill>
                <a:latin typeface="Georgia" panose="02040502050405020303" pitchFamily="18" charset="0"/>
                <a:ea typeface="微软雅黑" panose="020B0503020204020204" pitchFamily="34" charset="-122"/>
              </a:rPr>
              <a:t>elastically and in time</a:t>
            </a:r>
            <a:r>
              <a:rPr kumimoji="1" lang="en-US" altLang="zh-CN" sz="2400">
                <a:latin typeface="Georgia" panose="02040502050405020303" pitchFamily="18" charset="0"/>
                <a:ea typeface="微软雅黑" panose="020B0503020204020204" pitchFamily="34" charset="-122"/>
              </a:rPr>
              <a:t>.</a:t>
            </a:r>
            <a:endParaRPr kumimoji="1" lang="en-US" altLang="zh-CN" sz="2400">
              <a:latin typeface="Georgia" panose="02040502050405020303" pitchFamily="18" charset="0"/>
              <a:ea typeface="微软雅黑" panose="020B0503020204020204" pitchFamily="34" charset="-122"/>
            </a:endParaRPr>
          </a:p>
        </p:txBody>
      </p:sp>
      <p:sp>
        <p:nvSpPr>
          <p:cNvPr id="12" name="矩形 11"/>
          <p:cNvSpPr/>
          <p:nvPr/>
        </p:nvSpPr>
        <p:spPr>
          <a:xfrm>
            <a:off x="895531" y="2706177"/>
            <a:ext cx="10301113" cy="1198880"/>
          </a:xfrm>
          <a:prstGeom prst="rect">
            <a:avLst/>
          </a:prstGeom>
          <a:ln>
            <a:noFill/>
          </a:ln>
        </p:spPr>
        <p:txBody>
          <a:bodyPr wrap="square">
            <a:spAutoFit/>
          </a:bodyPr>
          <a:p>
            <a:pPr marL="457200" indent="-457200">
              <a:buFont typeface="Arial" panose="020B0604020202020204" pitchFamily="34" charset="0"/>
              <a:buChar char="•"/>
            </a:pPr>
            <a:r>
              <a:rPr kumimoji="1" lang="en-US" altLang="zh-CN" sz="2400" dirty="0">
                <a:latin typeface="Georgia" panose="02040502050405020303" pitchFamily="18" charset="0"/>
                <a:ea typeface="微软雅黑" panose="020B0503020204020204" pitchFamily="34" charset="-122"/>
              </a:rPr>
              <a:t>Experiments under </a:t>
            </a:r>
            <a:r>
              <a:rPr kumimoji="1" lang="en-US" altLang="zh-CN" sz="2400" b="1" dirty="0">
                <a:solidFill>
                  <a:srgbClr val="660874"/>
                </a:solidFill>
                <a:latin typeface="Georgia" panose="02040502050405020303" pitchFamily="18" charset="0"/>
                <a:ea typeface="微软雅黑" panose="020B0503020204020204" pitchFamily="34" charset="-122"/>
              </a:rPr>
              <a:t>real-world scenarios</a:t>
            </a:r>
            <a:r>
              <a:rPr kumimoji="1" lang="en-US" altLang="zh-CN" sz="2400" dirty="0">
                <a:latin typeface="Georgia" panose="02040502050405020303" pitchFamily="18" charset="0"/>
                <a:ea typeface="微软雅黑" panose="020B0503020204020204" pitchFamily="34" charset="-122"/>
              </a:rPr>
              <a:t> show that ElaSe can schedule sensing resources appropriately,  achieving small trajectory tracking errors and resource allocation errors.</a:t>
            </a:r>
            <a:endParaRPr kumimoji="1" lang="en-US" altLang="zh-CN" sz="2400" dirty="0">
              <a:latin typeface="Georgia" panose="02040502050405020303" pitchFamily="18" charset="0"/>
              <a:ea typeface="微软雅黑" panose="020B0503020204020204" pitchFamily="34" charset="-122"/>
            </a:endParaRPr>
          </a:p>
        </p:txBody>
      </p:sp>
      <p:sp>
        <p:nvSpPr>
          <p:cNvPr id="13" name="矩形 12"/>
          <p:cNvSpPr/>
          <p:nvPr/>
        </p:nvSpPr>
        <p:spPr>
          <a:xfrm>
            <a:off x="945697" y="4163248"/>
            <a:ext cx="10301114" cy="1198880"/>
          </a:xfrm>
          <a:prstGeom prst="rect">
            <a:avLst/>
          </a:prstGeom>
          <a:ln>
            <a:noFill/>
          </a:ln>
        </p:spPr>
        <p:txBody>
          <a:bodyPr wrap="square">
            <a:spAutoFit/>
          </a:bodyPr>
          <a:p>
            <a:pPr marL="457200" indent="-457200">
              <a:buFont typeface="Arial" panose="020B0604020202020204" pitchFamily="34" charset="0"/>
              <a:buChar char="•"/>
            </a:pPr>
            <a:r>
              <a:rPr kumimoji="1" lang="en-US" altLang="zh-CN" sz="2400" b="1" dirty="0">
                <a:solidFill>
                  <a:srgbClr val="660874"/>
                </a:solidFill>
                <a:latin typeface="Georgia" panose="02040502050405020303" pitchFamily="18" charset="0"/>
                <a:ea typeface="微软雅黑" panose="020B0503020204020204" pitchFamily="34" charset="-122"/>
              </a:rPr>
              <a:t>ElaSe</a:t>
            </a:r>
            <a:r>
              <a:rPr kumimoji="1" lang="en-US" altLang="zh-CN" sz="2400">
                <a:latin typeface="Georgia" panose="02040502050405020303" pitchFamily="18" charset="0"/>
                <a:ea typeface="微软雅黑" panose="020B0503020204020204" pitchFamily="34" charset="-122"/>
              </a:rPr>
              <a:t> decouples the user state recognition and resource scheduling modules so other sensing tasks can use this </a:t>
            </a:r>
            <a:r>
              <a:rPr kumimoji="1" lang="en-US" altLang="zh-CN" sz="2400" b="1" dirty="0">
                <a:solidFill>
                  <a:srgbClr val="660874"/>
                </a:solidFill>
                <a:latin typeface="Georgia" panose="02040502050405020303" pitchFamily="18" charset="0"/>
                <a:ea typeface="微软雅黑" panose="020B0503020204020204" pitchFamily="34" charset="-122"/>
              </a:rPr>
              <a:t>loosely coupled framework</a:t>
            </a:r>
            <a:r>
              <a:rPr kumimoji="1" lang="en-US" altLang="zh-CN" sz="2400">
                <a:latin typeface="Georgia" panose="02040502050405020303" pitchFamily="18" charset="0"/>
                <a:ea typeface="微软雅黑" panose="020B0503020204020204" pitchFamily="34" charset="-122"/>
              </a:rPr>
              <a:t>.</a:t>
            </a:r>
            <a:endParaRPr kumimoji="1" lang="en-US" altLang="zh-CN" sz="2400">
              <a:latin typeface="Georgia" panose="02040502050405020303" pitchFamily="18" charset="0"/>
              <a:ea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1"/>
          <p:cNvSpPr txBox="1"/>
          <p:nvPr/>
        </p:nvSpPr>
        <p:spPr>
          <a:xfrm>
            <a:off x="11513584" y="6357887"/>
            <a:ext cx="678416" cy="2286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0E49DF86-A253-4663-A432-3B42799C675D}" type="slidenum">
              <a:rPr lang="zh-CN" altLang="en-US" smtClean="0">
                <a:solidFill>
                  <a:prstClr val="black">
                    <a:tint val="75000"/>
                  </a:prstClr>
                </a:solidFill>
                <a:latin typeface="等线" panose="02010600030101010101" pitchFamily="2" charset="-122"/>
                <a:ea typeface="等线" panose="02010600030101010101" pitchFamily="2" charset="-122"/>
              </a:rPr>
            </a:fld>
            <a:endParaRPr lang="zh-CN" altLang="en-US" dirty="0">
              <a:solidFill>
                <a:prstClr val="black">
                  <a:tint val="75000"/>
                </a:prstClr>
              </a:solidFill>
              <a:latin typeface="等线" panose="02010600030101010101" pitchFamily="2" charset="-122"/>
              <a:ea typeface="等线" panose="02010600030101010101" pitchFamily="2" charset="-122"/>
            </a:endParaRPr>
          </a:p>
        </p:txBody>
      </p:sp>
      <p:pic>
        <p:nvPicPr>
          <p:cNvPr id="27" name="Picture 6" descr="Tsinghua Universit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502140" y="129297"/>
            <a:ext cx="2522593" cy="877980"/>
          </a:xfrm>
          <a:prstGeom prst="rect">
            <a:avLst/>
          </a:prstGeom>
          <a:noFill/>
          <a:extLst>
            <a:ext uri="{909E8E84-426E-40DD-AFC4-6F175D3DCCD1}">
              <a14:hiddenFill xmlns:a14="http://schemas.microsoft.com/office/drawing/2010/main">
                <a:solidFill>
                  <a:srgbClr val="FFFFFF"/>
                </a:solidFill>
              </a14:hiddenFill>
            </a:ext>
          </a:extLst>
        </p:spPr>
      </p:pic>
      <p:sp>
        <p:nvSpPr>
          <p:cNvPr id="46" name="文本框 45"/>
          <p:cNvSpPr txBox="1"/>
          <p:nvPr/>
        </p:nvSpPr>
        <p:spPr>
          <a:xfrm>
            <a:off x="98606" y="129297"/>
            <a:ext cx="2324554" cy="583565"/>
          </a:xfrm>
          <a:prstGeom prst="rect">
            <a:avLst/>
          </a:prstGeom>
          <a:noFill/>
        </p:spPr>
        <p:txBody>
          <a:bodyPr wrap="square">
            <a:spAutoFit/>
          </a:bodyPr>
          <a:lstStyle/>
          <a:p>
            <a:pPr algn="ctr"/>
            <a:r>
              <a:rPr kumimoji="1" lang="en-US" altLang="zh-CN" sz="3200" b="1" dirty="0">
                <a:solidFill>
                  <a:srgbClr val="81308C"/>
                </a:solidFill>
                <a:effectLst>
                  <a:outerShdw blurRad="38100" dist="38100" dir="2700000" algn="tl">
                    <a:srgbClr val="000000">
                      <a:alpha val="43137"/>
                    </a:srgbClr>
                  </a:outerShdw>
                </a:effectLst>
                <a:latin typeface="Georgia" panose="02040502050405020303" pitchFamily="18" charset="0"/>
                <a:ea typeface="微软雅黑" panose="020B0503020204020204" pitchFamily="34" charset="-122"/>
              </a:rPr>
              <a:t>ELASE</a:t>
            </a:r>
            <a:endParaRPr lang="zh-CN" altLang="en-US" sz="3200" dirty="0">
              <a:effectLst>
                <a:outerShdw blurRad="38100" dist="38100" dir="2700000" algn="tl">
                  <a:srgbClr val="000000">
                    <a:alpha val="43137"/>
                  </a:srgbClr>
                </a:outerShdw>
              </a:effectLst>
            </a:endParaRPr>
          </a:p>
        </p:txBody>
      </p:sp>
      <p:sp>
        <p:nvSpPr>
          <p:cNvPr id="35" name="标题 1"/>
          <p:cNvSpPr txBox="1"/>
          <p:nvPr/>
        </p:nvSpPr>
        <p:spPr>
          <a:xfrm>
            <a:off x="3212834" y="2189939"/>
            <a:ext cx="5766331" cy="97093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tx1"/>
                </a:solidFill>
                <a:latin typeface="微软雅黑" panose="020B0503020204020204" pitchFamily="34" charset="-122"/>
                <a:ea typeface="微软雅黑" panose="020B0503020204020204" pitchFamily="34" charset="-122"/>
                <a:cs typeface="+mj-cs"/>
              </a:defRPr>
            </a:lvl1pPr>
          </a:lstStyle>
          <a:p>
            <a:pPr>
              <a:lnSpc>
                <a:spcPct val="150000"/>
              </a:lnSpc>
            </a:pPr>
            <a:r>
              <a:rPr lang="en-US" altLang="zh-CN" sz="6600" dirty="0">
                <a:solidFill>
                  <a:srgbClr val="660874"/>
                </a:solidFill>
                <a:effectLst>
                  <a:outerShdw blurRad="38100" dist="38100" dir="2700000" algn="tl">
                    <a:srgbClr val="000000">
                      <a:alpha val="43137"/>
                    </a:srgbClr>
                  </a:outerShdw>
                </a:effectLst>
                <a:latin typeface="Georgia" panose="02040502050405020303" pitchFamily="18" charset="0"/>
              </a:rPr>
              <a:t>Thank You!</a:t>
            </a:r>
            <a:endParaRPr lang="en-US" altLang="zh-CN" sz="6600" dirty="0">
              <a:solidFill>
                <a:srgbClr val="660874"/>
              </a:solidFill>
              <a:effectLst>
                <a:outerShdw blurRad="38100" dist="38100" dir="2700000" algn="tl">
                  <a:srgbClr val="000000">
                    <a:alpha val="43137"/>
                  </a:srgbClr>
                </a:outerShdw>
              </a:effectLst>
              <a:latin typeface="Georgia" panose="02040502050405020303" pitchFamily="18" charset="0"/>
            </a:endParaRPr>
          </a:p>
        </p:txBody>
      </p:sp>
    </p:spTree>
  </p:cSld>
  <p:clrMapOvr>
    <a:masterClrMapping/>
  </p:clrMapOvr>
</p:sld>
</file>

<file path=ppt/tags/tag1.xml><?xml version="1.0" encoding="utf-8"?>
<p:tagLst xmlns:p="http://schemas.openxmlformats.org/presentationml/2006/main">
  <p:tag name="commondata" val="eyJoZGlkIjoiOWY5ZTE5MWMxZDFmODlmZGM4NmExZjI4MGIyM2I5Zjk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4155</Words>
  <Application>WPS 演示</Application>
  <PresentationFormat>宽屏</PresentationFormat>
  <Paragraphs>357</Paragraphs>
  <Slides>16</Slides>
  <Notes>28</Notes>
  <HiddenSlides>2</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16</vt:i4>
      </vt:variant>
    </vt:vector>
  </HeadingPairs>
  <TitlesOfParts>
    <vt:vector size="30" baseType="lpstr">
      <vt:lpstr>Arial</vt:lpstr>
      <vt:lpstr>宋体</vt:lpstr>
      <vt:lpstr>Wingdings</vt:lpstr>
      <vt:lpstr>微软雅黑</vt:lpstr>
      <vt:lpstr>微软雅黑 Light</vt:lpstr>
      <vt:lpstr>Georgia</vt:lpstr>
      <vt:lpstr>等线</vt:lpstr>
      <vt:lpstr>Times New Roman</vt:lpstr>
      <vt:lpstr>Arial</vt:lpstr>
      <vt:lpstr>Cambria Math</vt:lpstr>
      <vt:lpstr>Century Schoolbook</vt:lpstr>
      <vt:lpstr>Arial Unicode MS</vt:lpstr>
      <vt:lpstr>Calibri</vt:lpstr>
      <vt:lpstr>1_Office 主题​​</vt:lpstr>
      <vt:lpstr>PowerPoint 演示文稿</vt:lpstr>
      <vt:lpstr>Paradigm: Integrated Sensing and Communication</vt:lpstr>
      <vt:lpstr>Scheduling sensing resource in multi-target scenarios</vt:lpstr>
      <vt:lpstr>Virtual Radio Access Networks </vt:lpstr>
      <vt:lpstr>Virtual Radio Access Networks </vt:lpstr>
      <vt:lpstr>Technical challenges </vt:lpstr>
      <vt:lpstr>ElaSe: Design overview</vt:lpstr>
      <vt:lpstr>UE state recognition</vt:lpstr>
      <vt:lpstr>SRS resource scheduling</vt:lpstr>
      <vt:lpstr>Elimination of scheduling delays</vt:lpstr>
      <vt:lpstr>Implementation</vt:lpstr>
      <vt:lpstr>Overall Performance</vt:lpstr>
      <vt:lpstr>Allocation Error</vt:lpstr>
      <vt:lpstr>Impacting Factors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shui</dc:creator>
  <cp:lastModifiedBy>暮秋阳光</cp:lastModifiedBy>
  <cp:revision>709</cp:revision>
  <dcterms:created xsi:type="dcterms:W3CDTF">2023-10-16T11:18:00Z</dcterms:created>
  <dcterms:modified xsi:type="dcterms:W3CDTF">2024-06-26T12:09:22Z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80B03D4B8DD44B4EB491A310653119B9_12</vt:lpwstr>
  </property>
  <property fmtid="{D5CDD505-2E9C-101B-9397-08002B2CF9AE}" pid="3" name="KSOProductBuildVer">
    <vt:lpwstr>2052-12.1.0.16929</vt:lpwstr>
  </property>
</Properties>
</file>