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media/image4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24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416" r:id="rId2"/>
    <p:sldId id="417" r:id="rId3"/>
    <p:sldId id="485" r:id="rId4"/>
    <p:sldId id="418" r:id="rId5"/>
    <p:sldId id="420" r:id="rId6"/>
    <p:sldId id="421" r:id="rId7"/>
    <p:sldId id="419" r:id="rId8"/>
    <p:sldId id="423" r:id="rId9"/>
    <p:sldId id="422" r:id="rId10"/>
    <p:sldId id="425" r:id="rId11"/>
    <p:sldId id="424" r:id="rId12"/>
    <p:sldId id="426" r:id="rId13"/>
    <p:sldId id="427" r:id="rId14"/>
    <p:sldId id="428" r:id="rId15"/>
    <p:sldId id="429" r:id="rId16"/>
    <p:sldId id="430" r:id="rId17"/>
    <p:sldId id="432" r:id="rId18"/>
    <p:sldId id="433" r:id="rId19"/>
    <p:sldId id="434" r:id="rId20"/>
    <p:sldId id="48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 shui" initials="ss" lastIdx="1" clrIdx="0">
    <p:extLst>
      <p:ext uri="{19B8F6BF-5375-455C-9EA6-DF929625EA0E}">
        <p15:presenceInfo xmlns:p15="http://schemas.microsoft.com/office/powerpoint/2012/main" userId="39ac06ce18cfea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980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9" autoAdjust="0"/>
    <p:restoredTop sz="79399" autoAdjust="0"/>
  </p:normalViewPr>
  <p:slideViewPr>
    <p:cSldViewPr snapToGrid="0">
      <p:cViewPr varScale="1">
        <p:scale>
          <a:sx n="124" d="100"/>
          <a:sy n="124" d="100"/>
        </p:scale>
        <p:origin x="1986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59A5E-11AE-4394-9768-4719E49B7534}" type="datetimeFigureOut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EA55-777F-4A4B-B70D-6DEC393D3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851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01214"/>
              </a:solidFill>
              <a:effectLst/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9BF3A-664C-479E-8502-925B1B70AC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0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478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42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220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518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018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200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本文提出的定位方法的核心原理在于当手持机移动时，</a:t>
            </a:r>
            <a:r>
              <a:rPr lang="en-US" altLang="zh-CN" dirty="0"/>
              <a:t>IMU</a:t>
            </a:r>
            <a:r>
              <a:rPr lang="zh-CN" altLang="en-US" dirty="0"/>
              <a:t>捕获到的手持机移动的速度和</a:t>
            </a:r>
            <a:r>
              <a:rPr lang="en-US" altLang="zh-CN" dirty="0"/>
              <a:t>RFID</a:t>
            </a:r>
            <a:r>
              <a:rPr lang="zh-CN" altLang="en-US" dirty="0"/>
              <a:t>相位变化的速度之间存在确定性转换关系，也就是</a:t>
            </a:r>
            <a:r>
              <a:rPr lang="en-US" altLang="zh-CN" dirty="0"/>
              <a:t>RFID</a:t>
            </a:r>
            <a:r>
              <a:rPr lang="zh-CN" altLang="en-US" dirty="0"/>
              <a:t>相位速度等于手持机运动速度在天线到标签方向上的投影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7045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根据以上原理，我们将这个规律推广到了三维空间中，通过枚举</a:t>
            </a:r>
            <a:r>
              <a:rPr lang="en-US" altLang="zh-CN" dirty="0"/>
              <a:t>IMU</a:t>
            </a:r>
            <a:r>
              <a:rPr lang="zh-CN" altLang="en-US" dirty="0"/>
              <a:t>速度在空间中所有的方向上的投影去解一个最优化的方程，就能够计算处标签所在的最佳的方位角。这个方位角由俯仰角和偏航角组成，如果我们已知其他的一些信息，比如用户到墙壁的距离，就能够直接计算出构件所在的三维坐标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429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428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1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97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048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080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50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521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864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832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D9084-2E1A-413C-AC8E-7A48E06962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870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9BF3A-664C-479E-8502-925B1B70AC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564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81113-C283-4C71-A7D1-B16FF35A0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A6B314-65F9-478E-AE3A-9BAE264C1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A05D5-FFC1-486E-B7F7-8DDBDE502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E50096-5CCC-4CBD-ABAA-334FDC074E0A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3FCA6-B5C0-4EC6-A971-86942CFF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95BC9-6A95-4058-A12A-9B91EA6C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8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C94B8-1E89-47F0-A1CF-8BDFC42F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5" y="0"/>
            <a:ext cx="10515600" cy="900979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B6270-3A37-470B-9B4D-9DB483397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25" y="1202170"/>
            <a:ext cx="11458698" cy="5085813"/>
          </a:xfrm>
        </p:spPr>
        <p:txBody>
          <a:bodyPr/>
          <a:lstStyle>
            <a:lvl1pPr>
              <a:defRPr>
                <a:latin typeface="Georgia" panose="02040502050405020303" pitchFamily="18" charset="0"/>
                <a:ea typeface="微软雅黑 Light" panose="020B0502040204020203" pitchFamily="34" charset="-122"/>
              </a:defRPr>
            </a:lvl1pPr>
            <a:lvl2pPr>
              <a:defRPr>
                <a:latin typeface="Georgia" panose="02040502050405020303" pitchFamily="18" charset="0"/>
                <a:ea typeface="微软雅黑 Light" panose="020B0502040204020203" pitchFamily="34" charset="-122"/>
              </a:defRPr>
            </a:lvl2pPr>
            <a:lvl3pPr>
              <a:defRPr>
                <a:latin typeface="Georgia" panose="02040502050405020303" pitchFamily="18" charset="0"/>
                <a:ea typeface="微软雅黑 Light" panose="020B0502040204020203" pitchFamily="34" charset="-122"/>
              </a:defRPr>
            </a:lvl3pPr>
            <a:lvl4pPr>
              <a:defRPr>
                <a:latin typeface="Georgia" panose="02040502050405020303" pitchFamily="18" charset="0"/>
                <a:ea typeface="微软雅黑 Light" panose="020B0502040204020203" pitchFamily="34" charset="-122"/>
              </a:defRPr>
            </a:lvl4pPr>
            <a:lvl5pPr>
              <a:defRPr>
                <a:latin typeface="Georgia" panose="02040502050405020303" pitchFamily="18" charset="0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8EE58-27C5-42F0-9A8E-8F5749C2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A16B2-8F78-490E-8A4B-BCB27328E075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1A1FB-30C8-4CEC-ABED-B90544A9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DD46B-C85A-462E-B685-598B9ED2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D4A35F-A330-4969-853E-2A5C3D3E810E}"/>
              </a:ext>
            </a:extLst>
          </p:cNvPr>
          <p:cNvCxnSpPr>
            <a:cxnSpLocks/>
          </p:cNvCxnSpPr>
          <p:nvPr userDrawn="1"/>
        </p:nvCxnSpPr>
        <p:spPr>
          <a:xfrm>
            <a:off x="0" y="711202"/>
            <a:ext cx="12192000" cy="0"/>
          </a:xfrm>
          <a:prstGeom prst="line">
            <a:avLst/>
          </a:prstGeom>
          <a:ln w="28575">
            <a:solidFill>
              <a:schemeClr val="tx1"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37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38E02-87EE-43BC-957F-212503DB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E00941-F3A4-453E-96D9-C576CD13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1DE0E6-744C-485B-97D0-7375F2B8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19DC8D-0301-40DF-BADD-82AA46305DBF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496B66-DC46-42C0-863D-C4DC88D5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E3A19-39A6-4F83-A205-54C0845B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82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8411C-BED4-4832-9D71-BD1AE5C6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1BE7C-1ADB-4888-A8CC-6C88CD0D6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248E63-5738-4ADD-AA4E-9A1104DCF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00FE0B-B0FE-4CE9-88B4-C5FA5B46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55F8E2-45EF-44C2-A138-44B21BFD316C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83EC80-8F22-4AD4-AE08-9E6EA2FF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B805F0-0441-4E10-AA52-BDDE588E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66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D1917-53E2-42C5-9DCB-5507068D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809F3-0DC4-4D60-AFB6-0F60C3E5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8A3F94-081B-4F74-A028-14ABF1F79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4312CC-9FE9-4794-8B52-B0BC2F9E0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F985BF-BD12-451B-9576-AE80D2DCF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9A3F4B-14EF-49D1-AB03-F84E7323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08BA83-D32A-4C9E-AEB5-FF0AF79D9977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E8E7FE-BCEB-45A0-8CB2-CF94BE91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A205685-F1A1-4459-86F8-76EEDB5E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79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E46DF-6926-454B-A689-ECD647B4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197884-21C7-4A52-904C-A75D7524B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450282-8DB2-4150-8309-266031F4CF82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CCD2E6-2CD8-4620-84C6-E4A9F876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33C0CA-2074-4D49-92E3-09093185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37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C5A6FC-5290-405F-94CA-9F4EF76C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4DA901-87CB-4E4E-8D1D-EB000998212F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CDCD1B-024C-439F-A88A-A579F0D1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E2E981-5BB2-4B90-945C-347F6CDC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47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F7F8D-3851-41E6-8318-6A36124F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20BC6-99E3-4CE4-8EAB-F1E39565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B3C950-6A5A-4DE3-8AAB-B2923D79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3253B3-4103-4B51-84C8-B186DA37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211849-7A83-4B3D-A599-8175913C7B3A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D0C934-CEDB-448E-B8F8-2DAF54C2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3CB90A-B458-4726-9E53-998EA47A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9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DD545-3D60-43C1-84C7-43CD43BC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6515A7-B28E-4D61-A492-49440D489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14678B-2706-459A-BD12-D3AD63DC2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FA24D-83EB-493D-9379-404164BE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2352C1-C5EC-43F9-9E37-33A2E93081D4}" type="datetime1">
              <a:rPr lang="zh-CN" altLang="en-US" smtClean="0"/>
              <a:t>2024/11/28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0E504-A1EB-4727-A2F4-13B98DFF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30C9A2-390E-418A-848E-0677ECA4E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12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D364C6-25F3-4A08-BF71-BEB04048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4" y="317624"/>
            <a:ext cx="115606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952CA-F1BD-41E3-B749-FF64ADC2B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444" y="1825625"/>
            <a:ext cx="11560629" cy="4658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A211A-D4FB-4341-B6C5-99AE01FAF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0873" y="6540376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9DF86-A253-4663-A432-3B42799C675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791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3.png"/><Relationship Id="rId3" Type="http://schemas.openxmlformats.org/officeDocument/2006/relationships/image" Target="../media/image3.jpg"/><Relationship Id="rId7" Type="http://schemas.openxmlformats.org/officeDocument/2006/relationships/image" Target="../media/image270.pn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5" Type="http://schemas.openxmlformats.org/officeDocument/2006/relationships/image" Target="../media/image25.png"/><Relationship Id="rId10" Type="http://schemas.openxmlformats.org/officeDocument/2006/relationships/image" Target="../media/image21.png"/><Relationship Id="rId4" Type="http://schemas.openxmlformats.org/officeDocument/2006/relationships/image" Target="../media/image17.jpeg"/><Relationship Id="rId9" Type="http://schemas.openxmlformats.org/officeDocument/2006/relationships/image" Target="../media/image20.png"/><Relationship Id="rId1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40.png"/><Relationship Id="rId3" Type="http://schemas.openxmlformats.org/officeDocument/2006/relationships/image" Target="../media/image3.jpg"/><Relationship Id="rId7" Type="http://schemas.openxmlformats.org/officeDocument/2006/relationships/image" Target="../media/image28.emf"/><Relationship Id="rId12" Type="http://schemas.openxmlformats.org/officeDocument/2006/relationships/image" Target="../media/image3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8.png"/><Relationship Id="rId5" Type="http://schemas.openxmlformats.org/officeDocument/2006/relationships/image" Target="../media/image26.png"/><Relationship Id="rId15" Type="http://schemas.openxmlformats.org/officeDocument/2006/relationships/image" Target="../media/image32.png"/><Relationship Id="rId10" Type="http://schemas.openxmlformats.org/officeDocument/2006/relationships/image" Target="../media/image370.png"/><Relationship Id="rId4" Type="http://schemas.openxmlformats.org/officeDocument/2006/relationships/image" Target="../media/image28.png"/><Relationship Id="rId9" Type="http://schemas.openxmlformats.org/officeDocument/2006/relationships/image" Target="../media/image360.png"/><Relationship Id="rId1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3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36.png"/><Relationship Id="rId5" Type="http://schemas.openxmlformats.org/officeDocument/2006/relationships/image" Target="../media/image37.png"/><Relationship Id="rId10" Type="http://schemas.openxmlformats.org/officeDocument/2006/relationships/image" Target="../media/image35.png"/><Relationship Id="rId4" Type="http://schemas.openxmlformats.org/officeDocument/2006/relationships/image" Target="../media/image3.jpg"/><Relationship Id="rId9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E4E4484-698E-46FB-B144-135FCF0F7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139" y="798351"/>
            <a:ext cx="11133722" cy="12142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8130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RFinder</a:t>
            </a:r>
            <a:r>
              <a:rPr lang="en-US" altLang="zh-CN" sz="3200" b="1" dirty="0">
                <a:latin typeface="Georgia" panose="02040502050405020303" pitchFamily="18" charset="0"/>
              </a:rPr>
              <a:t>: Pinpoint the Invisible RFID Tags in the Prefabricated Buildings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49D785-F3B4-F5EF-965F-79CE8697A33F}"/>
              </a:ext>
            </a:extLst>
          </p:cNvPr>
          <p:cNvSpPr/>
          <p:nvPr/>
        </p:nvSpPr>
        <p:spPr>
          <a:xfrm>
            <a:off x="1507729" y="2486534"/>
            <a:ext cx="9176537" cy="99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Jiacheng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Zhang, Meng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Jin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Yimiao Sun,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Weiguo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Wang, Jia Zhang, Xin Na</a:t>
            </a:r>
            <a:r>
              <a:rPr lang="en-US" altLang="zh-CN" sz="2400" dirty="0">
                <a:solidFill>
                  <a:prstClr val="black"/>
                </a:solidFill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Xiuzhen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Guo,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Yuan He</a:t>
            </a:r>
            <a:r>
              <a:rPr kumimoji="0" lang="en-US" altLang="zh-CN" sz="24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DFE45-4AD1-4952-8A33-0F02839E0238}"/>
              </a:ext>
            </a:extLst>
          </p:cNvPr>
          <p:cNvSpPr/>
          <p:nvPr/>
        </p:nvSpPr>
        <p:spPr>
          <a:xfrm>
            <a:off x="951685" y="3963046"/>
            <a:ext cx="102886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+mn-cs"/>
              </a:rPr>
              <a:t>School of Software and </a:t>
            </a:r>
            <a:r>
              <a:rPr kumimoji="0" lang="en-US" altLang="zh-CN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+mn-cs"/>
              </a:rPr>
              <a:t>BNRist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+mn-cs"/>
              </a:rPr>
              <a:t>, Tsinghua University</a:t>
            </a:r>
          </a:p>
        </p:txBody>
      </p:sp>
      <p:pic>
        <p:nvPicPr>
          <p:cNvPr id="1030" name="Picture 6" descr="Tsinghua University">
            <a:extLst>
              <a:ext uri="{FF2B5EF4-FFF2-40B4-BE49-F238E27FC236}">
                <a16:creationId xmlns:a16="http://schemas.microsoft.com/office/drawing/2014/main" id="{4733B2F5-4F0F-4AC0-BABC-6E1BF631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238" y="5254051"/>
            <a:ext cx="3171518" cy="110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778E4363-ADF8-4214-979C-65084FDD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4F874A-5101-4C8E-A851-EBEBDF5E94AA}"/>
              </a:ext>
            </a:extLst>
          </p:cNvPr>
          <p:cNvSpPr txBox="1"/>
          <p:nvPr/>
        </p:nvSpPr>
        <p:spPr>
          <a:xfrm>
            <a:off x="1677953" y="4428350"/>
            <a:ext cx="8836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http://tns.thss.tsinghua.edu.cn/sun/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Georgia" panose="02040502050405020303" pitchFamily="18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11B1E7-4F90-4938-923A-FFF2CE8FA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25" y="4216074"/>
            <a:ext cx="2172055" cy="217205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C28497A-CD9C-458E-9128-274B7D3DAA81}"/>
              </a:ext>
            </a:extLst>
          </p:cNvPr>
          <p:cNvSpPr txBox="1"/>
          <p:nvPr/>
        </p:nvSpPr>
        <p:spPr>
          <a:xfrm>
            <a:off x="591924" y="6154863"/>
            <a:ext cx="2172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Tsinghua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SUN Group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74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Building Quality Control Is Important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59E38D-F343-428E-8367-2E7CFE01E4A5}"/>
              </a:ext>
            </a:extLst>
          </p:cNvPr>
          <p:cNvSpPr/>
          <p:nvPr/>
        </p:nvSpPr>
        <p:spPr>
          <a:xfrm>
            <a:off x="247649" y="1435426"/>
            <a:ext cx="5674486" cy="3508380"/>
          </a:xfrm>
          <a:prstGeom prst="roundRect">
            <a:avLst>
              <a:gd name="adj" fmla="val 781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D33F5A5-9631-4446-AFDA-36D8CF89F609}"/>
              </a:ext>
            </a:extLst>
          </p:cNvPr>
          <p:cNvSpPr/>
          <p:nvPr/>
        </p:nvSpPr>
        <p:spPr>
          <a:xfrm>
            <a:off x="6269867" y="1435426"/>
            <a:ext cx="5674486" cy="3508380"/>
          </a:xfrm>
          <a:prstGeom prst="roundRect">
            <a:avLst>
              <a:gd name="adj" fmla="val 781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FD971B67-3737-4BA8-9563-1A9A226B3EFD}"/>
              </a:ext>
            </a:extLst>
          </p:cNvPr>
          <p:cNvSpPr/>
          <p:nvPr/>
        </p:nvSpPr>
        <p:spPr>
          <a:xfrm>
            <a:off x="247647" y="1430170"/>
            <a:ext cx="5671704" cy="43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2021 Miami, 98 deaths </a:t>
            </a:r>
          </a:p>
        </p:txBody>
      </p:sp>
      <p:sp>
        <p:nvSpPr>
          <p:cNvPr id="27" name="矩形: 圆顶角 26">
            <a:extLst>
              <a:ext uri="{FF2B5EF4-FFF2-40B4-BE49-F238E27FC236}">
                <a16:creationId xmlns:a16="http://schemas.microsoft.com/office/drawing/2014/main" id="{E5E2DD0F-863A-42DD-95C3-0741131D881C}"/>
              </a:ext>
            </a:extLst>
          </p:cNvPr>
          <p:cNvSpPr/>
          <p:nvPr/>
        </p:nvSpPr>
        <p:spPr>
          <a:xfrm>
            <a:off x="6272647" y="1430170"/>
            <a:ext cx="5671704" cy="43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-3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Thousands of deaths due to building collapse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6B4ED4-3C5F-4406-A7BA-EC7BACE9C164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5100006-14CD-4E3E-AB01-1BC7F4F4C714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DA00DE-FC23-4668-B409-8F2931F92175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98061D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Problem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: 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Poorly constructed buildings lead to life-threatening accidents,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such as the collapse of buildings and bridges.</a:t>
              </a:r>
            </a:p>
          </p:txBody>
        </p:sp>
      </p:grp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0A4082C2-1A8E-4969-A655-F5D0B78E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6C51FDC-EAF4-4C6C-9A53-91ED5822A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58" y="2035919"/>
            <a:ext cx="3714882" cy="278616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A44E152-6BE5-4040-8897-7DD413248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5427" y="2035919"/>
            <a:ext cx="3723366" cy="278616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82130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Building Quality Control Is Important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59E38D-F343-428E-8367-2E7CFE01E4A5}"/>
              </a:ext>
            </a:extLst>
          </p:cNvPr>
          <p:cNvSpPr/>
          <p:nvPr/>
        </p:nvSpPr>
        <p:spPr>
          <a:xfrm>
            <a:off x="247649" y="1435426"/>
            <a:ext cx="5674486" cy="3508380"/>
          </a:xfrm>
          <a:prstGeom prst="roundRect">
            <a:avLst>
              <a:gd name="adj" fmla="val 781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D33F5A5-9631-4446-AFDA-36D8CF89F609}"/>
              </a:ext>
            </a:extLst>
          </p:cNvPr>
          <p:cNvSpPr/>
          <p:nvPr/>
        </p:nvSpPr>
        <p:spPr>
          <a:xfrm>
            <a:off x="6269867" y="1435426"/>
            <a:ext cx="5674486" cy="3508380"/>
          </a:xfrm>
          <a:prstGeom prst="roundRect">
            <a:avLst>
              <a:gd name="adj" fmla="val 781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FD971B67-3737-4BA8-9563-1A9A226B3EFD}"/>
              </a:ext>
            </a:extLst>
          </p:cNvPr>
          <p:cNvSpPr/>
          <p:nvPr/>
        </p:nvSpPr>
        <p:spPr>
          <a:xfrm>
            <a:off x="247647" y="1430170"/>
            <a:ext cx="5671704" cy="43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2021 Miami, 98 deaths </a:t>
            </a:r>
          </a:p>
        </p:txBody>
      </p:sp>
      <p:sp>
        <p:nvSpPr>
          <p:cNvPr id="27" name="矩形: 圆顶角 26">
            <a:extLst>
              <a:ext uri="{FF2B5EF4-FFF2-40B4-BE49-F238E27FC236}">
                <a16:creationId xmlns:a16="http://schemas.microsoft.com/office/drawing/2014/main" id="{E5E2DD0F-863A-42DD-95C3-0741131D881C}"/>
              </a:ext>
            </a:extLst>
          </p:cNvPr>
          <p:cNvSpPr/>
          <p:nvPr/>
        </p:nvSpPr>
        <p:spPr>
          <a:xfrm>
            <a:off x="6272647" y="1430170"/>
            <a:ext cx="5671704" cy="432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-3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rPr>
              <a:t>Thousands of deaths due to building collapse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6B4ED4-3C5F-4406-A7BA-EC7BACE9C164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5100006-14CD-4E3E-AB01-1BC7F4F4C714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DA00DE-FC23-4668-B409-8F2931F92175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98061D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Problem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: 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Poorly constructed buildings lead to life-threatening accidents,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such as the collapse of buildings and bridges.</a:t>
              </a:r>
            </a:p>
          </p:txBody>
        </p:sp>
      </p:grp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0A4082C2-1A8E-4969-A655-F5D0B78E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6C51FDC-EAF4-4C6C-9A53-91ED5822A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58" y="2035919"/>
            <a:ext cx="3714882" cy="278616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A44E152-6BE5-4040-8897-7DD413248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427" y="2035919"/>
            <a:ext cx="3723366" cy="278616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E9B5276-13FB-4698-9852-C8F28428F211}"/>
              </a:ext>
            </a:extLst>
          </p:cNvPr>
          <p:cNvSpPr/>
          <p:nvPr/>
        </p:nvSpPr>
        <p:spPr>
          <a:xfrm>
            <a:off x="0" y="694761"/>
            <a:ext cx="12192000" cy="593381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9AB27F-7DAE-40E0-BBC1-56FC279BE5BE}"/>
              </a:ext>
            </a:extLst>
          </p:cNvPr>
          <p:cNvSpPr/>
          <p:nvPr/>
        </p:nvSpPr>
        <p:spPr>
          <a:xfrm>
            <a:off x="0" y="2775143"/>
            <a:ext cx="12192000" cy="1307713"/>
          </a:xfrm>
          <a:prstGeom prst="rect">
            <a:avLst/>
          </a:prstGeom>
          <a:solidFill>
            <a:srgbClr val="980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3400" b="1" spc="-60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Monitoring structural health of a building </a:t>
            </a:r>
          </a:p>
          <a:p>
            <a:pPr algn="ctr"/>
            <a:r>
              <a:rPr lang="en-US" altLang="zh-CN" sz="3400" b="1" spc="-60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 </a:t>
            </a:r>
            <a:r>
              <a:rPr lang="en-US" altLang="zh-CN" sz="3400" b="1" spc="-6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very important ! </a:t>
            </a:r>
            <a:endParaRPr lang="zh-CN" altLang="en-US" sz="3400" b="1" spc="-60" dirty="0">
              <a:solidFill>
                <a:schemeClr val="bg1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5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RFID-based Prefabricated Components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6B4ED4-3C5F-4406-A7BA-EC7BACE9C164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5100006-14CD-4E3E-AB01-1BC7F4F4C714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DA00DE-FC23-4668-B409-8F2931F92175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RFID tags can be embedded in prefabricated component (e.g., concrete) to monitor the structural health of the building.</a:t>
              </a:r>
            </a:p>
          </p:txBody>
        </p:sp>
      </p:grp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0A4082C2-1A8E-4969-A655-F5D0B78E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01FD682-D644-4EC9-9F1B-D3DA84190477}"/>
              </a:ext>
            </a:extLst>
          </p:cNvPr>
          <p:cNvSpPr/>
          <p:nvPr/>
        </p:nvSpPr>
        <p:spPr>
          <a:xfrm>
            <a:off x="819821" y="1096339"/>
            <a:ext cx="4608811" cy="3587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80C6E"/>
              </a:gs>
              <a:gs pos="100000">
                <a:srgbClr val="580C6E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RFID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tag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a prefabricated component</a:t>
            </a:r>
            <a:r>
              <a:rPr lang="zh-CN" altLang="en-US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ED5DC72-70EC-4145-A0D0-69BC8DBAE20B}"/>
              </a:ext>
            </a:extLst>
          </p:cNvPr>
          <p:cNvSpPr/>
          <p:nvPr/>
        </p:nvSpPr>
        <p:spPr>
          <a:xfrm>
            <a:off x="819821" y="3053147"/>
            <a:ext cx="4608811" cy="35875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80C6E"/>
              </a:gs>
              <a:gs pos="100000">
                <a:srgbClr val="580C6E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Prefabricated Components management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65CEED95-7E25-4AFB-8FAD-3409D9693C98}"/>
              </a:ext>
            </a:extLst>
          </p:cNvPr>
          <p:cNvCxnSpPr>
            <a:cxnSpLocks/>
          </p:cNvCxnSpPr>
          <p:nvPr/>
        </p:nvCxnSpPr>
        <p:spPr>
          <a:xfrm>
            <a:off x="4634577" y="1969053"/>
            <a:ext cx="12700" cy="2608805"/>
          </a:xfrm>
          <a:prstGeom prst="bentConnector3">
            <a:avLst>
              <a:gd name="adj1" fmla="val 8520000"/>
            </a:avLst>
          </a:prstGeom>
          <a:ln w="165100">
            <a:gradFill>
              <a:gsLst>
                <a:gs pos="0">
                  <a:srgbClr val="580C6E">
                    <a:alpha val="5000"/>
                  </a:srgbClr>
                </a:gs>
                <a:gs pos="100000">
                  <a:srgbClr val="580C6E"/>
                </a:gs>
              </a:gsLst>
              <a:lin ang="5400000" scaled="1"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3B80846A-494E-4D82-86BC-C0EF11F4A7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" t="592" r="1132" b="1012"/>
          <a:stretch/>
        </p:blipFill>
        <p:spPr>
          <a:xfrm>
            <a:off x="1988828" y="3607744"/>
            <a:ext cx="1469954" cy="1317187"/>
          </a:xfrm>
          <a:prstGeom prst="rect">
            <a:avLst/>
          </a:pr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01D5556C-8836-4DB0-868F-44856E73C3A9}"/>
              </a:ext>
            </a:extLst>
          </p:cNvPr>
          <p:cNvGrpSpPr/>
          <p:nvPr/>
        </p:nvGrpSpPr>
        <p:grpSpPr>
          <a:xfrm>
            <a:off x="1350194" y="1540203"/>
            <a:ext cx="2747222" cy="1429795"/>
            <a:chOff x="7189889" y="1634078"/>
            <a:chExt cx="3280386" cy="1734786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5F803034-796B-4628-81F2-00CE1004A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9889" y="1634078"/>
              <a:ext cx="3280386" cy="1734786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ADB7AF-3D5D-4D3B-B04C-1225D12E6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2702" y="2937441"/>
              <a:ext cx="1270663" cy="126434"/>
            </a:xfrm>
            <a:prstGeom prst="rect">
              <a:avLst/>
            </a:prstGeom>
          </p:spPr>
        </p:pic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73269C9-A710-48DE-B751-514AF62CE40D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3350194" y="2479162"/>
            <a:ext cx="388147" cy="13526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9BCDC26-BE8B-4A06-92F2-4F46468E59ED}"/>
              </a:ext>
            </a:extLst>
          </p:cNvPr>
          <p:cNvSpPr txBox="1"/>
          <p:nvPr/>
        </p:nvSpPr>
        <p:spPr>
          <a:xfrm>
            <a:off x="7024901" y="4038832"/>
            <a:ext cx="4995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Different types of commercial prefabricated components with buried RFID tag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6A4CF9E-8EB2-4EF8-AB88-CE2E43580C7F}"/>
              </a:ext>
            </a:extLst>
          </p:cNvPr>
          <p:cNvGrpSpPr/>
          <p:nvPr/>
        </p:nvGrpSpPr>
        <p:grpSpPr>
          <a:xfrm>
            <a:off x="7742406" y="1660309"/>
            <a:ext cx="3324542" cy="2142841"/>
            <a:chOff x="7742406" y="1660309"/>
            <a:chExt cx="3324542" cy="2142841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0A407437-335B-4474-AE89-F4DDF7762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02949" y="1732420"/>
              <a:ext cx="1533381" cy="415114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C76DE9E0-EF68-4855-AF64-24A349B4C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42406" y="2589228"/>
              <a:ext cx="1780232" cy="1213922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60DC4DDC-D561-48E0-A92A-9008194F8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07427" y="2782074"/>
              <a:ext cx="1459521" cy="767097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E1A3570F-78B5-481E-8856-DDC9BCC23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40528" y="1660309"/>
              <a:ext cx="1310204" cy="617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303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Prefabricated Component Localization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6B4ED4-3C5F-4406-A7BA-EC7BACE9C164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5100006-14CD-4E3E-AB01-1BC7F4F4C714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DA00DE-FC23-4668-B409-8F2931F92175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Localizing the RFID tag helps workers to find the location of the prefabricated component, and help them to 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trace the source of the component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.</a:t>
              </a:r>
              <a:endParaRPr kumimoji="1" lang="en-US" altLang="zh-CN" sz="2400" b="1" dirty="0">
                <a:solidFill>
                  <a:srgbClr val="98061D"/>
                </a:solidFill>
                <a:latin typeface="Georgia" panose="02040502050405020303" pitchFamily="18" charset="0"/>
                <a:ea typeface="Microsoft YaHei" charset="0"/>
              </a:endParaRPr>
            </a:p>
          </p:txBody>
        </p:sp>
      </p:grpSp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0A4082C2-1A8E-4969-A655-F5D0B78E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92D0A7F-8DB0-4C95-8B2A-015E7F191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500" y="1141773"/>
            <a:ext cx="6190112" cy="34708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006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Prefabricated Component Localization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20" name="灯片编号占位符 1">
            <a:extLst>
              <a:ext uri="{FF2B5EF4-FFF2-40B4-BE49-F238E27FC236}">
                <a16:creationId xmlns:a16="http://schemas.microsoft.com/office/drawing/2014/main" id="{0A4082C2-1A8E-4969-A655-F5D0B78E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92D0A7F-8DB0-4C95-8B2A-015E7F191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500" y="1141773"/>
            <a:ext cx="6190112" cy="3470867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B348E74-011F-4DA5-A5AB-7B65C03187F5}"/>
              </a:ext>
            </a:extLst>
          </p:cNvPr>
          <p:cNvSpPr/>
          <p:nvPr/>
        </p:nvSpPr>
        <p:spPr>
          <a:xfrm>
            <a:off x="0" y="694761"/>
            <a:ext cx="12192000" cy="593381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E312BB-3E57-4DD7-A702-F01B593E211C}"/>
              </a:ext>
            </a:extLst>
          </p:cNvPr>
          <p:cNvSpPr/>
          <p:nvPr/>
        </p:nvSpPr>
        <p:spPr>
          <a:xfrm>
            <a:off x="0" y="2775143"/>
            <a:ext cx="12192000" cy="1307713"/>
          </a:xfrm>
          <a:prstGeom prst="rect">
            <a:avLst/>
          </a:prstGeom>
          <a:solidFill>
            <a:srgbClr val="980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3400" b="1" spc="-60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How to localize a tag in densely stacked prefabricated components? </a:t>
            </a:r>
            <a:endParaRPr lang="zh-CN" altLang="en-US" sz="3400" b="1" spc="-60" dirty="0">
              <a:solidFill>
                <a:schemeClr val="bg1"/>
              </a:solidFill>
              <a:latin typeface="Georgia" panose="02040502050405020303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9116A31-A98C-4BC7-8114-386E40804883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D1D7F03-52D1-44D2-8F81-845109E08660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03EFE77-0A27-48C6-92A2-E87152620522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98061D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Problem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: 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Microsoft YaHei" charset="0"/>
                  <a:cs typeface="+mn-cs"/>
                </a:rPr>
                <a:t>When querying a tag embedded in a component, all the tags around respond their information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.</a:t>
              </a:r>
              <a:r>
                <a:rPr kumimoji="1" lang="zh-CN" altLang="en-US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It’s difficult to distinguish these response.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077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Existing approaches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8905E5-32A6-45D7-9989-7D35A5B37C73}"/>
              </a:ext>
            </a:extLst>
          </p:cNvPr>
          <p:cNvSpPr/>
          <p:nvPr/>
        </p:nvSpPr>
        <p:spPr>
          <a:xfrm>
            <a:off x="362817" y="1025749"/>
            <a:ext cx="3505114" cy="4287932"/>
          </a:xfrm>
          <a:prstGeom prst="roundRect">
            <a:avLst>
              <a:gd name="adj" fmla="val 636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52" name="矩形: 圆顶角 51">
            <a:extLst>
              <a:ext uri="{FF2B5EF4-FFF2-40B4-BE49-F238E27FC236}">
                <a16:creationId xmlns:a16="http://schemas.microsoft.com/office/drawing/2014/main" id="{449644AA-2A79-4A5A-83F4-B4DB46CF82C1}"/>
              </a:ext>
            </a:extLst>
          </p:cNvPr>
          <p:cNvSpPr/>
          <p:nvPr/>
        </p:nvSpPr>
        <p:spPr>
          <a:xfrm>
            <a:off x="362817" y="1025750"/>
            <a:ext cx="3505114" cy="45849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</a:rPr>
              <a:t>Antenna Array</a:t>
            </a:r>
            <a:endParaRPr lang="zh-CN" altLang="en-US" sz="2000" b="1" dirty="0">
              <a:solidFill>
                <a:schemeClr val="bg1"/>
              </a:solidFill>
              <a:latin typeface="Georgia" panose="020405020504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223A3EF-42BD-4FD6-8A35-BF1E357A70D5}"/>
              </a:ext>
            </a:extLst>
          </p:cNvPr>
          <p:cNvSpPr txBox="1"/>
          <p:nvPr/>
        </p:nvSpPr>
        <p:spPr>
          <a:xfrm>
            <a:off x="134172" y="5637708"/>
            <a:ext cx="396240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 algn="ctr">
              <a:defRPr sz="1600" b="1" spc="-100">
                <a:solidFill>
                  <a:srgbClr val="98061D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Unavailable on portable devices and </a:t>
            </a:r>
          </a:p>
          <a:p>
            <a:r>
              <a:rPr lang="en-US" altLang="zh-CN" u="sng" dirty="0"/>
              <a:t>not easy convenient for workers to use </a:t>
            </a:r>
            <a:endParaRPr lang="zh-CN" altLang="en-US" u="sng" dirty="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8FC09CE-F235-478E-8B40-971D3E222D0E}"/>
              </a:ext>
            </a:extLst>
          </p:cNvPr>
          <p:cNvSpPr/>
          <p:nvPr/>
        </p:nvSpPr>
        <p:spPr>
          <a:xfrm>
            <a:off x="4343444" y="1025749"/>
            <a:ext cx="3505114" cy="4287932"/>
          </a:xfrm>
          <a:prstGeom prst="roundRect">
            <a:avLst>
              <a:gd name="adj" fmla="val 636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59" name="矩形: 圆顶角 58">
            <a:extLst>
              <a:ext uri="{FF2B5EF4-FFF2-40B4-BE49-F238E27FC236}">
                <a16:creationId xmlns:a16="http://schemas.microsoft.com/office/drawing/2014/main" id="{CD9A07BE-67F5-4B9E-A4D4-FD901F67A16C}"/>
              </a:ext>
            </a:extLst>
          </p:cNvPr>
          <p:cNvSpPr/>
          <p:nvPr/>
        </p:nvSpPr>
        <p:spPr>
          <a:xfrm>
            <a:off x="4343444" y="1025750"/>
            <a:ext cx="3505114" cy="45849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</a:rPr>
              <a:t>Mobile Robots</a:t>
            </a:r>
            <a:endParaRPr lang="zh-CN" altLang="en-US" sz="2000" b="1" dirty="0">
              <a:solidFill>
                <a:schemeClr val="bg1"/>
              </a:solidFill>
              <a:latin typeface="Georgia" panose="02040502050405020303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CC624F5-7A42-419E-B049-627549AB2063}"/>
              </a:ext>
            </a:extLst>
          </p:cNvPr>
          <p:cNvSpPr/>
          <p:nvPr/>
        </p:nvSpPr>
        <p:spPr>
          <a:xfrm>
            <a:off x="8324069" y="1025749"/>
            <a:ext cx="3505114" cy="4287932"/>
          </a:xfrm>
          <a:prstGeom prst="roundRect">
            <a:avLst>
              <a:gd name="adj" fmla="val 636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eorgia" panose="02040502050405020303" pitchFamily="18" charset="0"/>
            </a:endParaRPr>
          </a:p>
        </p:txBody>
      </p:sp>
      <p:sp>
        <p:nvSpPr>
          <p:cNvPr id="63" name="矩形: 圆顶角 62">
            <a:extLst>
              <a:ext uri="{FF2B5EF4-FFF2-40B4-BE49-F238E27FC236}">
                <a16:creationId xmlns:a16="http://schemas.microsoft.com/office/drawing/2014/main" id="{D18CA657-A717-4888-982C-98FBE3329488}"/>
              </a:ext>
            </a:extLst>
          </p:cNvPr>
          <p:cNvSpPr/>
          <p:nvPr/>
        </p:nvSpPr>
        <p:spPr>
          <a:xfrm>
            <a:off x="8324069" y="1025750"/>
            <a:ext cx="3505114" cy="45849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08000"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Georgia" panose="02040502050405020303" pitchFamily="18" charset="0"/>
                <a:ea typeface="微软雅黑" panose="020B0503020204020204" pitchFamily="34" charset="-122"/>
              </a:rPr>
              <a:t>Vision + RFID</a:t>
            </a:r>
            <a:endParaRPr lang="zh-CN" altLang="en-US" sz="2000" b="1" dirty="0">
              <a:solidFill>
                <a:schemeClr val="bg1"/>
              </a:solidFill>
              <a:latin typeface="Georgia" panose="020405020504050203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3FB5CB-ED3C-42F9-8B17-524342E5B8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918" y="1963538"/>
            <a:ext cx="3076162" cy="26116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DC6994-071F-4650-9037-DDBB7B9D53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75" y="2076872"/>
            <a:ext cx="3184394" cy="238494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9400EF-6C3E-419E-A6BC-10A7ED70FE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772" y="2219041"/>
            <a:ext cx="3311704" cy="1901347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422B8557-0736-4B3C-AFFC-D1E3AAD82573}"/>
              </a:ext>
            </a:extLst>
          </p:cNvPr>
          <p:cNvSpPr txBox="1"/>
          <p:nvPr/>
        </p:nvSpPr>
        <p:spPr>
          <a:xfrm>
            <a:off x="4114799" y="5637708"/>
            <a:ext cx="396240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altLang="zh-CN" sz="1600" b="1" spc="-100" dirty="0"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Moving on well-defined trajectories and </a:t>
            </a:r>
            <a:r>
              <a:rPr lang="en-US" altLang="zh-CN" sz="1600" b="1" u="sng" spc="-100" dirty="0">
                <a:solidFill>
                  <a:srgbClr val="98061D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not suitable for handheld human mobility</a:t>
            </a:r>
            <a:endParaRPr lang="zh-CN" altLang="en-US" sz="1600" u="sng" spc="-100" dirty="0">
              <a:solidFill>
                <a:srgbClr val="98061D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24A9F5F-5BEC-4968-8F62-D8F405A7F307}"/>
              </a:ext>
            </a:extLst>
          </p:cNvPr>
          <p:cNvSpPr txBox="1"/>
          <p:nvPr/>
        </p:nvSpPr>
        <p:spPr>
          <a:xfrm>
            <a:off x="7897304" y="5641190"/>
            <a:ext cx="4358640" cy="58477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>
            <a:defPPr>
              <a:defRPr lang="zh-CN"/>
            </a:defPPr>
            <a:lvl1pPr algn="ctr">
              <a:defRPr sz="1600" b="1" spc="-100">
                <a:solidFill>
                  <a:srgbClr val="98061D"/>
                </a:solidFill>
                <a:latin typeface="Georgia" panose="02040502050405020303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Not suitable for construction sites where </a:t>
            </a:r>
            <a:r>
              <a:rPr lang="en-US" altLang="zh-CN" u="sng" dirty="0"/>
              <a:t>illumination and user motion may change</a:t>
            </a:r>
            <a:endParaRPr lang="zh-CN" altLang="en-US" u="sng" dirty="0"/>
          </a:p>
        </p:txBody>
      </p:sp>
      <p:sp>
        <p:nvSpPr>
          <p:cNvPr id="67" name="灯片编号占位符 1">
            <a:extLst>
              <a:ext uri="{FF2B5EF4-FFF2-40B4-BE49-F238E27FC236}">
                <a16:creationId xmlns:a16="http://schemas.microsoft.com/office/drawing/2014/main" id="{2296C26E-13A7-4E09-81C8-FD211275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Our Approach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599758-24F4-480C-87DC-AF71D74D6F04}"/>
              </a:ext>
            </a:extLst>
          </p:cNvPr>
          <p:cNvGrpSpPr/>
          <p:nvPr/>
        </p:nvGrpSpPr>
        <p:grpSpPr>
          <a:xfrm>
            <a:off x="0" y="691040"/>
            <a:ext cx="4877634" cy="3756392"/>
            <a:chOff x="378705" y="2768113"/>
            <a:chExt cx="4405447" cy="3260887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5A3B4DF-5B5C-4335-BC15-02FED183A372}"/>
                </a:ext>
              </a:extLst>
            </p:cNvPr>
            <p:cNvGrpSpPr/>
            <p:nvPr/>
          </p:nvGrpSpPr>
          <p:grpSpPr>
            <a:xfrm>
              <a:off x="1213305" y="2768113"/>
              <a:ext cx="3570847" cy="3243800"/>
              <a:chOff x="225180" y="953041"/>
              <a:chExt cx="5049642" cy="4774809"/>
            </a:xfrm>
          </p:grpSpPr>
          <p:pic>
            <p:nvPicPr>
              <p:cNvPr id="28" name="Picture 2" descr="Rain Screens (Cavity) Walls-1 | Plasti-Fab">
                <a:extLst>
                  <a:ext uri="{FF2B5EF4-FFF2-40B4-BE49-F238E27FC236}">
                    <a16:creationId xmlns:a16="http://schemas.microsoft.com/office/drawing/2014/main" id="{7079ACE8-2076-4BE1-9811-67D987D5AF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0F5EF"/>
                  </a:clrFrom>
                  <a:clrTo>
                    <a:srgbClr val="F0F5E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0472" y="953041"/>
                <a:ext cx="4184350" cy="47283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38A1DBD7-19E6-4F0F-BE5F-B363D3CF5B65}"/>
                  </a:ext>
                </a:extLst>
              </p:cNvPr>
              <p:cNvSpPr/>
              <p:nvPr/>
            </p:nvSpPr>
            <p:spPr>
              <a:xfrm>
                <a:off x="1090221" y="1507225"/>
                <a:ext cx="4040865" cy="3877609"/>
              </a:xfrm>
              <a:prstGeom prst="roundRect">
                <a:avLst>
                  <a:gd name="adj" fmla="val 9216"/>
                </a:avLst>
              </a:prstGeom>
              <a:solidFill>
                <a:schemeClr val="bg1">
                  <a:alpha val="6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0" name="Picture 10" descr="Rfid Icons &amp; Symbols">
                <a:extLst>
                  <a:ext uri="{FF2B5EF4-FFF2-40B4-BE49-F238E27FC236}">
                    <a16:creationId xmlns:a16="http://schemas.microsoft.com/office/drawing/2014/main" id="{FA10CE91-B5F3-42D3-B9FE-3E2D1DB9EC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07589" y="1992582"/>
                <a:ext cx="613410" cy="613410"/>
              </a:xfrm>
              <a:prstGeom prst="rect">
                <a:avLst/>
              </a:prstGeom>
              <a:noFill/>
              <a:scene3d>
                <a:camera prst="orthographicFront">
                  <a:rot lat="1800000" lon="18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84E6747-5E06-466B-B118-EE918152F4F4}"/>
                  </a:ext>
                </a:extLst>
              </p:cNvPr>
              <p:cNvSpPr/>
              <p:nvPr/>
            </p:nvSpPr>
            <p:spPr>
              <a:xfrm rot="456954">
                <a:off x="3360052" y="1409489"/>
                <a:ext cx="735927" cy="4017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68B83DB-50A0-4F2E-A4D1-40EB1542F937}"/>
                  </a:ext>
                </a:extLst>
              </p:cNvPr>
              <p:cNvSpPr/>
              <p:nvPr/>
            </p:nvSpPr>
            <p:spPr>
              <a:xfrm rot="1772468">
                <a:off x="1643058" y="4277936"/>
                <a:ext cx="929640" cy="6069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BA8444CF-D04E-4175-AE26-A617C2DADDEC}"/>
                  </a:ext>
                </a:extLst>
              </p:cNvPr>
              <p:cNvSpPr/>
              <p:nvPr/>
            </p:nvSpPr>
            <p:spPr>
              <a:xfrm rot="1772468">
                <a:off x="2685825" y="4853489"/>
                <a:ext cx="929640" cy="6069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4" name="Picture 10" descr="Rfid Icons &amp; Symbols">
                <a:extLst>
                  <a:ext uri="{FF2B5EF4-FFF2-40B4-BE49-F238E27FC236}">
                    <a16:creationId xmlns:a16="http://schemas.microsoft.com/office/drawing/2014/main" id="{7C5FDD68-BE93-492F-A7B8-C37D2C2ED1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8438" y="2607521"/>
                <a:ext cx="613410" cy="613410"/>
              </a:xfrm>
              <a:prstGeom prst="rect">
                <a:avLst/>
              </a:prstGeom>
              <a:noFill/>
              <a:scene3d>
                <a:camera prst="orthographicFront">
                  <a:rot lat="1800000" lon="18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10" descr="Rfid Icons &amp; Symbols">
                <a:extLst>
                  <a:ext uri="{FF2B5EF4-FFF2-40B4-BE49-F238E27FC236}">
                    <a16:creationId xmlns:a16="http://schemas.microsoft.com/office/drawing/2014/main" id="{815EE830-A7D4-47E0-BEC6-B61D2A39BE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3595" y="2247692"/>
                <a:ext cx="613410" cy="613410"/>
              </a:xfrm>
              <a:prstGeom prst="rect">
                <a:avLst/>
              </a:prstGeom>
              <a:noFill/>
              <a:scene3d>
                <a:camera prst="orthographicFront">
                  <a:rot lat="1800000" lon="18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DDAF7CB-44E7-45C8-A536-E6CB3A0417A7}"/>
                  </a:ext>
                </a:extLst>
              </p:cNvPr>
              <p:cNvSpPr txBox="1"/>
              <p:nvPr/>
            </p:nvSpPr>
            <p:spPr>
              <a:xfrm>
                <a:off x="1958189" y="1916639"/>
                <a:ext cx="1079885" cy="393281"/>
              </a:xfrm>
              <a:prstGeom prst="rect">
                <a:avLst/>
              </a:prstGeom>
              <a:noFill/>
              <a:scene3d>
                <a:camera prst="orthographicFront">
                  <a:rot lat="1500000" lon="12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zh-CN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RFID Tag</a:t>
                </a:r>
                <a:endParaRPr lang="zh-CN" alt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8EC71B08-4AB4-4075-84A8-A265E6820087}"/>
                  </a:ext>
                </a:extLst>
              </p:cNvPr>
              <p:cNvSpPr/>
              <p:nvPr/>
            </p:nvSpPr>
            <p:spPr>
              <a:xfrm>
                <a:off x="1134146" y="4223251"/>
                <a:ext cx="567242" cy="1181272"/>
              </a:xfrm>
              <a:prstGeom prst="roundRect">
                <a:avLst>
                  <a:gd name="adj" fmla="val 115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01EC7190-8B23-44F3-B13C-86AF25D47E7F}"/>
                  </a:ext>
                </a:extLst>
              </p:cNvPr>
              <p:cNvCxnSpPr/>
              <p:nvPr/>
            </p:nvCxnSpPr>
            <p:spPr>
              <a:xfrm flipH="1">
                <a:off x="1722087" y="2799103"/>
                <a:ext cx="1614384" cy="1230745"/>
              </a:xfrm>
              <a:prstGeom prst="straightConnector1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FFC0D49F-1B39-4CF6-91BB-E20EE131930B}"/>
                  </a:ext>
                </a:extLst>
              </p:cNvPr>
              <p:cNvCxnSpPr/>
              <p:nvPr/>
            </p:nvCxnSpPr>
            <p:spPr>
              <a:xfrm flipH="1">
                <a:off x="464483" y="2799102"/>
                <a:ext cx="1614384" cy="1230745"/>
              </a:xfrm>
              <a:prstGeom prst="straightConnector1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DA27DEC0-A7F2-4E56-ACC4-85D4EC5F8E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992" y="4029847"/>
                <a:ext cx="1300973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5775367E-7DD8-45D9-B21F-C49AF4DEF02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500" y="4023544"/>
                    <a:ext cx="546222" cy="40773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𝒂𝒕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661F7A85-E15F-46BB-98F9-B92BD81348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500" y="4023544"/>
                    <a:ext cx="546222" cy="4077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429" b="-1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144A5F80-1C2D-4C46-9B6D-887F3BACFEF5}"/>
                      </a:ext>
                    </a:extLst>
                  </p:cNvPr>
                  <p:cNvSpPr txBox="1"/>
                  <p:nvPr/>
                </p:nvSpPr>
                <p:spPr>
                  <a:xfrm rot="19452892">
                    <a:off x="225180" y="3171015"/>
                    <a:ext cx="707168" cy="446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5A3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5A37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5A37"/>
                                  </a:solidFill>
                                  <a:latin typeface="Cambria Math" panose="02040503050406030204" pitchFamily="18" charset="0"/>
                                </a:rPr>
                                <m:t>𝒕𝒂𝒈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 dirty="0">
                      <a:solidFill>
                        <a:srgbClr val="FF5A37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88B4C2D6-B32F-4AB8-AFB6-EA0899B336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9452892">
                    <a:off x="225180" y="3171015"/>
                    <a:ext cx="707168" cy="44643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BA6D1F2-7881-481D-BFD8-36BEF65E79C0}"/>
                  </a:ext>
                </a:extLst>
              </p:cNvPr>
              <p:cNvSpPr/>
              <p:nvPr/>
            </p:nvSpPr>
            <p:spPr>
              <a:xfrm rot="21103467">
                <a:off x="1616653" y="4665743"/>
                <a:ext cx="206624" cy="10221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" name="Picture 4" descr="Premium Vector | Continuous line drawing of person holding smartphone">
                <a:extLst>
                  <a:ext uri="{FF2B5EF4-FFF2-40B4-BE49-F238E27FC236}">
                    <a16:creationId xmlns:a16="http://schemas.microsoft.com/office/drawing/2014/main" id="{921FFB97-767A-44C0-B162-9C10AB38FF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67" t="14641" r="15490" b="20270"/>
              <a:stretch/>
            </p:blipFill>
            <p:spPr bwMode="auto">
              <a:xfrm>
                <a:off x="232835" y="4158877"/>
                <a:ext cx="1635344" cy="15689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2235417-9588-4F51-A4AC-A5F6AF345B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48797" y="3452415"/>
                <a:ext cx="471168" cy="568955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6AC40107-EEA3-481C-AD09-1AEB44D79F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5826" y="3373144"/>
                <a:ext cx="799624" cy="593066"/>
              </a:xfrm>
              <a:prstGeom prst="straightConnector1">
                <a:avLst/>
              </a:prstGeom>
              <a:ln w="22225">
                <a:solidFill>
                  <a:srgbClr val="FF5A37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A883863-7826-4E1E-B8C9-7C57308D8387}"/>
                  </a:ext>
                </a:extLst>
              </p:cNvPr>
              <p:cNvSpPr txBox="1"/>
              <p:nvPr/>
            </p:nvSpPr>
            <p:spPr>
              <a:xfrm rot="19365050">
                <a:off x="1404311" y="3317920"/>
                <a:ext cx="2600121" cy="487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Signal propagation direction</a:t>
                </a:r>
                <a:endParaRPr lang="zh-CN" altLang="en-US" sz="12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80057A88-617F-42C2-84F8-3FAE2DE792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87801" y="5071513"/>
                <a:ext cx="1300973" cy="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stealth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1D182E2-8EFC-4179-8E74-44591B093580}"/>
                  </a:ext>
                </a:extLst>
              </p:cNvPr>
              <p:cNvSpPr txBox="1"/>
              <p:nvPr/>
            </p:nvSpPr>
            <p:spPr>
              <a:xfrm>
                <a:off x="1581139" y="5105316"/>
                <a:ext cx="2258373" cy="5899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lvl1pPr>
              </a:lstStyle>
              <a:p>
                <a:r>
                  <a:rPr lang="en-US" altLang="zh-CN" sz="1200" b="1" dirty="0"/>
                  <a:t>Device moving direction</a:t>
                </a:r>
                <a:endParaRPr lang="zh-CN" altLang="en-US" sz="1200" b="1" dirty="0"/>
              </a:p>
            </p:txBody>
          </p:sp>
          <p:pic>
            <p:nvPicPr>
              <p:cNvPr id="53" name="Picture 10" descr="Rfid Icons &amp; Symbols">
                <a:extLst>
                  <a:ext uri="{FF2B5EF4-FFF2-40B4-BE49-F238E27FC236}">
                    <a16:creationId xmlns:a16="http://schemas.microsoft.com/office/drawing/2014/main" id="{37FA9414-95C2-4473-961A-9A688AEDB8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3129" y="3087529"/>
                <a:ext cx="613410" cy="613410"/>
              </a:xfrm>
              <a:prstGeom prst="rect">
                <a:avLst/>
              </a:prstGeom>
              <a:noFill/>
              <a:scene3d>
                <a:camera prst="orthographicFront">
                  <a:rot lat="1800000" lon="18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2D7B102-95F1-4FFC-B0E4-782383103946}"/>
                </a:ext>
              </a:extLst>
            </p:cNvPr>
            <p:cNvGrpSpPr/>
            <p:nvPr/>
          </p:nvGrpSpPr>
          <p:grpSpPr>
            <a:xfrm>
              <a:off x="378705" y="4963107"/>
              <a:ext cx="1156371" cy="1065893"/>
              <a:chOff x="3617632" y="4597400"/>
              <a:chExt cx="1151640" cy="1104900"/>
            </a:xfrm>
          </p:grpSpPr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E3D65FC8-FBC9-48DA-AEF1-AA2BFF4C1A6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31152"/>
              <a:stretch/>
            </p:blipFill>
            <p:spPr>
              <a:xfrm>
                <a:off x="4268062" y="4679155"/>
                <a:ext cx="366713" cy="745863"/>
              </a:xfrm>
              <a:prstGeom prst="roundRect">
                <a:avLst>
                  <a:gd name="adj" fmla="val 2459"/>
                </a:avLst>
              </a:prstGeom>
            </p:spPr>
          </p:pic>
          <p:pic>
            <p:nvPicPr>
              <p:cNvPr id="27" name="Picture 4" descr="Premium Vector | Continuous line drawing of person holding smartphone">
                <a:extLst>
                  <a:ext uri="{FF2B5EF4-FFF2-40B4-BE49-F238E27FC236}">
                    <a16:creationId xmlns:a16="http://schemas.microsoft.com/office/drawing/2014/main" id="{B754E3D6-CB0E-4CF9-BF13-5091F440FB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67" t="14641" r="15490" b="20270"/>
              <a:stretch/>
            </p:blipFill>
            <p:spPr bwMode="auto">
              <a:xfrm>
                <a:off x="3617632" y="4597400"/>
                <a:ext cx="1151640" cy="11049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638229B4-FFDE-43C9-9856-651AAE4248C2}"/>
                </a:ext>
              </a:extLst>
            </p:cNvPr>
            <p:cNvSpPr/>
            <p:nvPr/>
          </p:nvSpPr>
          <p:spPr>
            <a:xfrm>
              <a:off x="1578869" y="4708739"/>
              <a:ext cx="40814" cy="140129"/>
            </a:xfrm>
            <a:custGeom>
              <a:avLst/>
              <a:gdLst>
                <a:gd name="connsiteX0" fmla="*/ 0 w 83694"/>
                <a:gd name="connsiteY0" fmla="*/ 0 h 144379"/>
                <a:gd name="connsiteX1" fmla="*/ 82502 w 83694"/>
                <a:gd name="connsiteY1" fmla="*/ 55001 h 144379"/>
                <a:gd name="connsiteX2" fmla="*/ 41251 w 83694"/>
                <a:gd name="connsiteY2" fmla="*/ 144379 h 144379"/>
                <a:gd name="connsiteX0" fmla="*/ 0 w 103522"/>
                <a:gd name="connsiteY0" fmla="*/ 0 h 144379"/>
                <a:gd name="connsiteX1" fmla="*/ 102807 w 103522"/>
                <a:gd name="connsiteY1" fmla="*/ 61544 h 144379"/>
                <a:gd name="connsiteX2" fmla="*/ 41251 w 103522"/>
                <a:gd name="connsiteY2" fmla="*/ 144379 h 144379"/>
                <a:gd name="connsiteX0" fmla="*/ 0 w 65257"/>
                <a:gd name="connsiteY0" fmla="*/ 0 h 144379"/>
                <a:gd name="connsiteX1" fmla="*/ 62195 w 65257"/>
                <a:gd name="connsiteY1" fmla="*/ 71358 h 144379"/>
                <a:gd name="connsiteX2" fmla="*/ 41251 w 65257"/>
                <a:gd name="connsiteY2" fmla="*/ 144379 h 14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257" h="144379">
                  <a:moveTo>
                    <a:pt x="0" y="0"/>
                  </a:moveTo>
                  <a:cubicBezTo>
                    <a:pt x="37813" y="15469"/>
                    <a:pt x="55320" y="47295"/>
                    <a:pt x="62195" y="71358"/>
                  </a:cubicBezTo>
                  <a:cubicBezTo>
                    <a:pt x="69070" y="95421"/>
                    <a:pt x="65314" y="111721"/>
                    <a:pt x="41251" y="144379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FDE8B41-F337-4755-929D-EE471E187C76}"/>
                    </a:ext>
                  </a:extLst>
                </p:cNvPr>
                <p:cNvSpPr txBox="1"/>
                <p:nvPr/>
              </p:nvSpPr>
              <p:spPr>
                <a:xfrm>
                  <a:off x="1620971" y="4564265"/>
                  <a:ext cx="245504" cy="3206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FDE8B41-F337-4755-929D-EE471E187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0971" y="4564265"/>
                  <a:ext cx="245504" cy="320613"/>
                </a:xfrm>
                <a:prstGeom prst="rect">
                  <a:avLst/>
                </a:prstGeom>
                <a:blipFill>
                  <a:blip r:embed="rId10"/>
                  <a:stretch>
                    <a:fillRect r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61F66CB-3F1A-4BF1-BB2D-9F5D6A5A17EC}"/>
                  </a:ext>
                </a:extLst>
              </p:cNvPr>
              <p:cNvSpPr/>
              <p:nvPr/>
            </p:nvSpPr>
            <p:spPr>
              <a:xfrm>
                <a:off x="625174" y="4515678"/>
                <a:ext cx="3276106" cy="4709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𝒕𝒂𝒈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</m:d>
                        </m:e>
                      </m:func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𝒂𝒕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61F66CB-3F1A-4BF1-BB2D-9F5D6A5A1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74" y="4515678"/>
                <a:ext cx="3276106" cy="470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组合 54">
            <a:extLst>
              <a:ext uri="{FF2B5EF4-FFF2-40B4-BE49-F238E27FC236}">
                <a16:creationId xmlns:a16="http://schemas.microsoft.com/office/drawing/2014/main" id="{158DFC34-7DE5-4A68-B7EA-FE5489EF20F5}"/>
              </a:ext>
            </a:extLst>
          </p:cNvPr>
          <p:cNvGrpSpPr/>
          <p:nvPr/>
        </p:nvGrpSpPr>
        <p:grpSpPr>
          <a:xfrm>
            <a:off x="4838968" y="1352527"/>
            <a:ext cx="6966352" cy="2800790"/>
            <a:chOff x="5041802" y="1453241"/>
            <a:chExt cx="7691105" cy="3179625"/>
          </a:xfrm>
        </p:grpSpPr>
        <p:sp>
          <p:nvSpPr>
            <p:cNvPr id="57" name="文本框 33">
              <a:extLst>
                <a:ext uri="{FF2B5EF4-FFF2-40B4-BE49-F238E27FC236}">
                  <a16:creationId xmlns:a16="http://schemas.microsoft.com/office/drawing/2014/main" id="{46C5E766-56FF-4E67-BB3B-8DC64C7377F7}"/>
                </a:ext>
              </a:extLst>
            </p:cNvPr>
            <p:cNvSpPr txBox="1"/>
            <p:nvPr/>
          </p:nvSpPr>
          <p:spPr>
            <a:xfrm>
              <a:off x="8442371" y="4038875"/>
              <a:ext cx="2183200" cy="593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RFID Signal Phase</a:t>
              </a:r>
            </a:p>
            <a:p>
              <a:r>
                <a:rPr kumimoji="1" lang="en-US" altLang="zh-CN" sz="1400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@900MHz</a:t>
              </a:r>
              <a:endPara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B12F65C6-6F69-4542-A0E0-56D8880017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802" y="2328532"/>
              <a:ext cx="1416180" cy="1416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8BC7E7C0-7132-4173-8DE7-A2550AC7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30204" y="3883563"/>
              <a:ext cx="741485" cy="733381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AB914CA3-791B-42EA-9A70-3E34D6C9CF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61" t="18595" r="4432" b="15928"/>
            <a:stretch/>
          </p:blipFill>
          <p:spPr>
            <a:xfrm>
              <a:off x="7427465" y="1453241"/>
              <a:ext cx="1146961" cy="834391"/>
            </a:xfrm>
            <a:prstGeom prst="rect">
              <a:avLst/>
            </a:prstGeom>
          </p:spPr>
        </p:pic>
        <p:sp>
          <p:nvSpPr>
            <p:cNvPr id="67" name="文本框 33">
              <a:extLst>
                <a:ext uri="{FF2B5EF4-FFF2-40B4-BE49-F238E27FC236}">
                  <a16:creationId xmlns:a16="http://schemas.microsoft.com/office/drawing/2014/main" id="{66B370CB-6701-4FEB-ADA6-41994E21DB0D}"/>
                </a:ext>
              </a:extLst>
            </p:cNvPr>
            <p:cNvSpPr txBox="1"/>
            <p:nvPr/>
          </p:nvSpPr>
          <p:spPr>
            <a:xfrm>
              <a:off x="8091893" y="1508982"/>
              <a:ext cx="4126919" cy="559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IMU Data</a:t>
              </a:r>
            </a:p>
            <a:p>
              <a:pPr algn="ctr"/>
              <a:r>
                <a:rPr lang="zh-CN" altLang="en-US" sz="12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12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Acceleration</a:t>
              </a:r>
              <a:r>
                <a:rPr lang="zh-CN" altLang="en-US" sz="12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，</a:t>
              </a:r>
              <a:r>
                <a:rPr lang="en-US" altLang="zh-CN" sz="12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Angular velocity</a:t>
              </a:r>
              <a:r>
                <a:rPr lang="zh-CN" altLang="en-US" sz="12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）</a:t>
              </a:r>
            </a:p>
          </p:txBody>
        </p: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94C112B6-3655-40E2-855E-08B7F2FC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027245" y="2581882"/>
              <a:ext cx="786203" cy="782311"/>
            </a:xfrm>
            <a:prstGeom prst="rect">
              <a:avLst/>
            </a:prstGeom>
          </p:spPr>
        </p:pic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BAB55E72-4F54-44EF-B578-111674C5A667}"/>
                </a:ext>
              </a:extLst>
            </p:cNvPr>
            <p:cNvGrpSpPr/>
            <p:nvPr/>
          </p:nvGrpSpPr>
          <p:grpSpPr>
            <a:xfrm>
              <a:off x="9080723" y="2554778"/>
              <a:ext cx="798055" cy="782311"/>
              <a:chOff x="8978512" y="2574118"/>
              <a:chExt cx="798055" cy="782311"/>
            </a:xfrm>
          </p:grpSpPr>
          <p:sp>
            <p:nvSpPr>
              <p:cNvPr id="77" name="Line 167">
                <a:extLst>
                  <a:ext uri="{FF2B5EF4-FFF2-40B4-BE49-F238E27FC236}">
                    <a16:creationId xmlns:a16="http://schemas.microsoft.com/office/drawing/2014/main" id="{CFFF78C8-029E-4E2D-BE2A-E76536884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78513" y="3356429"/>
                <a:ext cx="798054" cy="0"/>
              </a:xfrm>
              <a:prstGeom prst="line">
                <a:avLst/>
              </a:prstGeom>
              <a:noFill/>
              <a:ln w="19050" cap="flat">
                <a:solidFill>
                  <a:srgbClr val="262626"/>
                </a:solidFill>
                <a:prstDash val="solid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Line 168">
                <a:extLst>
                  <a:ext uri="{FF2B5EF4-FFF2-40B4-BE49-F238E27FC236}">
                    <a16:creationId xmlns:a16="http://schemas.microsoft.com/office/drawing/2014/main" id="{2A84BC24-F10B-4F49-A04D-4E6250B0D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78512" y="2574118"/>
                <a:ext cx="0" cy="782311"/>
              </a:xfrm>
              <a:prstGeom prst="line">
                <a:avLst/>
              </a:prstGeom>
              <a:noFill/>
              <a:ln w="19050" cap="flat">
                <a:solidFill>
                  <a:srgbClr val="262626"/>
                </a:solidFill>
                <a:prstDash val="solid"/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E92C1352-C73A-467D-948A-3E0FB5D3DFC7}"/>
                  </a:ext>
                </a:extLst>
              </p:cNvPr>
              <p:cNvGrpSpPr/>
              <p:nvPr/>
            </p:nvGrpSpPr>
            <p:grpSpPr>
              <a:xfrm>
                <a:off x="8995051" y="2681167"/>
                <a:ext cx="781516" cy="622321"/>
                <a:chOff x="9486479" y="3206572"/>
                <a:chExt cx="820612" cy="701143"/>
              </a:xfrm>
            </p:grpSpPr>
            <p:sp>
              <p:nvSpPr>
                <p:cNvPr id="80" name="Line 171">
                  <a:extLst>
                    <a:ext uri="{FF2B5EF4-FFF2-40B4-BE49-F238E27FC236}">
                      <a16:creationId xmlns:a16="http://schemas.microsoft.com/office/drawing/2014/main" id="{3C37FB08-8D19-4F88-A7B4-9A541C275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03970" y="3329186"/>
                  <a:ext cx="3121" cy="311716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1" name="Line 173">
                  <a:extLst>
                    <a:ext uri="{FF2B5EF4-FFF2-40B4-BE49-F238E27FC236}">
                      <a16:creationId xmlns:a16="http://schemas.microsoft.com/office/drawing/2014/main" id="{32B86AED-7EF6-4528-867D-F0649A6ED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263407" y="3336094"/>
                  <a:ext cx="7281" cy="30394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2" name="Line 174">
                  <a:extLst>
                    <a:ext uri="{FF2B5EF4-FFF2-40B4-BE49-F238E27FC236}">
                      <a16:creationId xmlns:a16="http://schemas.microsoft.com/office/drawing/2014/main" id="{97231A33-0D33-4FE4-8A3A-78047E5FE5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239486" y="3336957"/>
                  <a:ext cx="7281" cy="309989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3" name="Line 176">
                  <a:extLst>
                    <a:ext uri="{FF2B5EF4-FFF2-40B4-BE49-F238E27FC236}">
                      <a16:creationId xmlns:a16="http://schemas.microsoft.com/office/drawing/2014/main" id="{05F24197-77FF-44AD-B7EC-B863B586EC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98924" y="3336094"/>
                  <a:ext cx="10401" cy="30394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Line 178">
                  <a:extLst>
                    <a:ext uri="{FF2B5EF4-FFF2-40B4-BE49-F238E27FC236}">
                      <a16:creationId xmlns:a16="http://schemas.microsoft.com/office/drawing/2014/main" id="{ED7C6DE2-33A8-431A-9901-093FB26FB7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58361" y="3343865"/>
                  <a:ext cx="27042" cy="32294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Line 180">
                  <a:extLst>
                    <a:ext uri="{FF2B5EF4-FFF2-40B4-BE49-F238E27FC236}">
                      <a16:creationId xmlns:a16="http://schemas.microsoft.com/office/drawing/2014/main" id="{8BB0E413-5F8E-495F-BAB1-ED01E79AEA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34439" y="3504472"/>
                  <a:ext cx="3121" cy="282358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Line 181">
                  <a:extLst>
                    <a:ext uri="{FF2B5EF4-FFF2-40B4-BE49-F238E27FC236}">
                      <a16:creationId xmlns:a16="http://schemas.microsoft.com/office/drawing/2014/main" id="{FC1F1CF9-9D01-4E46-876C-0EDC82EBD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110518" y="3275650"/>
                  <a:ext cx="4160" cy="302217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Line 182">
                  <a:extLst>
                    <a:ext uri="{FF2B5EF4-FFF2-40B4-BE49-F238E27FC236}">
                      <a16:creationId xmlns:a16="http://schemas.microsoft.com/office/drawing/2014/main" id="{EF5FDBD0-4EF3-4B2D-A284-0EB0D2E658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86596" y="3271333"/>
                  <a:ext cx="4160" cy="306535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Line 183">
                  <a:extLst>
                    <a:ext uri="{FF2B5EF4-FFF2-40B4-BE49-F238E27FC236}">
                      <a16:creationId xmlns:a16="http://schemas.microsoft.com/office/drawing/2014/main" id="{D2498BB9-078E-4E59-87BB-2EC41F3983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63715" y="3327459"/>
                  <a:ext cx="3121" cy="307398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Line 184">
                  <a:extLst>
                    <a:ext uri="{FF2B5EF4-FFF2-40B4-BE49-F238E27FC236}">
                      <a16:creationId xmlns:a16="http://schemas.microsoft.com/office/drawing/2014/main" id="{DA113364-328A-4AFB-BFBB-07A1604A98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036673" y="3329186"/>
                  <a:ext cx="27042" cy="302217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Line 187">
                  <a:extLst>
                    <a:ext uri="{FF2B5EF4-FFF2-40B4-BE49-F238E27FC236}">
                      <a16:creationId xmlns:a16="http://schemas.microsoft.com/office/drawing/2014/main" id="{7411C148-F586-461F-9E40-F325ED144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95070" y="3418988"/>
                  <a:ext cx="4160" cy="310852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1" name="Line 188">
                  <a:extLst>
                    <a:ext uri="{FF2B5EF4-FFF2-40B4-BE49-F238E27FC236}">
                      <a16:creationId xmlns:a16="http://schemas.microsoft.com/office/drawing/2014/main" id="{8DD1BE65-608B-424F-A585-929492085A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975310" y="3471660"/>
                  <a:ext cx="3121" cy="36266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" name="Line 189">
                  <a:extLst>
                    <a:ext uri="{FF2B5EF4-FFF2-40B4-BE49-F238E27FC236}">
                      <a16:creationId xmlns:a16="http://schemas.microsoft.com/office/drawing/2014/main" id="{0740ED50-1D01-4C24-A685-DFFFF823FE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51388" y="3206572"/>
                  <a:ext cx="7281" cy="212416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" name="Line 190">
                  <a:extLst>
                    <a:ext uri="{FF2B5EF4-FFF2-40B4-BE49-F238E27FC236}">
                      <a16:creationId xmlns:a16="http://schemas.microsoft.com/office/drawing/2014/main" id="{80C053C9-9FD2-45A9-839C-0808AB6FD1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931627" y="3293783"/>
                  <a:ext cx="6240" cy="30567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" name="Line 191">
                  <a:extLst>
                    <a:ext uri="{FF2B5EF4-FFF2-40B4-BE49-F238E27FC236}">
                      <a16:creationId xmlns:a16="http://schemas.microsoft.com/office/drawing/2014/main" id="{851D0FF9-22E9-4B65-B6FA-C6D90FC89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904585" y="3327459"/>
                  <a:ext cx="19761" cy="30394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" name="Line 193">
                  <a:extLst>
                    <a:ext uri="{FF2B5EF4-FFF2-40B4-BE49-F238E27FC236}">
                      <a16:creationId xmlns:a16="http://schemas.microsoft.com/office/drawing/2014/main" id="{DF6DC703-D7F8-4334-8C82-55D55A4E93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859862" y="3334367"/>
                  <a:ext cx="47843" cy="30308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Line 195">
                  <a:extLst>
                    <a:ext uri="{FF2B5EF4-FFF2-40B4-BE49-F238E27FC236}">
                      <a16:creationId xmlns:a16="http://schemas.microsoft.com/office/drawing/2014/main" id="{6F485581-42FE-4ABB-9DC2-F24D526BC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52582" y="3343002"/>
                  <a:ext cx="0" cy="30135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Line 196">
                  <a:extLst>
                    <a:ext uri="{FF2B5EF4-FFF2-40B4-BE49-F238E27FC236}">
                      <a16:creationId xmlns:a16="http://schemas.microsoft.com/office/drawing/2014/main" id="{C658C952-6FB3-4337-B4A2-8C7D9C1E85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29700" y="3417261"/>
                  <a:ext cx="3121" cy="274586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Line 197">
                  <a:extLst>
                    <a:ext uri="{FF2B5EF4-FFF2-40B4-BE49-F238E27FC236}">
                      <a16:creationId xmlns:a16="http://schemas.microsoft.com/office/drawing/2014/main" id="{52A1011E-37DE-4A40-96BD-EA2CE7D92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08899" y="3368906"/>
                  <a:ext cx="7281" cy="30308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Line 199">
                  <a:extLst>
                    <a:ext uri="{FF2B5EF4-FFF2-40B4-BE49-F238E27FC236}">
                      <a16:creationId xmlns:a16="http://schemas.microsoft.com/office/drawing/2014/main" id="{1F2086D7-F984-4059-BA12-6568274DD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762096" y="3319688"/>
                  <a:ext cx="6240" cy="30567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Line 201">
                  <a:extLst>
                    <a:ext uri="{FF2B5EF4-FFF2-40B4-BE49-F238E27FC236}">
                      <a16:creationId xmlns:a16="http://schemas.microsoft.com/office/drawing/2014/main" id="{A8F8DC0A-F851-4DFA-9B4C-71BB9E429D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730894" y="3331777"/>
                  <a:ext cx="0" cy="306535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Line 202">
                  <a:extLst>
                    <a:ext uri="{FF2B5EF4-FFF2-40B4-BE49-F238E27FC236}">
                      <a16:creationId xmlns:a16="http://schemas.microsoft.com/office/drawing/2014/main" id="{0020CA77-1B13-48C1-AFD6-508C02D6FB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703852" y="3331777"/>
                  <a:ext cx="27042" cy="300490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Line 204">
                  <a:extLst>
                    <a:ext uri="{FF2B5EF4-FFF2-40B4-BE49-F238E27FC236}">
                      <a16:creationId xmlns:a16="http://schemas.microsoft.com/office/drawing/2014/main" id="{EE9E68EC-FB62-40C6-BB4A-6634253216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84091" y="3366316"/>
                  <a:ext cx="0" cy="295309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Line 205">
                  <a:extLst>
                    <a:ext uri="{FF2B5EF4-FFF2-40B4-BE49-F238E27FC236}">
                      <a16:creationId xmlns:a16="http://schemas.microsoft.com/office/drawing/2014/main" id="{7A0ED50B-FD29-4DBB-BA2C-60D21C8A61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56009" y="3440575"/>
                  <a:ext cx="7281" cy="346255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Line 206">
                  <a:extLst>
                    <a:ext uri="{FF2B5EF4-FFF2-40B4-BE49-F238E27FC236}">
                      <a16:creationId xmlns:a16="http://schemas.microsoft.com/office/drawing/2014/main" id="{32CF7B01-517A-4E69-9387-EAB684BFC7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36248" y="3254927"/>
                  <a:ext cx="3121" cy="22191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Line 207">
                  <a:extLst>
                    <a:ext uri="{FF2B5EF4-FFF2-40B4-BE49-F238E27FC236}">
                      <a16:creationId xmlns:a16="http://schemas.microsoft.com/office/drawing/2014/main" id="{47588183-0188-4DBF-83A1-B51C27F55C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615447" y="3284285"/>
                  <a:ext cx="7281" cy="299627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Line 208">
                  <a:extLst>
                    <a:ext uri="{FF2B5EF4-FFF2-40B4-BE49-F238E27FC236}">
                      <a16:creationId xmlns:a16="http://schemas.microsoft.com/office/drawing/2014/main" id="{FA527228-12E7-49A2-A761-B6AD155A4C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95685" y="3322278"/>
                  <a:ext cx="6240" cy="303081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Line 209">
                  <a:extLst>
                    <a:ext uri="{FF2B5EF4-FFF2-40B4-BE49-F238E27FC236}">
                      <a16:creationId xmlns:a16="http://schemas.microsoft.com/office/drawing/2014/main" id="{01DB12D8-ADF2-4210-B17D-99A1D01062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68643" y="3321415"/>
                  <a:ext cx="33282" cy="303944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Line 211">
                  <a:extLst>
                    <a:ext uri="{FF2B5EF4-FFF2-40B4-BE49-F238E27FC236}">
                      <a16:creationId xmlns:a16="http://schemas.microsoft.com/office/drawing/2014/main" id="{CE5D3BFC-9CD3-4EB2-83C0-F221D9734F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514560" y="3323142"/>
                  <a:ext cx="84246" cy="306535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Line 213">
                  <a:extLst>
                    <a:ext uri="{FF2B5EF4-FFF2-40B4-BE49-F238E27FC236}">
                      <a16:creationId xmlns:a16="http://schemas.microsoft.com/office/drawing/2014/main" id="{F70B74DC-6271-4983-B5CC-59B0D1A83A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86479" y="3328323"/>
                  <a:ext cx="74885" cy="308262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Line 214">
                  <a:extLst>
                    <a:ext uri="{FF2B5EF4-FFF2-40B4-BE49-F238E27FC236}">
                      <a16:creationId xmlns:a16="http://schemas.microsoft.com/office/drawing/2014/main" id="{658EF575-7B78-4C45-8B38-A6525852FF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86479" y="3328323"/>
                  <a:ext cx="47843" cy="302217"/>
                </a:xfrm>
                <a:prstGeom prst="line">
                  <a:avLst/>
                </a:prstGeom>
                <a:noFill/>
                <a:ln w="6350" cap="flat">
                  <a:solidFill>
                    <a:srgbClr val="D1D1D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Freeform 169">
                  <a:extLst>
                    <a:ext uri="{FF2B5EF4-FFF2-40B4-BE49-F238E27FC236}">
                      <a16:creationId xmlns:a16="http://schemas.microsoft.com/office/drawing/2014/main" id="{E08DD457-B7DA-44BD-9AEB-61903BE634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86479" y="3206572"/>
                  <a:ext cx="820612" cy="309125"/>
                </a:xfrm>
                <a:custGeom>
                  <a:avLst/>
                  <a:gdLst>
                    <a:gd name="T0" fmla="*/ 10 w 789"/>
                    <a:gd name="T1" fmla="*/ 137 h 358"/>
                    <a:gd name="T2" fmla="*/ 24 w 789"/>
                    <a:gd name="T3" fmla="*/ 136 h 358"/>
                    <a:gd name="T4" fmla="*/ 36 w 789"/>
                    <a:gd name="T5" fmla="*/ 133 h 358"/>
                    <a:gd name="T6" fmla="*/ 50 w 789"/>
                    <a:gd name="T7" fmla="*/ 131 h 358"/>
                    <a:gd name="T8" fmla="*/ 62 w 789"/>
                    <a:gd name="T9" fmla="*/ 132 h 358"/>
                    <a:gd name="T10" fmla="*/ 76 w 789"/>
                    <a:gd name="T11" fmla="*/ 133 h 358"/>
                    <a:gd name="T12" fmla="*/ 88 w 789"/>
                    <a:gd name="T13" fmla="*/ 133 h 358"/>
                    <a:gd name="T14" fmla="*/ 102 w 789"/>
                    <a:gd name="T15" fmla="*/ 134 h 358"/>
                    <a:gd name="T16" fmla="*/ 115 w 789"/>
                    <a:gd name="T17" fmla="*/ 129 h 358"/>
                    <a:gd name="T18" fmla="*/ 128 w 789"/>
                    <a:gd name="T19" fmla="*/ 105 h 358"/>
                    <a:gd name="T20" fmla="*/ 141 w 789"/>
                    <a:gd name="T21" fmla="*/ 53 h 358"/>
                    <a:gd name="T22" fmla="*/ 154 w 789"/>
                    <a:gd name="T23" fmla="*/ 130 h 358"/>
                    <a:gd name="T24" fmla="*/ 167 w 789"/>
                    <a:gd name="T25" fmla="*/ 256 h 358"/>
                    <a:gd name="T26" fmla="*/ 180 w 789"/>
                    <a:gd name="T27" fmla="*/ 256 h 358"/>
                    <a:gd name="T28" fmla="*/ 193 w 789"/>
                    <a:gd name="T29" fmla="*/ 166 h 358"/>
                    <a:gd name="T30" fmla="*/ 206 w 789"/>
                    <a:gd name="T31" fmla="*/ 154 h 358"/>
                    <a:gd name="T32" fmla="*/ 219 w 789"/>
                    <a:gd name="T33" fmla="*/ 153 h 358"/>
                    <a:gd name="T34" fmla="*/ 232 w 789"/>
                    <a:gd name="T35" fmla="*/ 147 h 358"/>
                    <a:gd name="T36" fmla="*/ 245 w 789"/>
                    <a:gd name="T37" fmla="*/ 139 h 358"/>
                    <a:gd name="T38" fmla="*/ 258 w 789"/>
                    <a:gd name="T39" fmla="*/ 136 h 358"/>
                    <a:gd name="T40" fmla="*/ 271 w 789"/>
                    <a:gd name="T41" fmla="*/ 123 h 358"/>
                    <a:gd name="T42" fmla="*/ 284 w 789"/>
                    <a:gd name="T43" fmla="*/ 83 h 358"/>
                    <a:gd name="T44" fmla="*/ 297 w 789"/>
                    <a:gd name="T45" fmla="*/ 75 h 358"/>
                    <a:gd name="T46" fmla="*/ 310 w 789"/>
                    <a:gd name="T47" fmla="*/ 188 h 358"/>
                    <a:gd name="T48" fmla="*/ 323 w 789"/>
                    <a:gd name="T49" fmla="*/ 248 h 358"/>
                    <a:gd name="T50" fmla="*/ 336 w 789"/>
                    <a:gd name="T51" fmla="*/ 223 h 358"/>
                    <a:gd name="T52" fmla="*/ 349 w 789"/>
                    <a:gd name="T53" fmla="*/ 164 h 358"/>
                    <a:gd name="T54" fmla="*/ 362 w 789"/>
                    <a:gd name="T55" fmla="*/ 154 h 358"/>
                    <a:gd name="T56" fmla="*/ 375 w 789"/>
                    <a:gd name="T57" fmla="*/ 154 h 358"/>
                    <a:gd name="T58" fmla="*/ 388 w 789"/>
                    <a:gd name="T59" fmla="*/ 151 h 358"/>
                    <a:gd name="T60" fmla="*/ 402 w 789"/>
                    <a:gd name="T61" fmla="*/ 148 h 358"/>
                    <a:gd name="T62" fmla="*/ 414 w 789"/>
                    <a:gd name="T63" fmla="*/ 145 h 358"/>
                    <a:gd name="T64" fmla="*/ 428 w 789"/>
                    <a:gd name="T65" fmla="*/ 131 h 358"/>
                    <a:gd name="T66" fmla="*/ 441 w 789"/>
                    <a:gd name="T67" fmla="*/ 35 h 358"/>
                    <a:gd name="T68" fmla="*/ 454 w 789"/>
                    <a:gd name="T69" fmla="*/ 45 h 358"/>
                    <a:gd name="T70" fmla="*/ 467 w 789"/>
                    <a:gd name="T71" fmla="*/ 243 h 358"/>
                    <a:gd name="T72" fmla="*/ 480 w 789"/>
                    <a:gd name="T73" fmla="*/ 322 h 358"/>
                    <a:gd name="T74" fmla="*/ 493 w 789"/>
                    <a:gd name="T75" fmla="*/ 209 h 358"/>
                    <a:gd name="T76" fmla="*/ 506 w 789"/>
                    <a:gd name="T77" fmla="*/ 146 h 358"/>
                    <a:gd name="T78" fmla="*/ 519 w 789"/>
                    <a:gd name="T79" fmla="*/ 145 h 358"/>
                    <a:gd name="T80" fmla="*/ 532 w 789"/>
                    <a:gd name="T81" fmla="*/ 144 h 358"/>
                    <a:gd name="T82" fmla="*/ 545 w 789"/>
                    <a:gd name="T83" fmla="*/ 145 h 358"/>
                    <a:gd name="T84" fmla="*/ 558 w 789"/>
                    <a:gd name="T85" fmla="*/ 140 h 358"/>
                    <a:gd name="T86" fmla="*/ 571 w 789"/>
                    <a:gd name="T87" fmla="*/ 127 h 358"/>
                    <a:gd name="T88" fmla="*/ 584 w 789"/>
                    <a:gd name="T89" fmla="*/ 47 h 358"/>
                    <a:gd name="T90" fmla="*/ 597 w 789"/>
                    <a:gd name="T91" fmla="*/ 37 h 358"/>
                    <a:gd name="T92" fmla="*/ 610 w 789"/>
                    <a:gd name="T93" fmla="*/ 231 h 358"/>
                    <a:gd name="T94" fmla="*/ 623 w 789"/>
                    <a:gd name="T95" fmla="*/ 345 h 358"/>
                    <a:gd name="T96" fmla="*/ 636 w 789"/>
                    <a:gd name="T97" fmla="*/ 254 h 358"/>
                    <a:gd name="T98" fmla="*/ 649 w 789"/>
                    <a:gd name="T99" fmla="*/ 157 h 358"/>
                    <a:gd name="T100" fmla="*/ 662 w 789"/>
                    <a:gd name="T101" fmla="*/ 147 h 358"/>
                    <a:gd name="T102" fmla="*/ 675 w 789"/>
                    <a:gd name="T103" fmla="*/ 153 h 358"/>
                    <a:gd name="T104" fmla="*/ 688 w 789"/>
                    <a:gd name="T105" fmla="*/ 148 h 358"/>
                    <a:gd name="T106" fmla="*/ 701 w 789"/>
                    <a:gd name="T107" fmla="*/ 149 h 358"/>
                    <a:gd name="T108" fmla="*/ 714 w 789"/>
                    <a:gd name="T109" fmla="*/ 155 h 358"/>
                    <a:gd name="T110" fmla="*/ 727 w 789"/>
                    <a:gd name="T111" fmla="*/ 148 h 358"/>
                    <a:gd name="T112" fmla="*/ 740 w 789"/>
                    <a:gd name="T113" fmla="*/ 152 h 358"/>
                    <a:gd name="T114" fmla="*/ 754 w 789"/>
                    <a:gd name="T115" fmla="*/ 150 h 358"/>
                    <a:gd name="T116" fmla="*/ 767 w 789"/>
                    <a:gd name="T117" fmla="*/ 142 h 358"/>
                    <a:gd name="T118" fmla="*/ 780 w 789"/>
                    <a:gd name="T119" fmla="*/ 143 h 3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789" h="358">
                      <a:moveTo>
                        <a:pt x="0" y="141"/>
                      </a:moveTo>
                      <a:lnTo>
                        <a:pt x="4" y="139"/>
                      </a:lnTo>
                      <a:lnTo>
                        <a:pt x="7" y="138"/>
                      </a:lnTo>
                      <a:lnTo>
                        <a:pt x="10" y="137"/>
                      </a:lnTo>
                      <a:lnTo>
                        <a:pt x="14" y="137"/>
                      </a:lnTo>
                      <a:lnTo>
                        <a:pt x="17" y="137"/>
                      </a:lnTo>
                      <a:lnTo>
                        <a:pt x="20" y="136"/>
                      </a:lnTo>
                      <a:lnTo>
                        <a:pt x="24" y="136"/>
                      </a:lnTo>
                      <a:lnTo>
                        <a:pt x="27" y="135"/>
                      </a:lnTo>
                      <a:lnTo>
                        <a:pt x="30" y="134"/>
                      </a:lnTo>
                      <a:lnTo>
                        <a:pt x="33" y="134"/>
                      </a:lnTo>
                      <a:lnTo>
                        <a:pt x="36" y="133"/>
                      </a:lnTo>
                      <a:lnTo>
                        <a:pt x="40" y="133"/>
                      </a:lnTo>
                      <a:lnTo>
                        <a:pt x="43" y="133"/>
                      </a:lnTo>
                      <a:lnTo>
                        <a:pt x="46" y="132"/>
                      </a:lnTo>
                      <a:lnTo>
                        <a:pt x="50" y="131"/>
                      </a:lnTo>
                      <a:lnTo>
                        <a:pt x="53" y="131"/>
                      </a:lnTo>
                      <a:lnTo>
                        <a:pt x="56" y="131"/>
                      </a:lnTo>
                      <a:lnTo>
                        <a:pt x="59" y="132"/>
                      </a:lnTo>
                      <a:lnTo>
                        <a:pt x="62" y="132"/>
                      </a:lnTo>
                      <a:lnTo>
                        <a:pt x="66" y="132"/>
                      </a:lnTo>
                      <a:lnTo>
                        <a:pt x="69" y="133"/>
                      </a:lnTo>
                      <a:lnTo>
                        <a:pt x="72" y="133"/>
                      </a:lnTo>
                      <a:lnTo>
                        <a:pt x="76" y="133"/>
                      </a:lnTo>
                      <a:lnTo>
                        <a:pt x="79" y="133"/>
                      </a:lnTo>
                      <a:lnTo>
                        <a:pt x="82" y="134"/>
                      </a:lnTo>
                      <a:lnTo>
                        <a:pt x="85" y="134"/>
                      </a:lnTo>
                      <a:lnTo>
                        <a:pt x="88" y="133"/>
                      </a:lnTo>
                      <a:lnTo>
                        <a:pt x="92" y="133"/>
                      </a:lnTo>
                      <a:lnTo>
                        <a:pt x="95" y="133"/>
                      </a:lnTo>
                      <a:lnTo>
                        <a:pt x="98" y="133"/>
                      </a:lnTo>
                      <a:lnTo>
                        <a:pt x="102" y="134"/>
                      </a:lnTo>
                      <a:lnTo>
                        <a:pt x="105" y="134"/>
                      </a:lnTo>
                      <a:lnTo>
                        <a:pt x="108" y="134"/>
                      </a:lnTo>
                      <a:lnTo>
                        <a:pt x="111" y="132"/>
                      </a:lnTo>
                      <a:lnTo>
                        <a:pt x="115" y="129"/>
                      </a:lnTo>
                      <a:lnTo>
                        <a:pt x="118" y="126"/>
                      </a:lnTo>
                      <a:lnTo>
                        <a:pt x="121" y="122"/>
                      </a:lnTo>
                      <a:lnTo>
                        <a:pt x="124" y="116"/>
                      </a:lnTo>
                      <a:lnTo>
                        <a:pt x="128" y="105"/>
                      </a:lnTo>
                      <a:lnTo>
                        <a:pt x="131" y="90"/>
                      </a:lnTo>
                      <a:lnTo>
                        <a:pt x="134" y="71"/>
                      </a:lnTo>
                      <a:lnTo>
                        <a:pt x="137" y="60"/>
                      </a:lnTo>
                      <a:lnTo>
                        <a:pt x="141" y="53"/>
                      </a:lnTo>
                      <a:lnTo>
                        <a:pt x="144" y="56"/>
                      </a:lnTo>
                      <a:lnTo>
                        <a:pt x="147" y="71"/>
                      </a:lnTo>
                      <a:lnTo>
                        <a:pt x="151" y="96"/>
                      </a:lnTo>
                      <a:lnTo>
                        <a:pt x="154" y="130"/>
                      </a:lnTo>
                      <a:lnTo>
                        <a:pt x="157" y="168"/>
                      </a:lnTo>
                      <a:lnTo>
                        <a:pt x="160" y="205"/>
                      </a:lnTo>
                      <a:lnTo>
                        <a:pt x="163" y="236"/>
                      </a:lnTo>
                      <a:lnTo>
                        <a:pt x="167" y="256"/>
                      </a:lnTo>
                      <a:lnTo>
                        <a:pt x="170" y="271"/>
                      </a:lnTo>
                      <a:lnTo>
                        <a:pt x="173" y="276"/>
                      </a:lnTo>
                      <a:lnTo>
                        <a:pt x="177" y="272"/>
                      </a:lnTo>
                      <a:lnTo>
                        <a:pt x="180" y="256"/>
                      </a:lnTo>
                      <a:lnTo>
                        <a:pt x="183" y="234"/>
                      </a:lnTo>
                      <a:lnTo>
                        <a:pt x="186" y="208"/>
                      </a:lnTo>
                      <a:lnTo>
                        <a:pt x="190" y="185"/>
                      </a:lnTo>
                      <a:lnTo>
                        <a:pt x="193" y="166"/>
                      </a:lnTo>
                      <a:lnTo>
                        <a:pt x="196" y="154"/>
                      </a:lnTo>
                      <a:lnTo>
                        <a:pt x="199" y="150"/>
                      </a:lnTo>
                      <a:lnTo>
                        <a:pt x="203" y="151"/>
                      </a:lnTo>
                      <a:lnTo>
                        <a:pt x="206" y="154"/>
                      </a:lnTo>
                      <a:lnTo>
                        <a:pt x="209" y="156"/>
                      </a:lnTo>
                      <a:lnTo>
                        <a:pt x="213" y="156"/>
                      </a:lnTo>
                      <a:lnTo>
                        <a:pt x="216" y="155"/>
                      </a:lnTo>
                      <a:lnTo>
                        <a:pt x="219" y="153"/>
                      </a:lnTo>
                      <a:lnTo>
                        <a:pt x="222" y="150"/>
                      </a:lnTo>
                      <a:lnTo>
                        <a:pt x="225" y="150"/>
                      </a:lnTo>
                      <a:lnTo>
                        <a:pt x="229" y="149"/>
                      </a:lnTo>
                      <a:lnTo>
                        <a:pt x="232" y="147"/>
                      </a:lnTo>
                      <a:lnTo>
                        <a:pt x="235" y="145"/>
                      </a:lnTo>
                      <a:lnTo>
                        <a:pt x="239" y="143"/>
                      </a:lnTo>
                      <a:lnTo>
                        <a:pt x="242" y="141"/>
                      </a:lnTo>
                      <a:lnTo>
                        <a:pt x="245" y="139"/>
                      </a:lnTo>
                      <a:lnTo>
                        <a:pt x="248" y="138"/>
                      </a:lnTo>
                      <a:lnTo>
                        <a:pt x="251" y="137"/>
                      </a:lnTo>
                      <a:lnTo>
                        <a:pt x="255" y="136"/>
                      </a:lnTo>
                      <a:lnTo>
                        <a:pt x="258" y="136"/>
                      </a:lnTo>
                      <a:lnTo>
                        <a:pt x="261" y="134"/>
                      </a:lnTo>
                      <a:lnTo>
                        <a:pt x="265" y="131"/>
                      </a:lnTo>
                      <a:lnTo>
                        <a:pt x="268" y="127"/>
                      </a:lnTo>
                      <a:lnTo>
                        <a:pt x="271" y="123"/>
                      </a:lnTo>
                      <a:lnTo>
                        <a:pt x="274" y="118"/>
                      </a:lnTo>
                      <a:lnTo>
                        <a:pt x="278" y="110"/>
                      </a:lnTo>
                      <a:lnTo>
                        <a:pt x="281" y="98"/>
                      </a:lnTo>
                      <a:lnTo>
                        <a:pt x="284" y="83"/>
                      </a:lnTo>
                      <a:lnTo>
                        <a:pt x="287" y="74"/>
                      </a:lnTo>
                      <a:lnTo>
                        <a:pt x="291" y="68"/>
                      </a:lnTo>
                      <a:lnTo>
                        <a:pt x="294" y="67"/>
                      </a:lnTo>
                      <a:lnTo>
                        <a:pt x="297" y="75"/>
                      </a:lnTo>
                      <a:lnTo>
                        <a:pt x="300" y="93"/>
                      </a:lnTo>
                      <a:lnTo>
                        <a:pt x="304" y="121"/>
                      </a:lnTo>
                      <a:lnTo>
                        <a:pt x="307" y="153"/>
                      </a:lnTo>
                      <a:lnTo>
                        <a:pt x="310" y="188"/>
                      </a:lnTo>
                      <a:lnTo>
                        <a:pt x="314" y="216"/>
                      </a:lnTo>
                      <a:lnTo>
                        <a:pt x="317" y="234"/>
                      </a:lnTo>
                      <a:lnTo>
                        <a:pt x="320" y="244"/>
                      </a:lnTo>
                      <a:lnTo>
                        <a:pt x="323" y="248"/>
                      </a:lnTo>
                      <a:lnTo>
                        <a:pt x="326" y="248"/>
                      </a:lnTo>
                      <a:lnTo>
                        <a:pt x="330" y="244"/>
                      </a:lnTo>
                      <a:lnTo>
                        <a:pt x="333" y="235"/>
                      </a:lnTo>
                      <a:lnTo>
                        <a:pt x="336" y="223"/>
                      </a:lnTo>
                      <a:lnTo>
                        <a:pt x="340" y="207"/>
                      </a:lnTo>
                      <a:lnTo>
                        <a:pt x="343" y="191"/>
                      </a:lnTo>
                      <a:lnTo>
                        <a:pt x="346" y="174"/>
                      </a:lnTo>
                      <a:lnTo>
                        <a:pt x="349" y="164"/>
                      </a:lnTo>
                      <a:lnTo>
                        <a:pt x="352" y="158"/>
                      </a:lnTo>
                      <a:lnTo>
                        <a:pt x="356" y="156"/>
                      </a:lnTo>
                      <a:lnTo>
                        <a:pt x="359" y="155"/>
                      </a:lnTo>
                      <a:lnTo>
                        <a:pt x="362" y="154"/>
                      </a:lnTo>
                      <a:lnTo>
                        <a:pt x="366" y="154"/>
                      </a:lnTo>
                      <a:lnTo>
                        <a:pt x="369" y="154"/>
                      </a:lnTo>
                      <a:lnTo>
                        <a:pt x="372" y="154"/>
                      </a:lnTo>
                      <a:lnTo>
                        <a:pt x="375" y="154"/>
                      </a:lnTo>
                      <a:lnTo>
                        <a:pt x="379" y="153"/>
                      </a:lnTo>
                      <a:lnTo>
                        <a:pt x="382" y="152"/>
                      </a:lnTo>
                      <a:lnTo>
                        <a:pt x="385" y="152"/>
                      </a:lnTo>
                      <a:lnTo>
                        <a:pt x="388" y="151"/>
                      </a:lnTo>
                      <a:lnTo>
                        <a:pt x="392" y="151"/>
                      </a:lnTo>
                      <a:lnTo>
                        <a:pt x="395" y="150"/>
                      </a:lnTo>
                      <a:lnTo>
                        <a:pt x="398" y="150"/>
                      </a:lnTo>
                      <a:lnTo>
                        <a:pt x="402" y="148"/>
                      </a:lnTo>
                      <a:lnTo>
                        <a:pt x="405" y="148"/>
                      </a:lnTo>
                      <a:lnTo>
                        <a:pt x="408" y="147"/>
                      </a:lnTo>
                      <a:lnTo>
                        <a:pt x="411" y="147"/>
                      </a:lnTo>
                      <a:lnTo>
                        <a:pt x="414" y="145"/>
                      </a:lnTo>
                      <a:lnTo>
                        <a:pt x="418" y="143"/>
                      </a:lnTo>
                      <a:lnTo>
                        <a:pt x="421" y="140"/>
                      </a:lnTo>
                      <a:lnTo>
                        <a:pt x="424" y="136"/>
                      </a:lnTo>
                      <a:lnTo>
                        <a:pt x="428" y="131"/>
                      </a:lnTo>
                      <a:lnTo>
                        <a:pt x="431" y="120"/>
                      </a:lnTo>
                      <a:lnTo>
                        <a:pt x="434" y="101"/>
                      </a:lnTo>
                      <a:lnTo>
                        <a:pt x="437" y="71"/>
                      </a:lnTo>
                      <a:lnTo>
                        <a:pt x="441" y="35"/>
                      </a:lnTo>
                      <a:lnTo>
                        <a:pt x="444" y="8"/>
                      </a:lnTo>
                      <a:lnTo>
                        <a:pt x="447" y="0"/>
                      </a:lnTo>
                      <a:lnTo>
                        <a:pt x="450" y="12"/>
                      </a:lnTo>
                      <a:lnTo>
                        <a:pt x="454" y="45"/>
                      </a:lnTo>
                      <a:lnTo>
                        <a:pt x="457" y="92"/>
                      </a:lnTo>
                      <a:lnTo>
                        <a:pt x="460" y="145"/>
                      </a:lnTo>
                      <a:lnTo>
                        <a:pt x="463" y="198"/>
                      </a:lnTo>
                      <a:lnTo>
                        <a:pt x="467" y="243"/>
                      </a:lnTo>
                      <a:lnTo>
                        <a:pt x="470" y="280"/>
                      </a:lnTo>
                      <a:lnTo>
                        <a:pt x="473" y="307"/>
                      </a:lnTo>
                      <a:lnTo>
                        <a:pt x="477" y="324"/>
                      </a:lnTo>
                      <a:lnTo>
                        <a:pt x="480" y="322"/>
                      </a:lnTo>
                      <a:lnTo>
                        <a:pt x="483" y="307"/>
                      </a:lnTo>
                      <a:lnTo>
                        <a:pt x="486" y="281"/>
                      </a:lnTo>
                      <a:lnTo>
                        <a:pt x="489" y="246"/>
                      </a:lnTo>
                      <a:lnTo>
                        <a:pt x="493" y="209"/>
                      </a:lnTo>
                      <a:lnTo>
                        <a:pt x="496" y="179"/>
                      </a:lnTo>
                      <a:lnTo>
                        <a:pt x="499" y="158"/>
                      </a:lnTo>
                      <a:lnTo>
                        <a:pt x="503" y="148"/>
                      </a:lnTo>
                      <a:lnTo>
                        <a:pt x="506" y="146"/>
                      </a:lnTo>
                      <a:lnTo>
                        <a:pt x="509" y="146"/>
                      </a:lnTo>
                      <a:lnTo>
                        <a:pt x="512" y="146"/>
                      </a:lnTo>
                      <a:lnTo>
                        <a:pt x="515" y="146"/>
                      </a:lnTo>
                      <a:lnTo>
                        <a:pt x="519" y="145"/>
                      </a:lnTo>
                      <a:lnTo>
                        <a:pt x="522" y="145"/>
                      </a:lnTo>
                      <a:lnTo>
                        <a:pt x="525" y="144"/>
                      </a:lnTo>
                      <a:lnTo>
                        <a:pt x="529" y="144"/>
                      </a:lnTo>
                      <a:lnTo>
                        <a:pt x="532" y="144"/>
                      </a:lnTo>
                      <a:lnTo>
                        <a:pt x="535" y="145"/>
                      </a:lnTo>
                      <a:lnTo>
                        <a:pt x="538" y="146"/>
                      </a:lnTo>
                      <a:lnTo>
                        <a:pt x="541" y="146"/>
                      </a:lnTo>
                      <a:lnTo>
                        <a:pt x="545" y="145"/>
                      </a:lnTo>
                      <a:lnTo>
                        <a:pt x="548" y="144"/>
                      </a:lnTo>
                      <a:lnTo>
                        <a:pt x="551" y="143"/>
                      </a:lnTo>
                      <a:lnTo>
                        <a:pt x="555" y="142"/>
                      </a:lnTo>
                      <a:lnTo>
                        <a:pt x="558" y="140"/>
                      </a:lnTo>
                      <a:lnTo>
                        <a:pt x="561" y="137"/>
                      </a:lnTo>
                      <a:lnTo>
                        <a:pt x="565" y="135"/>
                      </a:lnTo>
                      <a:lnTo>
                        <a:pt x="568" y="132"/>
                      </a:lnTo>
                      <a:lnTo>
                        <a:pt x="571" y="127"/>
                      </a:lnTo>
                      <a:lnTo>
                        <a:pt x="574" y="118"/>
                      </a:lnTo>
                      <a:lnTo>
                        <a:pt x="577" y="100"/>
                      </a:lnTo>
                      <a:lnTo>
                        <a:pt x="581" y="75"/>
                      </a:lnTo>
                      <a:lnTo>
                        <a:pt x="584" y="47"/>
                      </a:lnTo>
                      <a:lnTo>
                        <a:pt x="587" y="23"/>
                      </a:lnTo>
                      <a:lnTo>
                        <a:pt x="591" y="9"/>
                      </a:lnTo>
                      <a:lnTo>
                        <a:pt x="594" y="13"/>
                      </a:lnTo>
                      <a:lnTo>
                        <a:pt x="597" y="37"/>
                      </a:lnTo>
                      <a:lnTo>
                        <a:pt x="600" y="80"/>
                      </a:lnTo>
                      <a:lnTo>
                        <a:pt x="604" y="133"/>
                      </a:lnTo>
                      <a:lnTo>
                        <a:pt x="607" y="185"/>
                      </a:lnTo>
                      <a:lnTo>
                        <a:pt x="610" y="231"/>
                      </a:lnTo>
                      <a:lnTo>
                        <a:pt x="613" y="266"/>
                      </a:lnTo>
                      <a:lnTo>
                        <a:pt x="617" y="297"/>
                      </a:lnTo>
                      <a:lnTo>
                        <a:pt x="620" y="324"/>
                      </a:lnTo>
                      <a:lnTo>
                        <a:pt x="623" y="345"/>
                      </a:lnTo>
                      <a:lnTo>
                        <a:pt x="626" y="358"/>
                      </a:lnTo>
                      <a:lnTo>
                        <a:pt x="630" y="345"/>
                      </a:lnTo>
                      <a:lnTo>
                        <a:pt x="633" y="309"/>
                      </a:lnTo>
                      <a:lnTo>
                        <a:pt x="636" y="254"/>
                      </a:lnTo>
                      <a:lnTo>
                        <a:pt x="640" y="203"/>
                      </a:lnTo>
                      <a:lnTo>
                        <a:pt x="643" y="172"/>
                      </a:lnTo>
                      <a:lnTo>
                        <a:pt x="646" y="159"/>
                      </a:lnTo>
                      <a:lnTo>
                        <a:pt x="649" y="157"/>
                      </a:lnTo>
                      <a:lnTo>
                        <a:pt x="652" y="154"/>
                      </a:lnTo>
                      <a:lnTo>
                        <a:pt x="656" y="149"/>
                      </a:lnTo>
                      <a:lnTo>
                        <a:pt x="659" y="149"/>
                      </a:lnTo>
                      <a:lnTo>
                        <a:pt x="662" y="147"/>
                      </a:lnTo>
                      <a:lnTo>
                        <a:pt x="666" y="145"/>
                      </a:lnTo>
                      <a:lnTo>
                        <a:pt x="669" y="145"/>
                      </a:lnTo>
                      <a:lnTo>
                        <a:pt x="672" y="148"/>
                      </a:lnTo>
                      <a:lnTo>
                        <a:pt x="675" y="153"/>
                      </a:lnTo>
                      <a:lnTo>
                        <a:pt x="678" y="155"/>
                      </a:lnTo>
                      <a:lnTo>
                        <a:pt x="682" y="152"/>
                      </a:lnTo>
                      <a:lnTo>
                        <a:pt x="685" y="150"/>
                      </a:lnTo>
                      <a:lnTo>
                        <a:pt x="688" y="148"/>
                      </a:lnTo>
                      <a:lnTo>
                        <a:pt x="692" y="147"/>
                      </a:lnTo>
                      <a:lnTo>
                        <a:pt x="695" y="146"/>
                      </a:lnTo>
                      <a:lnTo>
                        <a:pt x="698" y="147"/>
                      </a:lnTo>
                      <a:lnTo>
                        <a:pt x="701" y="149"/>
                      </a:lnTo>
                      <a:lnTo>
                        <a:pt x="704" y="148"/>
                      </a:lnTo>
                      <a:lnTo>
                        <a:pt x="708" y="149"/>
                      </a:lnTo>
                      <a:lnTo>
                        <a:pt x="711" y="151"/>
                      </a:lnTo>
                      <a:lnTo>
                        <a:pt x="714" y="155"/>
                      </a:lnTo>
                      <a:lnTo>
                        <a:pt x="718" y="154"/>
                      </a:lnTo>
                      <a:lnTo>
                        <a:pt x="721" y="150"/>
                      </a:lnTo>
                      <a:lnTo>
                        <a:pt x="724" y="147"/>
                      </a:lnTo>
                      <a:lnTo>
                        <a:pt x="727" y="148"/>
                      </a:lnTo>
                      <a:lnTo>
                        <a:pt x="731" y="151"/>
                      </a:lnTo>
                      <a:lnTo>
                        <a:pt x="734" y="153"/>
                      </a:lnTo>
                      <a:lnTo>
                        <a:pt x="737" y="152"/>
                      </a:lnTo>
                      <a:lnTo>
                        <a:pt x="740" y="152"/>
                      </a:lnTo>
                      <a:lnTo>
                        <a:pt x="744" y="153"/>
                      </a:lnTo>
                      <a:lnTo>
                        <a:pt x="747" y="153"/>
                      </a:lnTo>
                      <a:lnTo>
                        <a:pt x="750" y="153"/>
                      </a:lnTo>
                      <a:lnTo>
                        <a:pt x="754" y="150"/>
                      </a:lnTo>
                      <a:lnTo>
                        <a:pt x="757" y="146"/>
                      </a:lnTo>
                      <a:lnTo>
                        <a:pt x="760" y="143"/>
                      </a:lnTo>
                      <a:lnTo>
                        <a:pt x="763" y="141"/>
                      </a:lnTo>
                      <a:lnTo>
                        <a:pt x="767" y="142"/>
                      </a:lnTo>
                      <a:lnTo>
                        <a:pt x="770" y="142"/>
                      </a:lnTo>
                      <a:lnTo>
                        <a:pt x="773" y="142"/>
                      </a:lnTo>
                      <a:lnTo>
                        <a:pt x="776" y="143"/>
                      </a:lnTo>
                      <a:lnTo>
                        <a:pt x="780" y="143"/>
                      </a:lnTo>
                      <a:lnTo>
                        <a:pt x="783" y="143"/>
                      </a:lnTo>
                      <a:lnTo>
                        <a:pt x="786" y="143"/>
                      </a:lnTo>
                      <a:lnTo>
                        <a:pt x="789" y="142"/>
                      </a:lnTo>
                    </a:path>
                  </a:pathLst>
                </a:custGeom>
                <a:noFill/>
                <a:ln w="12700" cap="flat">
                  <a:solidFill>
                    <a:srgbClr val="FF5736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" name="Freeform 170">
                  <a:extLst>
                    <a:ext uri="{FF2B5EF4-FFF2-40B4-BE49-F238E27FC236}">
                      <a16:creationId xmlns:a16="http://schemas.microsoft.com/office/drawing/2014/main" id="{52385F3A-2271-4116-9FC9-6E18B1E460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486479" y="3358542"/>
                  <a:ext cx="817492" cy="549173"/>
                </a:xfrm>
                <a:custGeom>
                  <a:avLst/>
                  <a:gdLst>
                    <a:gd name="T0" fmla="*/ 10 w 786"/>
                    <a:gd name="T1" fmla="*/ 315 h 636"/>
                    <a:gd name="T2" fmla="*/ 24 w 786"/>
                    <a:gd name="T3" fmla="*/ 320 h 636"/>
                    <a:gd name="T4" fmla="*/ 36 w 786"/>
                    <a:gd name="T5" fmla="*/ 318 h 636"/>
                    <a:gd name="T6" fmla="*/ 50 w 786"/>
                    <a:gd name="T7" fmla="*/ 314 h 636"/>
                    <a:gd name="T8" fmla="*/ 62 w 786"/>
                    <a:gd name="T9" fmla="*/ 318 h 636"/>
                    <a:gd name="T10" fmla="*/ 76 w 786"/>
                    <a:gd name="T11" fmla="*/ 322 h 636"/>
                    <a:gd name="T12" fmla="*/ 88 w 786"/>
                    <a:gd name="T13" fmla="*/ 315 h 636"/>
                    <a:gd name="T14" fmla="*/ 102 w 786"/>
                    <a:gd name="T15" fmla="*/ 315 h 636"/>
                    <a:gd name="T16" fmla="*/ 115 w 786"/>
                    <a:gd name="T17" fmla="*/ 305 h 636"/>
                    <a:gd name="T18" fmla="*/ 128 w 786"/>
                    <a:gd name="T19" fmla="*/ 231 h 636"/>
                    <a:gd name="T20" fmla="*/ 141 w 786"/>
                    <a:gd name="T21" fmla="*/ 100 h 636"/>
                    <a:gd name="T22" fmla="*/ 154 w 786"/>
                    <a:gd name="T23" fmla="*/ 274 h 636"/>
                    <a:gd name="T24" fmla="*/ 167 w 786"/>
                    <a:gd name="T25" fmla="*/ 526 h 636"/>
                    <a:gd name="T26" fmla="*/ 180 w 786"/>
                    <a:gd name="T27" fmla="*/ 431 h 636"/>
                    <a:gd name="T28" fmla="*/ 193 w 786"/>
                    <a:gd name="T29" fmla="*/ 337 h 636"/>
                    <a:gd name="T30" fmla="*/ 206 w 786"/>
                    <a:gd name="T31" fmla="*/ 315 h 636"/>
                    <a:gd name="T32" fmla="*/ 219 w 786"/>
                    <a:gd name="T33" fmla="*/ 320 h 636"/>
                    <a:gd name="T34" fmla="*/ 232 w 786"/>
                    <a:gd name="T35" fmla="*/ 322 h 636"/>
                    <a:gd name="T36" fmla="*/ 245 w 786"/>
                    <a:gd name="T37" fmla="*/ 318 h 636"/>
                    <a:gd name="T38" fmla="*/ 258 w 786"/>
                    <a:gd name="T39" fmla="*/ 318 h 636"/>
                    <a:gd name="T40" fmla="*/ 271 w 786"/>
                    <a:gd name="T41" fmla="*/ 309 h 636"/>
                    <a:gd name="T42" fmla="*/ 284 w 786"/>
                    <a:gd name="T43" fmla="*/ 262 h 636"/>
                    <a:gd name="T44" fmla="*/ 297 w 786"/>
                    <a:gd name="T45" fmla="*/ 234 h 636"/>
                    <a:gd name="T46" fmla="*/ 310 w 786"/>
                    <a:gd name="T47" fmla="*/ 339 h 636"/>
                    <a:gd name="T48" fmla="*/ 323 w 786"/>
                    <a:gd name="T49" fmla="*/ 374 h 636"/>
                    <a:gd name="T50" fmla="*/ 336 w 786"/>
                    <a:gd name="T51" fmla="*/ 379 h 636"/>
                    <a:gd name="T52" fmla="*/ 349 w 786"/>
                    <a:gd name="T53" fmla="*/ 344 h 636"/>
                    <a:gd name="T54" fmla="*/ 362 w 786"/>
                    <a:gd name="T55" fmla="*/ 321 h 636"/>
                    <a:gd name="T56" fmla="*/ 375 w 786"/>
                    <a:gd name="T57" fmla="*/ 314 h 636"/>
                    <a:gd name="T58" fmla="*/ 388 w 786"/>
                    <a:gd name="T59" fmla="*/ 318 h 636"/>
                    <a:gd name="T60" fmla="*/ 402 w 786"/>
                    <a:gd name="T61" fmla="*/ 316 h 636"/>
                    <a:gd name="T62" fmla="*/ 414 w 786"/>
                    <a:gd name="T63" fmla="*/ 313 h 636"/>
                    <a:gd name="T64" fmla="*/ 428 w 786"/>
                    <a:gd name="T65" fmla="*/ 279 h 636"/>
                    <a:gd name="T66" fmla="*/ 441 w 786"/>
                    <a:gd name="T67" fmla="*/ 101 h 636"/>
                    <a:gd name="T68" fmla="*/ 454 w 786"/>
                    <a:gd name="T69" fmla="*/ 70 h 636"/>
                    <a:gd name="T70" fmla="*/ 467 w 786"/>
                    <a:gd name="T71" fmla="*/ 456 h 636"/>
                    <a:gd name="T72" fmla="*/ 480 w 786"/>
                    <a:gd name="T73" fmla="*/ 618 h 636"/>
                    <a:gd name="T74" fmla="*/ 493 w 786"/>
                    <a:gd name="T75" fmla="*/ 430 h 636"/>
                    <a:gd name="T76" fmla="*/ 506 w 786"/>
                    <a:gd name="T77" fmla="*/ 324 h 636"/>
                    <a:gd name="T78" fmla="*/ 519 w 786"/>
                    <a:gd name="T79" fmla="*/ 318 h 636"/>
                    <a:gd name="T80" fmla="*/ 532 w 786"/>
                    <a:gd name="T81" fmla="*/ 318 h 636"/>
                    <a:gd name="T82" fmla="*/ 545 w 786"/>
                    <a:gd name="T83" fmla="*/ 319 h 636"/>
                    <a:gd name="T84" fmla="*/ 558 w 786"/>
                    <a:gd name="T85" fmla="*/ 314 h 636"/>
                    <a:gd name="T86" fmla="*/ 571 w 786"/>
                    <a:gd name="T87" fmla="*/ 291 h 636"/>
                    <a:gd name="T88" fmla="*/ 584 w 786"/>
                    <a:gd name="T89" fmla="*/ 191 h 636"/>
                    <a:gd name="T90" fmla="*/ 597 w 786"/>
                    <a:gd name="T91" fmla="*/ 171 h 636"/>
                    <a:gd name="T92" fmla="*/ 610 w 786"/>
                    <a:gd name="T93" fmla="*/ 330 h 636"/>
                    <a:gd name="T94" fmla="*/ 623 w 786"/>
                    <a:gd name="T95" fmla="*/ 480 h 636"/>
                    <a:gd name="T96" fmla="*/ 636 w 786"/>
                    <a:gd name="T97" fmla="*/ 417 h 636"/>
                    <a:gd name="T98" fmla="*/ 649 w 786"/>
                    <a:gd name="T99" fmla="*/ 340 h 636"/>
                    <a:gd name="T100" fmla="*/ 662 w 786"/>
                    <a:gd name="T101" fmla="*/ 338 h 636"/>
                    <a:gd name="T102" fmla="*/ 675 w 786"/>
                    <a:gd name="T103" fmla="*/ 346 h 636"/>
                    <a:gd name="T104" fmla="*/ 688 w 786"/>
                    <a:gd name="T105" fmla="*/ 335 h 636"/>
                    <a:gd name="T106" fmla="*/ 701 w 786"/>
                    <a:gd name="T107" fmla="*/ 336 h 636"/>
                    <a:gd name="T108" fmla="*/ 714 w 786"/>
                    <a:gd name="T109" fmla="*/ 311 h 636"/>
                    <a:gd name="T110" fmla="*/ 727 w 786"/>
                    <a:gd name="T111" fmla="*/ 353 h 636"/>
                    <a:gd name="T112" fmla="*/ 740 w 786"/>
                    <a:gd name="T113" fmla="*/ 329 h 636"/>
                    <a:gd name="T114" fmla="*/ 754 w 786"/>
                    <a:gd name="T115" fmla="*/ 322 h 636"/>
                    <a:gd name="T116" fmla="*/ 767 w 786"/>
                    <a:gd name="T117" fmla="*/ 322 h 636"/>
                    <a:gd name="T118" fmla="*/ 780 w 786"/>
                    <a:gd name="T119" fmla="*/ 323 h 6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786" h="636">
                      <a:moveTo>
                        <a:pt x="0" y="315"/>
                      </a:moveTo>
                      <a:lnTo>
                        <a:pt x="4" y="315"/>
                      </a:lnTo>
                      <a:lnTo>
                        <a:pt x="7" y="315"/>
                      </a:lnTo>
                      <a:lnTo>
                        <a:pt x="10" y="315"/>
                      </a:lnTo>
                      <a:lnTo>
                        <a:pt x="14" y="319"/>
                      </a:lnTo>
                      <a:lnTo>
                        <a:pt x="17" y="320"/>
                      </a:lnTo>
                      <a:lnTo>
                        <a:pt x="20" y="320"/>
                      </a:lnTo>
                      <a:lnTo>
                        <a:pt x="24" y="320"/>
                      </a:lnTo>
                      <a:lnTo>
                        <a:pt x="27" y="320"/>
                      </a:lnTo>
                      <a:lnTo>
                        <a:pt x="30" y="325"/>
                      </a:lnTo>
                      <a:lnTo>
                        <a:pt x="33" y="321"/>
                      </a:lnTo>
                      <a:lnTo>
                        <a:pt x="36" y="318"/>
                      </a:lnTo>
                      <a:lnTo>
                        <a:pt x="40" y="315"/>
                      </a:lnTo>
                      <a:lnTo>
                        <a:pt x="43" y="312"/>
                      </a:lnTo>
                      <a:lnTo>
                        <a:pt x="46" y="315"/>
                      </a:lnTo>
                      <a:lnTo>
                        <a:pt x="50" y="314"/>
                      </a:lnTo>
                      <a:lnTo>
                        <a:pt x="53" y="315"/>
                      </a:lnTo>
                      <a:lnTo>
                        <a:pt x="56" y="315"/>
                      </a:lnTo>
                      <a:lnTo>
                        <a:pt x="59" y="317"/>
                      </a:lnTo>
                      <a:lnTo>
                        <a:pt x="62" y="318"/>
                      </a:lnTo>
                      <a:lnTo>
                        <a:pt x="66" y="320"/>
                      </a:lnTo>
                      <a:lnTo>
                        <a:pt x="69" y="322"/>
                      </a:lnTo>
                      <a:lnTo>
                        <a:pt x="72" y="322"/>
                      </a:lnTo>
                      <a:lnTo>
                        <a:pt x="76" y="322"/>
                      </a:lnTo>
                      <a:lnTo>
                        <a:pt x="79" y="323"/>
                      </a:lnTo>
                      <a:lnTo>
                        <a:pt x="82" y="318"/>
                      </a:lnTo>
                      <a:lnTo>
                        <a:pt x="85" y="317"/>
                      </a:lnTo>
                      <a:lnTo>
                        <a:pt x="88" y="315"/>
                      </a:lnTo>
                      <a:lnTo>
                        <a:pt x="92" y="315"/>
                      </a:lnTo>
                      <a:lnTo>
                        <a:pt x="95" y="315"/>
                      </a:lnTo>
                      <a:lnTo>
                        <a:pt x="98" y="316"/>
                      </a:lnTo>
                      <a:lnTo>
                        <a:pt x="102" y="315"/>
                      </a:lnTo>
                      <a:lnTo>
                        <a:pt x="105" y="315"/>
                      </a:lnTo>
                      <a:lnTo>
                        <a:pt x="108" y="314"/>
                      </a:lnTo>
                      <a:lnTo>
                        <a:pt x="111" y="309"/>
                      </a:lnTo>
                      <a:lnTo>
                        <a:pt x="115" y="305"/>
                      </a:lnTo>
                      <a:lnTo>
                        <a:pt x="118" y="297"/>
                      </a:lnTo>
                      <a:lnTo>
                        <a:pt x="121" y="282"/>
                      </a:lnTo>
                      <a:lnTo>
                        <a:pt x="124" y="261"/>
                      </a:lnTo>
                      <a:lnTo>
                        <a:pt x="128" y="231"/>
                      </a:lnTo>
                      <a:lnTo>
                        <a:pt x="131" y="195"/>
                      </a:lnTo>
                      <a:lnTo>
                        <a:pt x="134" y="154"/>
                      </a:lnTo>
                      <a:lnTo>
                        <a:pt x="137" y="121"/>
                      </a:lnTo>
                      <a:lnTo>
                        <a:pt x="141" y="100"/>
                      </a:lnTo>
                      <a:lnTo>
                        <a:pt x="144" y="104"/>
                      </a:lnTo>
                      <a:lnTo>
                        <a:pt x="147" y="137"/>
                      </a:lnTo>
                      <a:lnTo>
                        <a:pt x="151" y="192"/>
                      </a:lnTo>
                      <a:lnTo>
                        <a:pt x="154" y="274"/>
                      </a:lnTo>
                      <a:lnTo>
                        <a:pt x="157" y="353"/>
                      </a:lnTo>
                      <a:lnTo>
                        <a:pt x="160" y="427"/>
                      </a:lnTo>
                      <a:lnTo>
                        <a:pt x="163" y="496"/>
                      </a:lnTo>
                      <a:lnTo>
                        <a:pt x="167" y="526"/>
                      </a:lnTo>
                      <a:lnTo>
                        <a:pt x="170" y="528"/>
                      </a:lnTo>
                      <a:lnTo>
                        <a:pt x="173" y="502"/>
                      </a:lnTo>
                      <a:lnTo>
                        <a:pt x="177" y="463"/>
                      </a:lnTo>
                      <a:lnTo>
                        <a:pt x="180" y="431"/>
                      </a:lnTo>
                      <a:lnTo>
                        <a:pt x="183" y="399"/>
                      </a:lnTo>
                      <a:lnTo>
                        <a:pt x="186" y="371"/>
                      </a:lnTo>
                      <a:lnTo>
                        <a:pt x="190" y="351"/>
                      </a:lnTo>
                      <a:lnTo>
                        <a:pt x="193" y="337"/>
                      </a:lnTo>
                      <a:lnTo>
                        <a:pt x="196" y="326"/>
                      </a:lnTo>
                      <a:lnTo>
                        <a:pt x="199" y="321"/>
                      </a:lnTo>
                      <a:lnTo>
                        <a:pt x="203" y="318"/>
                      </a:lnTo>
                      <a:lnTo>
                        <a:pt x="206" y="315"/>
                      </a:lnTo>
                      <a:lnTo>
                        <a:pt x="209" y="317"/>
                      </a:lnTo>
                      <a:lnTo>
                        <a:pt x="213" y="317"/>
                      </a:lnTo>
                      <a:lnTo>
                        <a:pt x="216" y="317"/>
                      </a:lnTo>
                      <a:lnTo>
                        <a:pt x="219" y="320"/>
                      </a:lnTo>
                      <a:lnTo>
                        <a:pt x="222" y="321"/>
                      </a:lnTo>
                      <a:lnTo>
                        <a:pt x="225" y="323"/>
                      </a:lnTo>
                      <a:lnTo>
                        <a:pt x="229" y="322"/>
                      </a:lnTo>
                      <a:lnTo>
                        <a:pt x="232" y="322"/>
                      </a:lnTo>
                      <a:lnTo>
                        <a:pt x="235" y="324"/>
                      </a:lnTo>
                      <a:lnTo>
                        <a:pt x="239" y="324"/>
                      </a:lnTo>
                      <a:lnTo>
                        <a:pt x="242" y="320"/>
                      </a:lnTo>
                      <a:lnTo>
                        <a:pt x="245" y="318"/>
                      </a:lnTo>
                      <a:lnTo>
                        <a:pt x="248" y="318"/>
                      </a:lnTo>
                      <a:lnTo>
                        <a:pt x="251" y="320"/>
                      </a:lnTo>
                      <a:lnTo>
                        <a:pt x="255" y="323"/>
                      </a:lnTo>
                      <a:lnTo>
                        <a:pt x="258" y="318"/>
                      </a:lnTo>
                      <a:lnTo>
                        <a:pt x="261" y="318"/>
                      </a:lnTo>
                      <a:lnTo>
                        <a:pt x="265" y="320"/>
                      </a:lnTo>
                      <a:lnTo>
                        <a:pt x="268" y="314"/>
                      </a:lnTo>
                      <a:lnTo>
                        <a:pt x="271" y="309"/>
                      </a:lnTo>
                      <a:lnTo>
                        <a:pt x="274" y="302"/>
                      </a:lnTo>
                      <a:lnTo>
                        <a:pt x="278" y="291"/>
                      </a:lnTo>
                      <a:lnTo>
                        <a:pt x="281" y="277"/>
                      </a:lnTo>
                      <a:lnTo>
                        <a:pt x="284" y="262"/>
                      </a:lnTo>
                      <a:lnTo>
                        <a:pt x="287" y="247"/>
                      </a:lnTo>
                      <a:lnTo>
                        <a:pt x="291" y="234"/>
                      </a:lnTo>
                      <a:lnTo>
                        <a:pt x="294" y="226"/>
                      </a:lnTo>
                      <a:lnTo>
                        <a:pt x="297" y="234"/>
                      </a:lnTo>
                      <a:lnTo>
                        <a:pt x="300" y="261"/>
                      </a:lnTo>
                      <a:lnTo>
                        <a:pt x="304" y="286"/>
                      </a:lnTo>
                      <a:lnTo>
                        <a:pt x="307" y="312"/>
                      </a:lnTo>
                      <a:lnTo>
                        <a:pt x="310" y="339"/>
                      </a:lnTo>
                      <a:lnTo>
                        <a:pt x="314" y="354"/>
                      </a:lnTo>
                      <a:lnTo>
                        <a:pt x="317" y="363"/>
                      </a:lnTo>
                      <a:lnTo>
                        <a:pt x="320" y="369"/>
                      </a:lnTo>
                      <a:lnTo>
                        <a:pt x="323" y="374"/>
                      </a:lnTo>
                      <a:lnTo>
                        <a:pt x="326" y="381"/>
                      </a:lnTo>
                      <a:lnTo>
                        <a:pt x="330" y="385"/>
                      </a:lnTo>
                      <a:lnTo>
                        <a:pt x="333" y="386"/>
                      </a:lnTo>
                      <a:lnTo>
                        <a:pt x="336" y="379"/>
                      </a:lnTo>
                      <a:lnTo>
                        <a:pt x="340" y="372"/>
                      </a:lnTo>
                      <a:lnTo>
                        <a:pt x="343" y="361"/>
                      </a:lnTo>
                      <a:lnTo>
                        <a:pt x="346" y="352"/>
                      </a:lnTo>
                      <a:lnTo>
                        <a:pt x="349" y="344"/>
                      </a:lnTo>
                      <a:lnTo>
                        <a:pt x="352" y="331"/>
                      </a:lnTo>
                      <a:lnTo>
                        <a:pt x="356" y="328"/>
                      </a:lnTo>
                      <a:lnTo>
                        <a:pt x="359" y="323"/>
                      </a:lnTo>
                      <a:lnTo>
                        <a:pt x="362" y="321"/>
                      </a:lnTo>
                      <a:lnTo>
                        <a:pt x="366" y="316"/>
                      </a:lnTo>
                      <a:lnTo>
                        <a:pt x="369" y="314"/>
                      </a:lnTo>
                      <a:lnTo>
                        <a:pt x="372" y="313"/>
                      </a:lnTo>
                      <a:lnTo>
                        <a:pt x="375" y="314"/>
                      </a:lnTo>
                      <a:lnTo>
                        <a:pt x="379" y="314"/>
                      </a:lnTo>
                      <a:lnTo>
                        <a:pt x="382" y="315"/>
                      </a:lnTo>
                      <a:lnTo>
                        <a:pt x="385" y="317"/>
                      </a:lnTo>
                      <a:lnTo>
                        <a:pt x="388" y="318"/>
                      </a:lnTo>
                      <a:lnTo>
                        <a:pt x="392" y="317"/>
                      </a:lnTo>
                      <a:lnTo>
                        <a:pt x="395" y="317"/>
                      </a:lnTo>
                      <a:lnTo>
                        <a:pt x="398" y="314"/>
                      </a:lnTo>
                      <a:lnTo>
                        <a:pt x="402" y="316"/>
                      </a:lnTo>
                      <a:lnTo>
                        <a:pt x="405" y="320"/>
                      </a:lnTo>
                      <a:lnTo>
                        <a:pt x="408" y="317"/>
                      </a:lnTo>
                      <a:lnTo>
                        <a:pt x="411" y="315"/>
                      </a:lnTo>
                      <a:lnTo>
                        <a:pt x="414" y="313"/>
                      </a:lnTo>
                      <a:lnTo>
                        <a:pt x="418" y="308"/>
                      </a:lnTo>
                      <a:lnTo>
                        <a:pt x="421" y="302"/>
                      </a:lnTo>
                      <a:lnTo>
                        <a:pt x="424" y="294"/>
                      </a:lnTo>
                      <a:lnTo>
                        <a:pt x="428" y="279"/>
                      </a:lnTo>
                      <a:lnTo>
                        <a:pt x="431" y="254"/>
                      </a:lnTo>
                      <a:lnTo>
                        <a:pt x="434" y="215"/>
                      </a:lnTo>
                      <a:lnTo>
                        <a:pt x="437" y="163"/>
                      </a:lnTo>
                      <a:lnTo>
                        <a:pt x="441" y="101"/>
                      </a:lnTo>
                      <a:lnTo>
                        <a:pt x="444" y="41"/>
                      </a:lnTo>
                      <a:lnTo>
                        <a:pt x="447" y="0"/>
                      </a:lnTo>
                      <a:lnTo>
                        <a:pt x="450" y="7"/>
                      </a:lnTo>
                      <a:lnTo>
                        <a:pt x="454" y="70"/>
                      </a:lnTo>
                      <a:lnTo>
                        <a:pt x="457" y="150"/>
                      </a:lnTo>
                      <a:lnTo>
                        <a:pt x="460" y="252"/>
                      </a:lnTo>
                      <a:lnTo>
                        <a:pt x="463" y="356"/>
                      </a:lnTo>
                      <a:lnTo>
                        <a:pt x="467" y="456"/>
                      </a:lnTo>
                      <a:lnTo>
                        <a:pt x="470" y="551"/>
                      </a:lnTo>
                      <a:lnTo>
                        <a:pt x="473" y="614"/>
                      </a:lnTo>
                      <a:lnTo>
                        <a:pt x="477" y="636"/>
                      </a:lnTo>
                      <a:lnTo>
                        <a:pt x="480" y="618"/>
                      </a:lnTo>
                      <a:lnTo>
                        <a:pt x="483" y="571"/>
                      </a:lnTo>
                      <a:lnTo>
                        <a:pt x="486" y="516"/>
                      </a:lnTo>
                      <a:lnTo>
                        <a:pt x="489" y="469"/>
                      </a:lnTo>
                      <a:lnTo>
                        <a:pt x="493" y="430"/>
                      </a:lnTo>
                      <a:lnTo>
                        <a:pt x="496" y="391"/>
                      </a:lnTo>
                      <a:lnTo>
                        <a:pt x="499" y="363"/>
                      </a:lnTo>
                      <a:lnTo>
                        <a:pt x="503" y="337"/>
                      </a:lnTo>
                      <a:lnTo>
                        <a:pt x="506" y="324"/>
                      </a:lnTo>
                      <a:lnTo>
                        <a:pt x="509" y="318"/>
                      </a:lnTo>
                      <a:lnTo>
                        <a:pt x="512" y="316"/>
                      </a:lnTo>
                      <a:lnTo>
                        <a:pt x="515" y="316"/>
                      </a:lnTo>
                      <a:lnTo>
                        <a:pt x="519" y="318"/>
                      </a:lnTo>
                      <a:lnTo>
                        <a:pt x="522" y="315"/>
                      </a:lnTo>
                      <a:lnTo>
                        <a:pt x="525" y="315"/>
                      </a:lnTo>
                      <a:lnTo>
                        <a:pt x="529" y="316"/>
                      </a:lnTo>
                      <a:lnTo>
                        <a:pt x="532" y="318"/>
                      </a:lnTo>
                      <a:lnTo>
                        <a:pt x="535" y="319"/>
                      </a:lnTo>
                      <a:lnTo>
                        <a:pt x="538" y="319"/>
                      </a:lnTo>
                      <a:lnTo>
                        <a:pt x="541" y="320"/>
                      </a:lnTo>
                      <a:lnTo>
                        <a:pt x="545" y="319"/>
                      </a:lnTo>
                      <a:lnTo>
                        <a:pt x="548" y="319"/>
                      </a:lnTo>
                      <a:lnTo>
                        <a:pt x="551" y="321"/>
                      </a:lnTo>
                      <a:lnTo>
                        <a:pt x="555" y="320"/>
                      </a:lnTo>
                      <a:lnTo>
                        <a:pt x="558" y="314"/>
                      </a:lnTo>
                      <a:lnTo>
                        <a:pt x="561" y="310"/>
                      </a:lnTo>
                      <a:lnTo>
                        <a:pt x="565" y="305"/>
                      </a:lnTo>
                      <a:lnTo>
                        <a:pt x="568" y="301"/>
                      </a:lnTo>
                      <a:lnTo>
                        <a:pt x="571" y="291"/>
                      </a:lnTo>
                      <a:lnTo>
                        <a:pt x="574" y="277"/>
                      </a:lnTo>
                      <a:lnTo>
                        <a:pt x="577" y="254"/>
                      </a:lnTo>
                      <a:lnTo>
                        <a:pt x="581" y="222"/>
                      </a:lnTo>
                      <a:lnTo>
                        <a:pt x="584" y="191"/>
                      </a:lnTo>
                      <a:lnTo>
                        <a:pt x="587" y="163"/>
                      </a:lnTo>
                      <a:lnTo>
                        <a:pt x="591" y="146"/>
                      </a:lnTo>
                      <a:lnTo>
                        <a:pt x="594" y="148"/>
                      </a:lnTo>
                      <a:lnTo>
                        <a:pt x="597" y="171"/>
                      </a:lnTo>
                      <a:lnTo>
                        <a:pt x="600" y="208"/>
                      </a:lnTo>
                      <a:lnTo>
                        <a:pt x="604" y="254"/>
                      </a:lnTo>
                      <a:lnTo>
                        <a:pt x="607" y="293"/>
                      </a:lnTo>
                      <a:lnTo>
                        <a:pt x="610" y="330"/>
                      </a:lnTo>
                      <a:lnTo>
                        <a:pt x="613" y="369"/>
                      </a:lnTo>
                      <a:lnTo>
                        <a:pt x="617" y="411"/>
                      </a:lnTo>
                      <a:lnTo>
                        <a:pt x="620" y="451"/>
                      </a:lnTo>
                      <a:lnTo>
                        <a:pt x="623" y="480"/>
                      </a:lnTo>
                      <a:lnTo>
                        <a:pt x="626" y="496"/>
                      </a:lnTo>
                      <a:lnTo>
                        <a:pt x="630" y="486"/>
                      </a:lnTo>
                      <a:lnTo>
                        <a:pt x="633" y="454"/>
                      </a:lnTo>
                      <a:lnTo>
                        <a:pt x="636" y="417"/>
                      </a:lnTo>
                      <a:lnTo>
                        <a:pt x="640" y="379"/>
                      </a:lnTo>
                      <a:lnTo>
                        <a:pt x="643" y="355"/>
                      </a:lnTo>
                      <a:lnTo>
                        <a:pt x="646" y="346"/>
                      </a:lnTo>
                      <a:lnTo>
                        <a:pt x="649" y="340"/>
                      </a:lnTo>
                      <a:lnTo>
                        <a:pt x="652" y="334"/>
                      </a:lnTo>
                      <a:lnTo>
                        <a:pt x="656" y="332"/>
                      </a:lnTo>
                      <a:lnTo>
                        <a:pt x="659" y="335"/>
                      </a:lnTo>
                      <a:lnTo>
                        <a:pt x="662" y="338"/>
                      </a:lnTo>
                      <a:lnTo>
                        <a:pt x="666" y="345"/>
                      </a:lnTo>
                      <a:lnTo>
                        <a:pt x="669" y="360"/>
                      </a:lnTo>
                      <a:lnTo>
                        <a:pt x="672" y="357"/>
                      </a:lnTo>
                      <a:lnTo>
                        <a:pt x="675" y="346"/>
                      </a:lnTo>
                      <a:lnTo>
                        <a:pt x="678" y="340"/>
                      </a:lnTo>
                      <a:lnTo>
                        <a:pt x="682" y="340"/>
                      </a:lnTo>
                      <a:lnTo>
                        <a:pt x="685" y="338"/>
                      </a:lnTo>
                      <a:lnTo>
                        <a:pt x="688" y="335"/>
                      </a:lnTo>
                      <a:lnTo>
                        <a:pt x="692" y="332"/>
                      </a:lnTo>
                      <a:lnTo>
                        <a:pt x="695" y="326"/>
                      </a:lnTo>
                      <a:lnTo>
                        <a:pt x="698" y="326"/>
                      </a:lnTo>
                      <a:lnTo>
                        <a:pt x="701" y="336"/>
                      </a:lnTo>
                      <a:lnTo>
                        <a:pt x="704" y="346"/>
                      </a:lnTo>
                      <a:lnTo>
                        <a:pt x="708" y="340"/>
                      </a:lnTo>
                      <a:lnTo>
                        <a:pt x="711" y="328"/>
                      </a:lnTo>
                      <a:lnTo>
                        <a:pt x="714" y="311"/>
                      </a:lnTo>
                      <a:lnTo>
                        <a:pt x="718" y="299"/>
                      </a:lnTo>
                      <a:lnTo>
                        <a:pt x="721" y="306"/>
                      </a:lnTo>
                      <a:lnTo>
                        <a:pt x="724" y="334"/>
                      </a:lnTo>
                      <a:lnTo>
                        <a:pt x="727" y="353"/>
                      </a:lnTo>
                      <a:lnTo>
                        <a:pt x="731" y="350"/>
                      </a:lnTo>
                      <a:lnTo>
                        <a:pt x="734" y="344"/>
                      </a:lnTo>
                      <a:lnTo>
                        <a:pt x="737" y="334"/>
                      </a:lnTo>
                      <a:lnTo>
                        <a:pt x="740" y="329"/>
                      </a:lnTo>
                      <a:lnTo>
                        <a:pt x="744" y="326"/>
                      </a:lnTo>
                      <a:lnTo>
                        <a:pt x="747" y="326"/>
                      </a:lnTo>
                      <a:lnTo>
                        <a:pt x="750" y="325"/>
                      </a:lnTo>
                      <a:lnTo>
                        <a:pt x="754" y="322"/>
                      </a:lnTo>
                      <a:lnTo>
                        <a:pt x="757" y="322"/>
                      </a:lnTo>
                      <a:lnTo>
                        <a:pt x="760" y="324"/>
                      </a:lnTo>
                      <a:lnTo>
                        <a:pt x="763" y="325"/>
                      </a:lnTo>
                      <a:lnTo>
                        <a:pt x="767" y="322"/>
                      </a:lnTo>
                      <a:lnTo>
                        <a:pt x="770" y="317"/>
                      </a:lnTo>
                      <a:lnTo>
                        <a:pt x="773" y="316"/>
                      </a:lnTo>
                      <a:lnTo>
                        <a:pt x="776" y="319"/>
                      </a:lnTo>
                      <a:lnTo>
                        <a:pt x="780" y="323"/>
                      </a:lnTo>
                      <a:lnTo>
                        <a:pt x="783" y="323"/>
                      </a:lnTo>
                      <a:lnTo>
                        <a:pt x="786" y="327"/>
                      </a:lnTo>
                    </a:path>
                  </a:pathLst>
                </a:custGeom>
                <a:noFill/>
                <a:ln w="12700" cap="flat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70" name="箭头: 右 69">
              <a:extLst>
                <a:ext uri="{FF2B5EF4-FFF2-40B4-BE49-F238E27FC236}">
                  <a16:creationId xmlns:a16="http://schemas.microsoft.com/office/drawing/2014/main" id="{01DAA2B5-013A-4121-9785-55CF775D2281}"/>
                </a:ext>
              </a:extLst>
            </p:cNvPr>
            <p:cNvSpPr/>
            <p:nvPr/>
          </p:nvSpPr>
          <p:spPr>
            <a:xfrm>
              <a:off x="10038764" y="2950763"/>
              <a:ext cx="468140" cy="22609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346E37E-E5A7-4729-99D8-5F87CD04F7F6}"/>
                </a:ext>
              </a:extLst>
            </p:cNvPr>
            <p:cNvSpPr txBox="1"/>
            <p:nvPr/>
          </p:nvSpPr>
          <p:spPr>
            <a:xfrm>
              <a:off x="8812092" y="3457433"/>
              <a:ext cx="1813479" cy="350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1400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Data Matching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367ABD7B-FA05-4868-BF16-65D58FD9DD77}"/>
                </a:ext>
              </a:extLst>
            </p:cNvPr>
            <p:cNvSpPr txBox="1"/>
            <p:nvPr/>
          </p:nvSpPr>
          <p:spPr>
            <a:xfrm>
              <a:off x="10549707" y="3416416"/>
              <a:ext cx="2183200" cy="350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1400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Location Estimation</a:t>
              </a:r>
              <a:endParaRPr lang="zh-CN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箭头: 右 72">
              <a:extLst>
                <a:ext uri="{FF2B5EF4-FFF2-40B4-BE49-F238E27FC236}">
                  <a16:creationId xmlns:a16="http://schemas.microsoft.com/office/drawing/2014/main" id="{3174A0C8-B9C1-46FB-905F-1CC70BC93E98}"/>
                </a:ext>
              </a:extLst>
            </p:cNvPr>
            <p:cNvSpPr/>
            <p:nvPr/>
          </p:nvSpPr>
          <p:spPr>
            <a:xfrm rot="19966016">
              <a:off x="6713339" y="2239922"/>
              <a:ext cx="848212" cy="253087"/>
            </a:xfrm>
            <a:prstGeom prst="rightArrow">
              <a:avLst/>
            </a:prstGeom>
            <a:gradFill>
              <a:gsLst>
                <a:gs pos="38000">
                  <a:srgbClr val="FFAE78"/>
                </a:gs>
                <a:gs pos="0">
                  <a:srgbClr val="FF6600"/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箭头: 右 73">
              <a:extLst>
                <a:ext uri="{FF2B5EF4-FFF2-40B4-BE49-F238E27FC236}">
                  <a16:creationId xmlns:a16="http://schemas.microsoft.com/office/drawing/2014/main" id="{E8EDD39D-DEE7-495D-893A-E76ECCAF88B2}"/>
                </a:ext>
              </a:extLst>
            </p:cNvPr>
            <p:cNvSpPr/>
            <p:nvPr/>
          </p:nvSpPr>
          <p:spPr>
            <a:xfrm rot="1823113">
              <a:off x="6738914" y="3541893"/>
              <a:ext cx="841930" cy="258908"/>
            </a:xfrm>
            <a:prstGeom prst="rightArrow">
              <a:avLst>
                <a:gd name="adj1" fmla="val 56955"/>
                <a:gd name="adj2" fmla="val 50000"/>
              </a:avLst>
            </a:prstGeom>
            <a:gradFill flip="none" rotWithShape="1">
              <a:gsLst>
                <a:gs pos="48000">
                  <a:srgbClr val="9E9E9E"/>
                </a:gs>
                <a:gs pos="0">
                  <a:srgbClr val="595959"/>
                </a:gs>
                <a:gs pos="100000">
                  <a:schemeClr val="bg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箭头: 右 74">
              <a:extLst>
                <a:ext uri="{FF2B5EF4-FFF2-40B4-BE49-F238E27FC236}">
                  <a16:creationId xmlns:a16="http://schemas.microsoft.com/office/drawing/2014/main" id="{7A4157A1-BB99-4B9D-89C5-4D98A9535453}"/>
                </a:ext>
              </a:extLst>
            </p:cNvPr>
            <p:cNvSpPr/>
            <p:nvPr/>
          </p:nvSpPr>
          <p:spPr>
            <a:xfrm rot="2732792">
              <a:off x="8412613" y="2325963"/>
              <a:ext cx="660002" cy="253087"/>
            </a:xfrm>
            <a:prstGeom prst="rightArrow">
              <a:avLst/>
            </a:prstGeom>
            <a:gradFill>
              <a:gsLst>
                <a:gs pos="38000">
                  <a:srgbClr val="FFAE78"/>
                </a:gs>
                <a:gs pos="0">
                  <a:srgbClr val="FF6600"/>
                </a:gs>
                <a:gs pos="100000">
                  <a:schemeClr val="bg1"/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箭头: 右 75">
              <a:extLst>
                <a:ext uri="{FF2B5EF4-FFF2-40B4-BE49-F238E27FC236}">
                  <a16:creationId xmlns:a16="http://schemas.microsoft.com/office/drawing/2014/main" id="{7ABB0775-F31F-49AA-8C0F-D2DB8E9BF40A}"/>
                </a:ext>
              </a:extLst>
            </p:cNvPr>
            <p:cNvSpPr/>
            <p:nvPr/>
          </p:nvSpPr>
          <p:spPr>
            <a:xfrm rot="19386810">
              <a:off x="8394144" y="3396908"/>
              <a:ext cx="625479" cy="258908"/>
            </a:xfrm>
            <a:prstGeom prst="rightArrow">
              <a:avLst>
                <a:gd name="adj1" fmla="val 56955"/>
                <a:gd name="adj2" fmla="val 50000"/>
              </a:avLst>
            </a:prstGeom>
            <a:gradFill flip="none" rotWithShape="1">
              <a:gsLst>
                <a:gs pos="48000">
                  <a:srgbClr val="9E9E9E"/>
                </a:gs>
                <a:gs pos="0">
                  <a:srgbClr val="595959"/>
                </a:gs>
                <a:gs pos="100000">
                  <a:schemeClr val="bg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D5F18E85-35CA-4D1A-B7A3-09B6F5CACC35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224F874D-2130-4CF6-AA86-F62EEBF3A67A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22CB8DB7-F471-413F-A606-9E29438C5710}"/>
                    </a:ext>
                  </a:extLst>
                </p:cNvPr>
                <p:cNvSpPr/>
                <p:nvPr/>
              </p:nvSpPr>
              <p:spPr>
                <a:xfrm>
                  <a:off x="745195" y="4969022"/>
                  <a:ext cx="10664014" cy="738664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0" tIns="0" rIns="0" bIns="0">
                  <a:spAutoFit/>
                </a:bodyPr>
                <a:lstStyle/>
                <a:p>
                  <a:pPr lvl="0">
                    <a:defRPr/>
                  </a:pPr>
                  <a:r>
                    <a:rPr kumimoji="1" lang="en-US" altLang="zh-CN" sz="2400" dirty="0">
                      <a:solidFill>
                        <a:prstClr val="black"/>
                      </a:solidFill>
                      <a:latin typeface="Georgia" panose="02040502050405020303" pitchFamily="18" charset="0"/>
                      <a:ea typeface="Microsoft YaHei" charset="0"/>
                    </a:rPr>
                    <a:t>RFinder combines an IMU data and a COTS RFID reader to estimate the radial velocity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𝒂𝒕</m:t>
                          </m:r>
                        </m:sub>
                      </m:sSub>
                    </m:oMath>
                  </a14:m>
                  <a:r>
                    <a:rPr kumimoji="1" lang="en-US" altLang="zh-CN" sz="2400" dirty="0">
                      <a:solidFill>
                        <a:prstClr val="black"/>
                      </a:solidFill>
                      <a:latin typeface="Georgia" panose="02040502050405020303" pitchFamily="18" charset="0"/>
                      <a:ea typeface="Microsoft YaHei" charset="0"/>
                    </a:rPr>
                    <a:t> , and further estimate the </a:t>
                  </a:r>
                  <a:r>
                    <a:rPr kumimoji="1" lang="en-US" altLang="zh-CN" sz="2400" dirty="0" err="1">
                      <a:solidFill>
                        <a:prstClr val="black"/>
                      </a:solidFill>
                      <a:latin typeface="Georgia" panose="02040502050405020303" pitchFamily="18" charset="0"/>
                      <a:ea typeface="Microsoft YaHei" charset="0"/>
                    </a:rPr>
                    <a:t>AoA</a:t>
                  </a:r>
                  <a:r>
                    <a:rPr kumimoji="1" lang="en-US" altLang="zh-CN" sz="2400" dirty="0">
                      <a:solidFill>
                        <a:prstClr val="black"/>
                      </a:solidFill>
                      <a:latin typeface="Georgia" panose="02040502050405020303" pitchFamily="18" charset="0"/>
                      <a:ea typeface="Microsoft YaHei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</m:oMath>
                  </a14:m>
                  <a:r>
                    <a:rPr kumimoji="1" lang="en-US" altLang="zh-CN" sz="2400" dirty="0">
                      <a:solidFill>
                        <a:prstClr val="black"/>
                      </a:solidFill>
                      <a:latin typeface="Georgia" panose="02040502050405020303" pitchFamily="18" charset="0"/>
                      <a:ea typeface="Microsoft YaHei" charset="0"/>
                    </a:rPr>
                    <a:t> and the location of the tag.</a:t>
                  </a:r>
                </a:p>
              </p:txBody>
            </p:sp>
          </mc:Choice>
          <mc:Fallback xmlns=""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22CB8DB7-F471-413F-A606-9E29438C57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195" y="4969022"/>
                  <a:ext cx="10664014" cy="738664"/>
                </a:xfrm>
                <a:prstGeom prst="rect">
                  <a:avLst/>
                </a:prstGeom>
                <a:blipFill>
                  <a:blip r:embed="rId16"/>
                  <a:stretch>
                    <a:fillRect l="-1714" t="-13223" r="-1829" b="-239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41005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3D </a:t>
            </a:r>
            <a:r>
              <a:rPr lang="en-US" altLang="zh-CN" dirty="0" err="1"/>
              <a:t>AoA</a:t>
            </a:r>
            <a:r>
              <a:rPr lang="en-US" altLang="zh-CN" dirty="0"/>
              <a:t> Estimation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D5F18E85-35CA-4D1A-B7A3-09B6F5CACC35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224F874D-2130-4CF6-AA86-F62EEBF3A67A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22CB8DB7-F471-413F-A606-9E29438C5710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RFinder estimates the yaw and pitch angle to achieve 3D </a:t>
              </a:r>
              <a:r>
                <a:rPr kumimoji="1" lang="en-US" altLang="zh-CN" sz="2400" dirty="0" err="1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AoA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 estimation by searching the optimal result of the projection of  the radial velocity.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FB32FF79-FA64-4B2B-9020-072A1D0B8D8C}"/>
                  </a:ext>
                </a:extLst>
              </p:cNvPr>
              <p:cNvSpPr/>
              <p:nvPr/>
            </p:nvSpPr>
            <p:spPr>
              <a:xfrm>
                <a:off x="867211" y="4024425"/>
                <a:ext cx="4709502" cy="8855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𝒕𝒂𝒈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𝒂𝒓𝒈𝒎𝒊</m:t>
                      </m:r>
                      <m:sSub>
                        <m:sSubPr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𝝍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𝒋</m:t>
                              </m:r>
                            </m:sub>
                            <m:sup>
                              <m:r>
                                <a:rPr lang="en-US" altLang="zh-CN" sz="1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𝒂𝒕</m:t>
                                              </m:r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𝜽</m:t>
                                              </m:r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𝝍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altLang="zh-CN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altLang="zh-CN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𝝅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altLang="zh-CN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  <m:r>
                                                        <a:rPr lang="en-US" altLang="zh-CN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altLang="zh-CN" sz="1400" b="1" i="1">
                                                          <a:solidFill>
                                                            <a:schemeClr val="tx1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  <a:ea typeface="Cambria Math" panose="02040503050406030204" pitchFamily="18" charset="0"/>
                                                        </a:rPr>
                                                        <m:t>𝝍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den>
                                      </m:f>
                                      <m:r>
                                        <a:rPr lang="en-US" altLang="zh-CN" sz="1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1400" b="1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𝒕𝒂𝒈</m:t>
                                                  </m:r>
                                                  <m: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zh-CN" sz="1400" b="1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𝒋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FB32FF79-FA64-4B2B-9020-072A1D0B8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11" y="4024425"/>
                <a:ext cx="4709502" cy="8855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47AE746C-EFEC-41DA-988A-EE3EFB1DDC88}"/>
              </a:ext>
            </a:extLst>
          </p:cNvPr>
          <p:cNvGrpSpPr/>
          <p:nvPr/>
        </p:nvGrpSpPr>
        <p:grpSpPr>
          <a:xfrm>
            <a:off x="956355" y="1550897"/>
            <a:ext cx="4768971" cy="2406749"/>
            <a:chOff x="5824810" y="3138127"/>
            <a:chExt cx="5723029" cy="2894036"/>
          </a:xfrm>
        </p:grpSpPr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id="{121C37E8-074E-4EBC-8148-7E3478445A3A}"/>
                </a:ext>
              </a:extLst>
            </p:cNvPr>
            <p:cNvSpPr/>
            <p:nvPr/>
          </p:nvSpPr>
          <p:spPr>
            <a:xfrm>
              <a:off x="6247948" y="5075459"/>
              <a:ext cx="222885" cy="68901"/>
            </a:xfrm>
            <a:custGeom>
              <a:avLst/>
              <a:gdLst>
                <a:gd name="connsiteX0" fmla="*/ 0 w 222885"/>
                <a:gd name="connsiteY0" fmla="*/ 47946 h 68901"/>
                <a:gd name="connsiteX1" fmla="*/ 114300 w 222885"/>
                <a:gd name="connsiteY1" fmla="*/ 321 h 68901"/>
                <a:gd name="connsiteX2" fmla="*/ 222885 w 222885"/>
                <a:gd name="connsiteY2" fmla="*/ 68901 h 6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885" h="68901">
                  <a:moveTo>
                    <a:pt x="0" y="47946"/>
                  </a:moveTo>
                  <a:cubicBezTo>
                    <a:pt x="38576" y="22387"/>
                    <a:pt x="77153" y="-3171"/>
                    <a:pt x="114300" y="321"/>
                  </a:cubicBezTo>
                  <a:cubicBezTo>
                    <a:pt x="151447" y="3813"/>
                    <a:pt x="187166" y="36357"/>
                    <a:pt x="222885" y="6890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CAD45C50-776B-432C-9B66-D38AEBBDE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84" y="4927110"/>
              <a:ext cx="312420" cy="2413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77851563-0941-42B3-A8AB-DC7B2A8CF0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36584" y="4985530"/>
              <a:ext cx="429260" cy="19304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D52A90B7-6F77-46F4-A8B8-3CF722E51FB6}"/>
                </a:ext>
              </a:extLst>
            </p:cNvPr>
            <p:cNvGrpSpPr/>
            <p:nvPr/>
          </p:nvGrpSpPr>
          <p:grpSpPr>
            <a:xfrm>
              <a:off x="8981495" y="3138127"/>
              <a:ext cx="2566344" cy="2728255"/>
              <a:chOff x="4556720" y="1152350"/>
              <a:chExt cx="3804945" cy="4319792"/>
            </a:xfrm>
          </p:grpSpPr>
          <p:pic>
            <p:nvPicPr>
              <p:cNvPr id="142" name="图形 141">
                <a:extLst>
                  <a:ext uri="{FF2B5EF4-FFF2-40B4-BE49-F238E27FC236}">
                    <a16:creationId xmlns:a16="http://schemas.microsoft.com/office/drawing/2014/main" id="{A391C292-41AC-44DF-B810-2A4BE7D57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556720" y="1225262"/>
                <a:ext cx="3233073" cy="4246880"/>
              </a:xfrm>
              <a:prstGeom prst="rect">
                <a:avLst/>
              </a:prstGeom>
            </p:spPr>
          </p:pic>
          <p:sp>
            <p:nvSpPr>
              <p:cNvPr id="143" name="星形: 五角 142">
                <a:extLst>
                  <a:ext uri="{FF2B5EF4-FFF2-40B4-BE49-F238E27FC236}">
                    <a16:creationId xmlns:a16="http://schemas.microsoft.com/office/drawing/2014/main" id="{68889803-B193-404C-A696-7F4BCEA18556}"/>
                  </a:ext>
                </a:extLst>
              </p:cNvPr>
              <p:cNvSpPr/>
              <p:nvPr/>
            </p:nvSpPr>
            <p:spPr>
              <a:xfrm>
                <a:off x="6468076" y="3053618"/>
                <a:ext cx="141942" cy="148270"/>
              </a:xfrm>
              <a:prstGeom prst="star5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scene3d>
                <a:camera prst="orthographicFront">
                  <a:rot lat="18899996" lon="19199986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38972D13-E273-405B-81C6-F32C79FA91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17786" y="2100444"/>
                <a:ext cx="97270" cy="975158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7BBB9FD0-626A-4311-B602-4FAEF60839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0018" y="2274274"/>
                <a:ext cx="541634" cy="877839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46" name="图片 145">
                <a:extLst>
                  <a:ext uri="{FF2B5EF4-FFF2-40B4-BE49-F238E27FC236}">
                    <a16:creationId xmlns:a16="http://schemas.microsoft.com/office/drawing/2014/main" id="{3753E1A4-7BE2-4308-9915-B1A017020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2433" y="1566757"/>
                <a:ext cx="767056" cy="826433"/>
              </a:xfrm>
              <a:prstGeom prst="rect">
                <a:avLst/>
              </a:prstGeom>
            </p:spPr>
          </p:pic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319D580-9615-4A7F-BB1A-C8693C6F9125}"/>
                  </a:ext>
                </a:extLst>
              </p:cNvPr>
              <p:cNvSpPr txBox="1"/>
              <p:nvPr/>
            </p:nvSpPr>
            <p:spPr>
              <a:xfrm>
                <a:off x="6163840" y="1152350"/>
                <a:ext cx="2197825" cy="585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RFID tag</a:t>
                </a:r>
                <a:endParaRPr lang="zh-CN" altLang="en-US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97EFEC27-6096-4579-B3EA-97E4BF1BFE9E}"/>
                  </a:ext>
                </a:extLst>
              </p:cNvPr>
              <p:cNvSpPr/>
              <p:nvPr/>
            </p:nvSpPr>
            <p:spPr>
              <a:xfrm>
                <a:off x="4556720" y="3606800"/>
                <a:ext cx="1056680" cy="1790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FDED1F36-5293-48D2-B0E7-A7DA7723FEC3}"/>
                </a:ext>
              </a:extLst>
            </p:cNvPr>
            <p:cNvCxnSpPr>
              <a:cxnSpLocks/>
              <a:stCxn id="143" idx="1"/>
              <a:endCxn id="139" idx="7"/>
            </p:cNvCxnSpPr>
            <p:nvPr/>
          </p:nvCxnSpPr>
          <p:spPr>
            <a:xfrm flipH="1">
              <a:off x="6666855" y="4374681"/>
              <a:ext cx="3603802" cy="1076770"/>
            </a:xfrm>
            <a:prstGeom prst="straightConnector1">
              <a:avLst/>
            </a:prstGeom>
            <a:ln w="22225">
              <a:solidFill>
                <a:schemeClr val="bg1">
                  <a:lumMod val="85000"/>
                </a:schemeClr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57C21EE0-38B4-43AF-AE9E-C8B501F1E57E}"/>
                </a:ext>
              </a:extLst>
            </p:cNvPr>
            <p:cNvCxnSpPr>
              <a:cxnSpLocks/>
              <a:stCxn id="143" idx="1"/>
              <a:endCxn id="129" idx="6"/>
            </p:cNvCxnSpPr>
            <p:nvPr/>
          </p:nvCxnSpPr>
          <p:spPr>
            <a:xfrm flipH="1">
              <a:off x="6413502" y="4374681"/>
              <a:ext cx="3857155" cy="796018"/>
            </a:xfrm>
            <a:prstGeom prst="straightConnector1">
              <a:avLst/>
            </a:prstGeom>
            <a:ln w="22225">
              <a:solidFill>
                <a:schemeClr val="bg1">
                  <a:lumMod val="85000"/>
                </a:schemeClr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EAF75236-7C34-4BB8-9DF8-E161AE3EEE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3684" y="5083320"/>
              <a:ext cx="525213" cy="81825"/>
            </a:xfrm>
            <a:prstGeom prst="straightConnector1">
              <a:avLst/>
            </a:prstGeom>
            <a:ln w="22225">
              <a:solidFill>
                <a:srgbClr val="002060"/>
              </a:solidFill>
              <a:headEnd type="stealth" w="med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D6E8E05E-B64A-42F6-B4F8-0EF3379E87EC}"/>
                    </a:ext>
                  </a:extLst>
                </p:cNvPr>
                <p:cNvSpPr txBox="1"/>
                <p:nvPr/>
              </p:nvSpPr>
              <p:spPr>
                <a:xfrm>
                  <a:off x="6924309" y="4827761"/>
                  <a:ext cx="500073" cy="3032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𝒕𝒂𝒈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637D62D0-4F39-4F04-AA19-A7C88001A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4309" y="4827761"/>
                  <a:ext cx="500073" cy="303288"/>
                </a:xfrm>
                <a:prstGeom prst="rect">
                  <a:avLst/>
                </a:prstGeom>
                <a:blipFill>
                  <a:blip r:embed="rId8"/>
                  <a:stretch>
                    <a:fillRect l="-14493" r="-18841" b="-476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052F9319-8607-4D6A-93A6-EE656360640C}"/>
                </a:ext>
              </a:extLst>
            </p:cNvPr>
            <p:cNvCxnSpPr>
              <a:cxnSpLocks/>
            </p:cNvCxnSpPr>
            <p:nvPr/>
          </p:nvCxnSpPr>
          <p:spPr>
            <a:xfrm>
              <a:off x="6341356" y="5164237"/>
              <a:ext cx="519904" cy="126567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92FDB2A1-1D39-41E6-8DBD-3A00811ECDF3}"/>
                    </a:ext>
                  </a:extLst>
                </p:cNvPr>
                <p:cNvSpPr txBox="1"/>
                <p:nvPr/>
              </p:nvSpPr>
              <p:spPr>
                <a:xfrm>
                  <a:off x="6860483" y="5148523"/>
                  <a:ext cx="3862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𝒂𝒕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5D4D5685-88F3-4AEF-B904-B88B7036F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483" y="5148523"/>
                  <a:ext cx="38626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9231" r="-17308" b="-39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0775C797-3318-4967-ABA6-04BE55DEB322}"/>
                </a:ext>
              </a:extLst>
            </p:cNvPr>
            <p:cNvSpPr txBox="1"/>
            <p:nvPr/>
          </p:nvSpPr>
          <p:spPr>
            <a:xfrm>
              <a:off x="5824810" y="5699081"/>
              <a:ext cx="1339369" cy="333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Trajectory</a:t>
              </a:r>
              <a:endParaRPr lang="zh-CN" altLang="en-US" sz="1200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D3F1064D-291D-43FB-8C96-E5EB7A4D6E67}"/>
                </a:ext>
              </a:extLst>
            </p:cNvPr>
            <p:cNvSpPr/>
            <p:nvPr/>
          </p:nvSpPr>
          <p:spPr>
            <a:xfrm>
              <a:off x="6318252" y="5123074"/>
              <a:ext cx="95250" cy="95250"/>
            </a:xfrm>
            <a:prstGeom prst="ellipse">
              <a:avLst/>
            </a:prstGeom>
            <a:solidFill>
              <a:srgbClr val="FF5736"/>
            </a:solidFill>
            <a:ln>
              <a:solidFill>
                <a:srgbClr val="FF57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D82FA2CB-492E-4F9E-9C8D-43AA768541B6}"/>
                </a:ext>
              </a:extLst>
            </p:cNvPr>
            <p:cNvCxnSpPr>
              <a:cxnSpLocks/>
              <a:stCxn id="129" idx="0"/>
            </p:cNvCxnSpPr>
            <p:nvPr/>
          </p:nvCxnSpPr>
          <p:spPr>
            <a:xfrm flipV="1">
              <a:off x="6365877" y="4677618"/>
              <a:ext cx="5661" cy="445456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FF98D8E6-7036-4D81-858F-6B7D50387436}"/>
                    </a:ext>
                  </a:extLst>
                </p:cNvPr>
                <p:cNvSpPr txBox="1"/>
                <p:nvPr/>
              </p:nvSpPr>
              <p:spPr>
                <a:xfrm>
                  <a:off x="5828095" y="4993904"/>
                  <a:ext cx="13465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𝒚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F832FF46-FF49-475B-B864-83D501822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095" y="4993904"/>
                  <a:ext cx="134652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38889" r="-44444" b="-5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BD99C15-CB6F-4528-8799-FDA88C614949}"/>
                    </a:ext>
                  </a:extLst>
                </p:cNvPr>
                <p:cNvSpPr txBox="1"/>
                <p:nvPr/>
              </p:nvSpPr>
              <p:spPr>
                <a:xfrm>
                  <a:off x="6712982" y="4760971"/>
                  <a:ext cx="131446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68E7A76D-4B91-41FE-8CC2-86002776D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982" y="4760971"/>
                  <a:ext cx="131446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29412" r="-29412" b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DC6063B3-CC09-4FD9-809C-C67EDF2006A4}"/>
                    </a:ext>
                  </a:extLst>
                </p:cNvPr>
                <p:cNvSpPr txBox="1"/>
                <p:nvPr/>
              </p:nvSpPr>
              <p:spPr>
                <a:xfrm>
                  <a:off x="6314629" y="4456077"/>
                  <a:ext cx="12343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B5AD37E-67ED-4470-B136-414FCBE4D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629" y="4456077"/>
                  <a:ext cx="123431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23529" r="-29412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id="{A61987FD-221A-4A8D-BA1B-BA085F585130}"/>
                </a:ext>
              </a:extLst>
            </p:cNvPr>
            <p:cNvSpPr/>
            <p:nvPr/>
          </p:nvSpPr>
          <p:spPr>
            <a:xfrm>
              <a:off x="6367749" y="4966712"/>
              <a:ext cx="135094" cy="168043"/>
            </a:xfrm>
            <a:custGeom>
              <a:avLst/>
              <a:gdLst>
                <a:gd name="connsiteX0" fmla="*/ 0 w 154534"/>
                <a:gd name="connsiteY0" fmla="*/ 0 h 165735"/>
                <a:gd name="connsiteX1" fmla="*/ 140970 w 154534"/>
                <a:gd name="connsiteY1" fmla="*/ 43815 h 165735"/>
                <a:gd name="connsiteX2" fmla="*/ 140970 w 154534"/>
                <a:gd name="connsiteY2" fmla="*/ 165735 h 165735"/>
                <a:gd name="connsiteX0" fmla="*/ 0 w 144349"/>
                <a:gd name="connsiteY0" fmla="*/ 0 h 165735"/>
                <a:gd name="connsiteX1" fmla="*/ 108402 w 144349"/>
                <a:gd name="connsiteY1" fmla="*/ 58846 h 165735"/>
                <a:gd name="connsiteX2" fmla="*/ 140970 w 144349"/>
                <a:gd name="connsiteY2" fmla="*/ 165735 h 165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349" h="165735">
                  <a:moveTo>
                    <a:pt x="0" y="0"/>
                  </a:moveTo>
                  <a:cubicBezTo>
                    <a:pt x="58737" y="8096"/>
                    <a:pt x="84907" y="31224"/>
                    <a:pt x="108402" y="58846"/>
                  </a:cubicBezTo>
                  <a:cubicBezTo>
                    <a:pt x="131897" y="86469"/>
                    <a:pt x="152717" y="118586"/>
                    <a:pt x="140970" y="16573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E1A3A1B6-C890-448F-B5B3-DD8F1E5B94B8}"/>
                    </a:ext>
                  </a:extLst>
                </p:cNvPr>
                <p:cNvSpPr txBox="1"/>
                <p:nvPr/>
              </p:nvSpPr>
              <p:spPr>
                <a:xfrm>
                  <a:off x="6048744" y="4802967"/>
                  <a:ext cx="24550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CAC864A-6B0F-4A75-9082-4ECFF7716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744" y="4802967"/>
                  <a:ext cx="245504" cy="307777"/>
                </a:xfrm>
                <a:prstGeom prst="rect">
                  <a:avLst/>
                </a:prstGeom>
                <a:blipFill>
                  <a:blip r:embed="rId13"/>
                  <a:stretch>
                    <a:fillRect r="-45455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31F8B4A0-3777-4B3B-B0CC-993228E26D97}"/>
                    </a:ext>
                  </a:extLst>
                </p:cNvPr>
                <p:cNvSpPr txBox="1"/>
                <p:nvPr/>
              </p:nvSpPr>
              <p:spPr>
                <a:xfrm>
                  <a:off x="6371742" y="4688756"/>
                  <a:ext cx="245504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𝝍</m:t>
                            </m:r>
                          </m:e>
                          <m:sup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D796936-5CB3-494F-A1C8-73F8DA977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1742" y="4688756"/>
                  <a:ext cx="245504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60606" b="-309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2F5A319B-B529-47BC-8509-94D2938A06AE}"/>
                </a:ext>
              </a:extLst>
            </p:cNvPr>
            <p:cNvCxnSpPr>
              <a:cxnSpLocks/>
              <a:endCxn id="140" idx="6"/>
            </p:cNvCxnSpPr>
            <p:nvPr/>
          </p:nvCxnSpPr>
          <p:spPr>
            <a:xfrm flipH="1">
              <a:off x="7178407" y="4374681"/>
              <a:ext cx="3090462" cy="1118860"/>
            </a:xfrm>
            <a:prstGeom prst="straightConnector1">
              <a:avLst/>
            </a:prstGeom>
            <a:ln w="22225">
              <a:solidFill>
                <a:schemeClr val="bg1">
                  <a:lumMod val="85000"/>
                </a:schemeClr>
              </a:solidFill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id="{796ABF05-B599-4E31-B93D-F114B2E53332}"/>
                </a:ext>
              </a:extLst>
            </p:cNvPr>
            <p:cNvSpPr/>
            <p:nvPr/>
          </p:nvSpPr>
          <p:spPr>
            <a:xfrm>
              <a:off x="6404036" y="5184611"/>
              <a:ext cx="906688" cy="454138"/>
            </a:xfrm>
            <a:custGeom>
              <a:avLst/>
              <a:gdLst>
                <a:gd name="connsiteX0" fmla="*/ 0 w 1930400"/>
                <a:gd name="connsiteY0" fmla="*/ 0 h 626983"/>
                <a:gd name="connsiteX1" fmla="*/ 254000 w 1930400"/>
                <a:gd name="connsiteY1" fmla="*/ 57150 h 626983"/>
                <a:gd name="connsiteX2" fmla="*/ 565150 w 1930400"/>
                <a:gd name="connsiteY2" fmla="*/ 171450 h 626983"/>
                <a:gd name="connsiteX3" fmla="*/ 850900 w 1930400"/>
                <a:gd name="connsiteY3" fmla="*/ 304800 h 626983"/>
                <a:gd name="connsiteX4" fmla="*/ 1143000 w 1930400"/>
                <a:gd name="connsiteY4" fmla="*/ 615950 h 626983"/>
                <a:gd name="connsiteX5" fmla="*/ 1930400 w 1930400"/>
                <a:gd name="connsiteY5" fmla="*/ 527050 h 626983"/>
                <a:gd name="connsiteX0" fmla="*/ 0 w 1930400"/>
                <a:gd name="connsiteY0" fmla="*/ 0 h 626983"/>
                <a:gd name="connsiteX1" fmla="*/ 254000 w 1930400"/>
                <a:gd name="connsiteY1" fmla="*/ 57150 h 626983"/>
                <a:gd name="connsiteX2" fmla="*/ 538603 w 1930400"/>
                <a:gd name="connsiteY2" fmla="*/ 335798 h 626983"/>
                <a:gd name="connsiteX3" fmla="*/ 850900 w 1930400"/>
                <a:gd name="connsiteY3" fmla="*/ 304800 h 626983"/>
                <a:gd name="connsiteX4" fmla="*/ 1143000 w 1930400"/>
                <a:gd name="connsiteY4" fmla="*/ 615950 h 626983"/>
                <a:gd name="connsiteX5" fmla="*/ 1930400 w 1930400"/>
                <a:gd name="connsiteY5" fmla="*/ 527050 h 626983"/>
                <a:gd name="connsiteX0" fmla="*/ 0 w 1930400"/>
                <a:gd name="connsiteY0" fmla="*/ 0 h 626983"/>
                <a:gd name="connsiteX1" fmla="*/ 254000 w 1930400"/>
                <a:gd name="connsiteY1" fmla="*/ 57150 h 626983"/>
                <a:gd name="connsiteX2" fmla="*/ 538603 w 1930400"/>
                <a:gd name="connsiteY2" fmla="*/ 335798 h 626983"/>
                <a:gd name="connsiteX3" fmla="*/ 1103107 w 1930400"/>
                <a:gd name="connsiteY3" fmla="*/ 251785 h 626983"/>
                <a:gd name="connsiteX4" fmla="*/ 1143000 w 1930400"/>
                <a:gd name="connsiteY4" fmla="*/ 615950 h 626983"/>
                <a:gd name="connsiteX5" fmla="*/ 1930400 w 1930400"/>
                <a:gd name="connsiteY5" fmla="*/ 527050 h 626983"/>
                <a:gd name="connsiteX0" fmla="*/ 0 w 1930400"/>
                <a:gd name="connsiteY0" fmla="*/ 0 h 626983"/>
                <a:gd name="connsiteX1" fmla="*/ 254000 w 1930400"/>
                <a:gd name="connsiteY1" fmla="*/ 57150 h 626983"/>
                <a:gd name="connsiteX2" fmla="*/ 34192 w 1930400"/>
                <a:gd name="connsiteY2" fmla="*/ 388814 h 626983"/>
                <a:gd name="connsiteX3" fmla="*/ 1103107 w 1930400"/>
                <a:gd name="connsiteY3" fmla="*/ 251785 h 626983"/>
                <a:gd name="connsiteX4" fmla="*/ 1143000 w 1930400"/>
                <a:gd name="connsiteY4" fmla="*/ 615950 h 626983"/>
                <a:gd name="connsiteX5" fmla="*/ 1930400 w 1930400"/>
                <a:gd name="connsiteY5" fmla="*/ 527050 h 626983"/>
                <a:gd name="connsiteX0" fmla="*/ 0 w 1930400"/>
                <a:gd name="connsiteY0" fmla="*/ 0 h 626983"/>
                <a:gd name="connsiteX1" fmla="*/ 254000 w 1930400"/>
                <a:gd name="connsiteY1" fmla="*/ 57150 h 626983"/>
                <a:gd name="connsiteX2" fmla="*/ 34192 w 1930400"/>
                <a:gd name="connsiteY2" fmla="*/ 388814 h 626983"/>
                <a:gd name="connsiteX3" fmla="*/ 412859 w 1930400"/>
                <a:gd name="connsiteY3" fmla="*/ 606989 h 626983"/>
                <a:gd name="connsiteX4" fmla="*/ 1143000 w 1930400"/>
                <a:gd name="connsiteY4" fmla="*/ 615950 h 626983"/>
                <a:gd name="connsiteX5" fmla="*/ 1930400 w 1930400"/>
                <a:gd name="connsiteY5" fmla="*/ 527050 h 626983"/>
                <a:gd name="connsiteX0" fmla="*/ 0 w 1930400"/>
                <a:gd name="connsiteY0" fmla="*/ 0 h 607149"/>
                <a:gd name="connsiteX1" fmla="*/ 254000 w 1930400"/>
                <a:gd name="connsiteY1" fmla="*/ 57150 h 607149"/>
                <a:gd name="connsiteX2" fmla="*/ 34192 w 1930400"/>
                <a:gd name="connsiteY2" fmla="*/ 388814 h 607149"/>
                <a:gd name="connsiteX3" fmla="*/ 412859 w 1930400"/>
                <a:gd name="connsiteY3" fmla="*/ 606989 h 607149"/>
                <a:gd name="connsiteX4" fmla="*/ 1103180 w 1930400"/>
                <a:gd name="connsiteY4" fmla="*/ 430396 h 607149"/>
                <a:gd name="connsiteX5" fmla="*/ 1930400 w 1930400"/>
                <a:gd name="connsiteY5" fmla="*/ 527050 h 607149"/>
                <a:gd name="connsiteX0" fmla="*/ 0 w 1930400"/>
                <a:gd name="connsiteY0" fmla="*/ 0 h 607149"/>
                <a:gd name="connsiteX1" fmla="*/ 254000 w 1930400"/>
                <a:gd name="connsiteY1" fmla="*/ 57150 h 607149"/>
                <a:gd name="connsiteX2" fmla="*/ 34192 w 1930400"/>
                <a:gd name="connsiteY2" fmla="*/ 388814 h 607149"/>
                <a:gd name="connsiteX3" fmla="*/ 412859 w 1930400"/>
                <a:gd name="connsiteY3" fmla="*/ 606989 h 607149"/>
                <a:gd name="connsiteX4" fmla="*/ 1103180 w 1930400"/>
                <a:gd name="connsiteY4" fmla="*/ 430396 h 607149"/>
                <a:gd name="connsiteX5" fmla="*/ 1930400 w 1930400"/>
                <a:gd name="connsiteY5" fmla="*/ 527050 h 607149"/>
                <a:gd name="connsiteX0" fmla="*/ 0 w 1930400"/>
                <a:gd name="connsiteY0" fmla="*/ 0 h 607047"/>
                <a:gd name="connsiteX1" fmla="*/ 254000 w 1930400"/>
                <a:gd name="connsiteY1" fmla="*/ 57150 h 607047"/>
                <a:gd name="connsiteX2" fmla="*/ 34192 w 1930400"/>
                <a:gd name="connsiteY2" fmla="*/ 388814 h 607047"/>
                <a:gd name="connsiteX3" fmla="*/ 412859 w 1930400"/>
                <a:gd name="connsiteY3" fmla="*/ 606989 h 607047"/>
                <a:gd name="connsiteX4" fmla="*/ 1116454 w 1930400"/>
                <a:gd name="connsiteY4" fmla="*/ 414491 h 607047"/>
                <a:gd name="connsiteX5" fmla="*/ 1930400 w 1930400"/>
                <a:gd name="connsiteY5" fmla="*/ 527050 h 607047"/>
                <a:gd name="connsiteX0" fmla="*/ 0 w 1930400"/>
                <a:gd name="connsiteY0" fmla="*/ 0 h 632251"/>
                <a:gd name="connsiteX1" fmla="*/ 254000 w 1930400"/>
                <a:gd name="connsiteY1" fmla="*/ 57150 h 632251"/>
                <a:gd name="connsiteX2" fmla="*/ 34192 w 1930400"/>
                <a:gd name="connsiteY2" fmla="*/ 388814 h 632251"/>
                <a:gd name="connsiteX3" fmla="*/ 412859 w 1930400"/>
                <a:gd name="connsiteY3" fmla="*/ 606989 h 632251"/>
                <a:gd name="connsiteX4" fmla="*/ 1089906 w 1930400"/>
                <a:gd name="connsiteY4" fmla="*/ 631854 h 632251"/>
                <a:gd name="connsiteX5" fmla="*/ 1930400 w 1930400"/>
                <a:gd name="connsiteY5" fmla="*/ 527050 h 632251"/>
                <a:gd name="connsiteX0" fmla="*/ 0 w 1930400"/>
                <a:gd name="connsiteY0" fmla="*/ 0 h 632251"/>
                <a:gd name="connsiteX1" fmla="*/ 254000 w 1930400"/>
                <a:gd name="connsiteY1" fmla="*/ 57150 h 632251"/>
                <a:gd name="connsiteX2" fmla="*/ 610896 w 1930400"/>
                <a:gd name="connsiteY2" fmla="*/ 351703 h 632251"/>
                <a:gd name="connsiteX3" fmla="*/ 412859 w 1930400"/>
                <a:gd name="connsiteY3" fmla="*/ 606989 h 632251"/>
                <a:gd name="connsiteX4" fmla="*/ 1089906 w 1930400"/>
                <a:gd name="connsiteY4" fmla="*/ 631854 h 632251"/>
                <a:gd name="connsiteX5" fmla="*/ 1930400 w 1930400"/>
                <a:gd name="connsiteY5" fmla="*/ 527050 h 632251"/>
                <a:gd name="connsiteX0" fmla="*/ 0 w 1930400"/>
                <a:gd name="connsiteY0" fmla="*/ 0 h 632251"/>
                <a:gd name="connsiteX1" fmla="*/ 254000 w 1930400"/>
                <a:gd name="connsiteY1" fmla="*/ 57150 h 632251"/>
                <a:gd name="connsiteX2" fmla="*/ 610896 w 1930400"/>
                <a:gd name="connsiteY2" fmla="*/ 351703 h 632251"/>
                <a:gd name="connsiteX3" fmla="*/ 901804 w 1930400"/>
                <a:gd name="connsiteY3" fmla="*/ 543370 h 632251"/>
                <a:gd name="connsiteX4" fmla="*/ 1089906 w 1930400"/>
                <a:gd name="connsiteY4" fmla="*/ 631854 h 632251"/>
                <a:gd name="connsiteX5" fmla="*/ 1930400 w 1930400"/>
                <a:gd name="connsiteY5" fmla="*/ 527050 h 632251"/>
                <a:gd name="connsiteX0" fmla="*/ 0 w 2005622"/>
                <a:gd name="connsiteY0" fmla="*/ 0 h 631964"/>
                <a:gd name="connsiteX1" fmla="*/ 254000 w 2005622"/>
                <a:gd name="connsiteY1" fmla="*/ 57150 h 631964"/>
                <a:gd name="connsiteX2" fmla="*/ 610896 w 2005622"/>
                <a:gd name="connsiteY2" fmla="*/ 351703 h 631964"/>
                <a:gd name="connsiteX3" fmla="*/ 901804 w 2005622"/>
                <a:gd name="connsiteY3" fmla="*/ 543370 h 631964"/>
                <a:gd name="connsiteX4" fmla="*/ 1089906 w 2005622"/>
                <a:gd name="connsiteY4" fmla="*/ 631854 h 631964"/>
                <a:gd name="connsiteX5" fmla="*/ 2005622 w 2005622"/>
                <a:gd name="connsiteY5" fmla="*/ 394512 h 631964"/>
                <a:gd name="connsiteX0" fmla="*/ 0 w 2005622"/>
                <a:gd name="connsiteY0" fmla="*/ 0 h 631918"/>
                <a:gd name="connsiteX1" fmla="*/ 254000 w 2005622"/>
                <a:gd name="connsiteY1" fmla="*/ 57150 h 631918"/>
                <a:gd name="connsiteX2" fmla="*/ 610896 w 2005622"/>
                <a:gd name="connsiteY2" fmla="*/ 351703 h 631918"/>
                <a:gd name="connsiteX3" fmla="*/ 901804 w 2005622"/>
                <a:gd name="connsiteY3" fmla="*/ 543370 h 631918"/>
                <a:gd name="connsiteX4" fmla="*/ 1089906 w 2005622"/>
                <a:gd name="connsiteY4" fmla="*/ 631854 h 631918"/>
                <a:gd name="connsiteX5" fmla="*/ 2005622 w 2005622"/>
                <a:gd name="connsiteY5" fmla="*/ 394512 h 631918"/>
                <a:gd name="connsiteX0" fmla="*/ 0 w 2983510"/>
                <a:gd name="connsiteY0" fmla="*/ 0 h 631925"/>
                <a:gd name="connsiteX1" fmla="*/ 254000 w 2983510"/>
                <a:gd name="connsiteY1" fmla="*/ 57150 h 631925"/>
                <a:gd name="connsiteX2" fmla="*/ 610896 w 2983510"/>
                <a:gd name="connsiteY2" fmla="*/ 351703 h 631925"/>
                <a:gd name="connsiteX3" fmla="*/ 901804 w 2983510"/>
                <a:gd name="connsiteY3" fmla="*/ 543370 h 631925"/>
                <a:gd name="connsiteX4" fmla="*/ 1089906 w 2983510"/>
                <a:gd name="connsiteY4" fmla="*/ 631854 h 631925"/>
                <a:gd name="connsiteX5" fmla="*/ 2983510 w 2983510"/>
                <a:gd name="connsiteY5" fmla="*/ 426321 h 63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3510" h="631925">
                  <a:moveTo>
                    <a:pt x="0" y="0"/>
                  </a:moveTo>
                  <a:cubicBezTo>
                    <a:pt x="79904" y="14287"/>
                    <a:pt x="152184" y="-1467"/>
                    <a:pt x="254000" y="57150"/>
                  </a:cubicBezTo>
                  <a:cubicBezTo>
                    <a:pt x="355816" y="115767"/>
                    <a:pt x="502929" y="270666"/>
                    <a:pt x="610896" y="351703"/>
                  </a:cubicBezTo>
                  <a:cubicBezTo>
                    <a:pt x="718863" y="432740"/>
                    <a:pt x="821969" y="496678"/>
                    <a:pt x="901804" y="543370"/>
                  </a:cubicBezTo>
                  <a:cubicBezTo>
                    <a:pt x="981639" y="590062"/>
                    <a:pt x="909989" y="594812"/>
                    <a:pt x="1089906" y="631854"/>
                  </a:cubicBezTo>
                  <a:cubicBezTo>
                    <a:pt x="1376014" y="637087"/>
                    <a:pt x="2403954" y="351452"/>
                    <a:pt x="2983510" y="426321"/>
                  </a:cubicBezTo>
                </a:path>
              </a:pathLst>
            </a:custGeom>
            <a:noFill/>
            <a:ln w="19050">
              <a:solidFill>
                <a:srgbClr val="002060"/>
              </a:solidFill>
              <a:prstDash val="sysDash"/>
              <a:tailEnd type="triangle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79640F10-08BC-4565-8F9E-53815B080830}"/>
                </a:ext>
              </a:extLst>
            </p:cNvPr>
            <p:cNvSpPr/>
            <p:nvPr/>
          </p:nvSpPr>
          <p:spPr>
            <a:xfrm>
              <a:off x="6585554" y="5437502"/>
              <a:ext cx="95250" cy="95250"/>
            </a:xfrm>
            <a:prstGeom prst="ellipse">
              <a:avLst/>
            </a:prstGeom>
            <a:solidFill>
              <a:srgbClr val="FF5736"/>
            </a:solidFill>
            <a:ln>
              <a:solidFill>
                <a:srgbClr val="FF57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ABF7A306-1051-4F8B-97B0-0E42FD0E71DF}"/>
                </a:ext>
              </a:extLst>
            </p:cNvPr>
            <p:cNvSpPr/>
            <p:nvPr/>
          </p:nvSpPr>
          <p:spPr>
            <a:xfrm>
              <a:off x="7083157" y="5445916"/>
              <a:ext cx="95250" cy="95250"/>
            </a:xfrm>
            <a:prstGeom prst="ellipse">
              <a:avLst/>
            </a:prstGeom>
            <a:solidFill>
              <a:srgbClr val="FF5736"/>
            </a:solidFill>
            <a:ln>
              <a:solidFill>
                <a:srgbClr val="FF57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对话气泡: 圆角矩形 140">
                  <a:extLst>
                    <a:ext uri="{FF2B5EF4-FFF2-40B4-BE49-F238E27FC236}">
                      <a16:creationId xmlns:a16="http://schemas.microsoft.com/office/drawing/2014/main" id="{4F4893AB-C030-4071-BA86-AADF7CDC764F}"/>
                    </a:ext>
                  </a:extLst>
                </p:cNvPr>
                <p:cNvSpPr/>
                <p:nvPr/>
              </p:nvSpPr>
              <p:spPr>
                <a:xfrm>
                  <a:off x="6502843" y="3590250"/>
                  <a:ext cx="1681108" cy="731254"/>
                </a:xfrm>
                <a:prstGeom prst="wedgeRoundRectCallout">
                  <a:avLst>
                    <a:gd name="adj1" fmla="val -49671"/>
                    <a:gd name="adj2" fmla="val 92037"/>
                    <a:gd name="adj3" fmla="val 16667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yaw angle</a:t>
                  </a:r>
                  <a14:m>
                    <m:oMath xmlns:m="http://schemas.openxmlformats.org/officeDocument/2006/math">
                      <m:r>
                        <a:rPr lang="en-US" altLang="zh-CN" sz="11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a14:m>
                  <a:endParaRPr lang="en-US" altLang="zh-CN" sz="11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/>
                  <a:r>
                    <a:rPr lang="en-US" altLang="zh-CN" sz="11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pitch angle</a:t>
                  </a:r>
                  <a14:m>
                    <m:oMath xmlns:m="http://schemas.openxmlformats.org/officeDocument/2006/math">
                      <m:r>
                        <a:rPr lang="en-US" altLang="zh-CN" sz="11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𝝍</m:t>
                      </m:r>
                    </m:oMath>
                  </a14:m>
                  <a:endParaRPr lang="zh-CN" altLang="en-US" sz="11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41" name="对话气泡: 圆角矩形 140">
                  <a:extLst>
                    <a:ext uri="{FF2B5EF4-FFF2-40B4-BE49-F238E27FC236}">
                      <a16:creationId xmlns:a16="http://schemas.microsoft.com/office/drawing/2014/main" id="{4F4893AB-C030-4071-BA86-AADF7CDC76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2843" y="3590250"/>
                  <a:ext cx="1681108" cy="731254"/>
                </a:xfrm>
                <a:prstGeom prst="wedgeRoundRectCallout">
                  <a:avLst>
                    <a:gd name="adj1" fmla="val -49671"/>
                    <a:gd name="adj2" fmla="val 92037"/>
                    <a:gd name="adj3" fmla="val 16667"/>
                  </a:avLst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9" name="图片 148">
            <a:extLst>
              <a:ext uri="{FF2B5EF4-FFF2-40B4-BE49-F238E27FC236}">
                <a16:creationId xmlns:a16="http://schemas.microsoft.com/office/drawing/2014/main" id="{AF59CBB0-C38F-4AC3-8914-31EEC81505D8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b="7955"/>
          <a:stretch/>
        </p:blipFill>
        <p:spPr>
          <a:xfrm>
            <a:off x="7079217" y="1582777"/>
            <a:ext cx="3267408" cy="21977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25C8B04-6F83-4655-A48A-A2D00EADA4E8}"/>
                  </a:ext>
                </a:extLst>
              </p:cNvPr>
              <p:cNvSpPr txBox="1"/>
              <p:nvPr/>
            </p:nvSpPr>
            <p:spPr>
              <a:xfrm>
                <a:off x="6857833" y="4204060"/>
                <a:ext cx="4466953" cy="764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𝑳𝒐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𝒕𝒂𝒈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altLang="zh-C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𝒕𝒂𝒈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e>
                      </m:d>
                      <m:r>
                        <a:rPr lang="en-US" altLang="zh-CN" sz="1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𝒔𝒊𝒏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𝒔𝒊𝒏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num>
                        <m:den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𝝍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𝒄𝒐𝒔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25C8B04-6F83-4655-A48A-A2D00EADA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833" y="4204060"/>
                <a:ext cx="4466953" cy="764953"/>
              </a:xfrm>
              <a:prstGeom prst="rect">
                <a:avLst/>
              </a:prstGeom>
              <a:blipFill>
                <a:blip r:embed="rId1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箭头: 右 151">
            <a:extLst>
              <a:ext uri="{FF2B5EF4-FFF2-40B4-BE49-F238E27FC236}">
                <a16:creationId xmlns:a16="http://schemas.microsoft.com/office/drawing/2014/main" id="{F05B3539-B573-4041-B130-DD4CF879E8BC}"/>
              </a:ext>
            </a:extLst>
          </p:cNvPr>
          <p:cNvSpPr/>
          <p:nvPr/>
        </p:nvSpPr>
        <p:spPr>
          <a:xfrm>
            <a:off x="6019613" y="2730149"/>
            <a:ext cx="586184" cy="341640"/>
          </a:xfrm>
          <a:prstGeom prst="rightArrow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Rounded Rectangle 12">
            <a:extLst>
              <a:ext uri="{FF2B5EF4-FFF2-40B4-BE49-F238E27FC236}">
                <a16:creationId xmlns:a16="http://schemas.microsoft.com/office/drawing/2014/main" id="{69847C7F-6D08-4C3A-871C-5E45F709C908}"/>
              </a:ext>
            </a:extLst>
          </p:cNvPr>
          <p:cNvSpPr/>
          <p:nvPr/>
        </p:nvSpPr>
        <p:spPr>
          <a:xfrm>
            <a:off x="1395223" y="987735"/>
            <a:ext cx="4021196" cy="472070"/>
          </a:xfrm>
          <a:prstGeom prst="roundRect">
            <a:avLst/>
          </a:prstGeom>
          <a:solidFill>
            <a:srgbClr val="66087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Searching the </a:t>
            </a:r>
            <a:r>
              <a:rPr lang="en-US" altLang="zh-CN" b="1" dirty="0" err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AoA</a:t>
            </a: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of the tag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4" name="Rounded Rectangle 12">
            <a:extLst>
              <a:ext uri="{FF2B5EF4-FFF2-40B4-BE49-F238E27FC236}">
                <a16:creationId xmlns:a16="http://schemas.microsoft.com/office/drawing/2014/main" id="{A1AAD789-DFCE-46B0-BB4E-9E319E446E26}"/>
              </a:ext>
            </a:extLst>
          </p:cNvPr>
          <p:cNvSpPr/>
          <p:nvPr/>
        </p:nvSpPr>
        <p:spPr>
          <a:xfrm>
            <a:off x="7194124" y="987735"/>
            <a:ext cx="4021196" cy="472070"/>
          </a:xfrm>
          <a:prstGeom prst="roundRect">
            <a:avLst/>
          </a:prstGeom>
          <a:solidFill>
            <a:srgbClr val="66087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>
              <a:spcBef>
                <a:spcPct val="0"/>
              </a:spcBef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Calculating the location of the tag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36834A88-9699-43A2-904E-6A82C9DB36D3}"/>
              </a:ext>
            </a:extLst>
          </p:cNvPr>
          <p:cNvSpPr txBox="1"/>
          <p:nvPr/>
        </p:nvSpPr>
        <p:spPr>
          <a:xfrm>
            <a:off x="7336981" y="3684226"/>
            <a:ext cx="1572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RFID reader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2502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Challenge: How to Match IMU and RFID Data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D5F18E85-35CA-4D1A-B7A3-09B6F5CACC35}"/>
              </a:ext>
            </a:extLst>
          </p:cNvPr>
          <p:cNvGrpSpPr/>
          <p:nvPr/>
        </p:nvGrpSpPr>
        <p:grpSpPr>
          <a:xfrm>
            <a:off x="678415" y="5017693"/>
            <a:ext cx="10835170" cy="1338991"/>
            <a:chOff x="574039" y="4882266"/>
            <a:chExt cx="10835170" cy="978784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224F874D-2130-4CF6-AA86-F62EEBF3A67A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22CB8DB7-F471-413F-A606-9E29438C5710}"/>
                </a:ext>
              </a:extLst>
            </p:cNvPr>
            <p:cNvSpPr/>
            <p:nvPr/>
          </p:nvSpPr>
          <p:spPr>
            <a:xfrm>
              <a:off x="745195" y="4969022"/>
              <a:ext cx="10664014" cy="80993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457200" lvl="0" indent="-457200">
                <a:buFont typeface="+mj-ea"/>
                <a:buAutoNum type="circleNumDbPlain"/>
                <a:defRPr/>
              </a:pP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Noise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 exists in the velocity data after differentiating RFID phase data.</a:t>
              </a:r>
            </a:p>
            <a:p>
              <a:pPr marL="457200" lvl="0" indent="-457200">
                <a:buFont typeface="+mj-ea"/>
                <a:buAutoNum type="circleNumDbPlain"/>
                <a:defRPr/>
              </a:pP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Sampling frequency 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of RFID reader is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unstable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, causing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sample loss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.</a:t>
              </a:r>
            </a:p>
            <a:p>
              <a:pPr marL="457200" lvl="0" indent="-457200">
                <a:buFont typeface="+mj-ea"/>
                <a:buAutoNum type="circleNumDbPlain"/>
                <a:defRPr/>
              </a:pP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The clocks 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of RFID reader and IMU sensor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are not synchronized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.</a:t>
              </a:r>
              <a:endParaRPr kumimoji="1" lang="zh-CN" altLang="en-US" sz="2400" dirty="0">
                <a:latin typeface="Georgia" panose="02040502050405020303" pitchFamily="18" charset="0"/>
                <a:ea typeface="Microsoft YaHei" charset="0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CD90F90-FA67-4CAB-B986-0EEC230537DE}"/>
              </a:ext>
            </a:extLst>
          </p:cNvPr>
          <p:cNvGrpSpPr/>
          <p:nvPr/>
        </p:nvGrpSpPr>
        <p:grpSpPr>
          <a:xfrm>
            <a:off x="3000301" y="1999692"/>
            <a:ext cx="5698509" cy="2017693"/>
            <a:chOff x="391963" y="2574026"/>
            <a:chExt cx="5698509" cy="2017693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8EA7C9A-22D2-4AA6-B090-0F8A9BB99EEB}"/>
                </a:ext>
              </a:extLst>
            </p:cNvPr>
            <p:cNvCxnSpPr>
              <a:cxnSpLocks/>
            </p:cNvCxnSpPr>
            <p:nvPr/>
          </p:nvCxnSpPr>
          <p:spPr>
            <a:xfrm>
              <a:off x="391963" y="4077681"/>
              <a:ext cx="2730996" cy="0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C52B174-1A89-4BC3-8C8B-930DC36F8D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439" y="3711921"/>
              <a:ext cx="0" cy="365760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A7C7CD4-CD9C-47DB-938D-B8D32ECB0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139" y="3405760"/>
              <a:ext cx="0" cy="671921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21ACF23-D624-4180-9147-83F2753C5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459" y="3262341"/>
              <a:ext cx="0" cy="815340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3D3F8E9C-D4F2-4AF9-B8FE-19F9618D86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9399" y="3262341"/>
              <a:ext cx="0" cy="815340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C09AF47-B332-410F-B8A4-81EDD53000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1339" y="3405760"/>
              <a:ext cx="0" cy="671921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CE14EE72-0F81-4AC6-8BBF-429E62A98F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8999" y="3666201"/>
              <a:ext cx="0" cy="411482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DDEC5FD-E52D-4E29-96D8-0390936AD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9039" y="3765261"/>
              <a:ext cx="0" cy="312422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EA0BA02A-E656-4913-B108-7ABEAFBE73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6699" y="3666201"/>
              <a:ext cx="0" cy="411482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047740F1-A26E-4BAA-8938-1AFC4A37D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9119" y="3405760"/>
              <a:ext cx="0" cy="671923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BBE81D92-585A-4618-A581-2B62442A6FB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476" y="4077679"/>
              <a:ext cx="2730996" cy="0"/>
            </a:xfrm>
            <a:prstGeom prst="line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61189B50-4663-433B-8F6A-995142FA8D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5872" y="3711919"/>
              <a:ext cx="0" cy="365760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FB7809C2-2B76-485A-A629-2AD93263E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6912" y="3262339"/>
              <a:ext cx="0" cy="815340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CA7EF67-3FCB-45F7-A8EF-4D35AF1F2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7412" y="3498559"/>
              <a:ext cx="0" cy="579122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EF8CE5B-BDBD-4BE0-B3FB-06E1F1237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9832" y="3620479"/>
              <a:ext cx="0" cy="457201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501E39A-CAE0-4604-AE87-DAF06E816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6552" y="3711919"/>
              <a:ext cx="0" cy="365762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6B97364F-49BF-45B6-88D2-77ED7C0A5C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4212" y="3498559"/>
              <a:ext cx="0" cy="579122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7B36B1A-F84C-46F4-B21A-1CDA0900DE9E}"/>
                </a:ext>
              </a:extLst>
            </p:cNvPr>
            <p:cNvSpPr txBox="1"/>
            <p:nvPr/>
          </p:nvSpPr>
          <p:spPr>
            <a:xfrm>
              <a:off x="391963" y="2574026"/>
              <a:ext cx="2282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IMU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velocity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data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ED317D-F444-4B55-A95A-1D3826AD1337}"/>
                </a:ext>
              </a:extLst>
            </p:cNvPr>
            <p:cNvSpPr txBox="1"/>
            <p:nvPr/>
          </p:nvSpPr>
          <p:spPr>
            <a:xfrm>
              <a:off x="3575872" y="2576866"/>
              <a:ext cx="24992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RFID velocity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data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899A520-FCD2-4809-A5CC-EBF0BCE40A95}"/>
                </a:ext>
              </a:extLst>
            </p:cNvPr>
            <p:cNvCxnSpPr>
              <a:cxnSpLocks/>
            </p:cNvCxnSpPr>
            <p:nvPr/>
          </p:nvCxnSpPr>
          <p:spPr>
            <a:xfrm>
              <a:off x="2889107" y="2991958"/>
              <a:ext cx="2957525" cy="61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0CAE81E-09F8-41F4-98CE-7537374442F2}"/>
                </a:ext>
              </a:extLst>
            </p:cNvPr>
            <p:cNvCxnSpPr>
              <a:cxnSpLocks/>
            </p:cNvCxnSpPr>
            <p:nvPr/>
          </p:nvCxnSpPr>
          <p:spPr>
            <a:xfrm>
              <a:off x="2870153" y="2991184"/>
              <a:ext cx="0" cy="35242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4F2B3330-84AF-4185-A0B7-1957BDAF5C39}"/>
                </a:ext>
              </a:extLst>
            </p:cNvPr>
            <p:cNvCxnSpPr>
              <a:cxnSpLocks/>
            </p:cNvCxnSpPr>
            <p:nvPr/>
          </p:nvCxnSpPr>
          <p:spPr>
            <a:xfrm>
              <a:off x="2879119" y="3377011"/>
              <a:ext cx="2957525" cy="613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19FFB142-B5D4-4B68-9E44-FBA8A6025497}"/>
                </a:ext>
              </a:extLst>
            </p:cNvPr>
            <p:cNvCxnSpPr>
              <a:cxnSpLocks/>
            </p:cNvCxnSpPr>
            <p:nvPr/>
          </p:nvCxnSpPr>
          <p:spPr>
            <a:xfrm>
              <a:off x="3575872" y="4077679"/>
              <a:ext cx="0" cy="31692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A0F2474-BBB6-4DC3-B34E-BDC901F4F636}"/>
                </a:ext>
              </a:extLst>
            </p:cNvPr>
            <p:cNvCxnSpPr>
              <a:cxnSpLocks/>
            </p:cNvCxnSpPr>
            <p:nvPr/>
          </p:nvCxnSpPr>
          <p:spPr>
            <a:xfrm>
              <a:off x="4276912" y="4077679"/>
              <a:ext cx="0" cy="316921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FBD620B-3B1C-45A8-AED7-2707AABCF94F}"/>
                </a:ext>
              </a:extLst>
            </p:cNvPr>
            <p:cNvCxnSpPr>
              <a:cxnSpLocks/>
            </p:cNvCxnSpPr>
            <p:nvPr/>
          </p:nvCxnSpPr>
          <p:spPr>
            <a:xfrm>
              <a:off x="3575872" y="4236139"/>
              <a:ext cx="70104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18C92742-F586-4110-A199-3512C8C041D9}"/>
                </a:ext>
              </a:extLst>
            </p:cNvPr>
            <p:cNvSpPr txBox="1"/>
            <p:nvPr/>
          </p:nvSpPr>
          <p:spPr>
            <a:xfrm>
              <a:off x="2917857" y="2993911"/>
              <a:ext cx="495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①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05F7DA2E-13FD-48BD-A527-4D6E0A0A625D}"/>
                </a:ext>
              </a:extLst>
            </p:cNvPr>
            <p:cNvSpPr txBox="1"/>
            <p:nvPr/>
          </p:nvSpPr>
          <p:spPr>
            <a:xfrm>
              <a:off x="3739743" y="4222387"/>
              <a:ext cx="495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②</a:t>
              </a:r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8B5D59D4-06B6-4379-9D6C-9A29A2462A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6632" y="2998089"/>
              <a:ext cx="0" cy="1079592"/>
            </a:xfrm>
            <a:prstGeom prst="straightConnector1">
              <a:avLst/>
            </a:prstGeom>
            <a:ln w="22225">
              <a:solidFill>
                <a:srgbClr val="FF6600"/>
              </a:solidFill>
              <a:headEnd w="med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89538E9C-C017-497F-90BB-ED7A423548F6}"/>
                </a:ext>
              </a:extLst>
            </p:cNvPr>
            <p:cNvSpPr txBox="1"/>
            <p:nvPr/>
          </p:nvSpPr>
          <p:spPr>
            <a:xfrm>
              <a:off x="2206393" y="4196236"/>
              <a:ext cx="4952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③</a:t>
              </a: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368D3A1D-2192-4655-A7DC-0FCF7145B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073" y="4077679"/>
              <a:ext cx="183748" cy="281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80F7EC36-792F-43EA-899A-A1629FFEB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1127" y="4088709"/>
              <a:ext cx="936748" cy="2704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741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Challenge: How to Match IMU and RFID Data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8E5F20-FE01-4763-9DA5-C825D4127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379" y="1507669"/>
            <a:ext cx="4265241" cy="3124919"/>
          </a:xfrm>
          <a:prstGeom prst="rect">
            <a:avLst/>
          </a:prstGeom>
        </p:spPr>
      </p:pic>
      <p:grpSp>
        <p:nvGrpSpPr>
          <p:cNvPr id="86" name="组合 85">
            <a:extLst>
              <a:ext uri="{FF2B5EF4-FFF2-40B4-BE49-F238E27FC236}">
                <a16:creationId xmlns:a16="http://schemas.microsoft.com/office/drawing/2014/main" id="{D6C66852-0AA1-4F5F-B410-D070F58FAFB8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F25B7A1D-BA02-495E-98E6-99029EEDE131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4003BC1-3339-4AB3-96DF-7095462DE40A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The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sampling interval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of RFID reader and IMU sensor are quite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different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;</a:t>
              </a:r>
            </a:p>
            <a:p>
              <a:pPr lvl="0"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The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sampling rates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of both the two devices are </a:t>
              </a:r>
              <a:r>
                <a:rPr kumimoji="1" lang="en-US" altLang="zh-CN" sz="2400" b="1" dirty="0">
                  <a:solidFill>
                    <a:srgbClr val="98061D"/>
                  </a:solidFill>
                  <a:latin typeface="Georgia" panose="02040502050405020303" pitchFamily="18" charset="0"/>
                  <a:ea typeface="Microsoft YaHei" charset="0"/>
                </a:rPr>
                <a:t>highly unstable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.</a:t>
              </a:r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C5991A65-12DA-4ADA-807A-C3A6A928AA0C}"/>
              </a:ext>
            </a:extLst>
          </p:cNvPr>
          <p:cNvSpPr txBox="1"/>
          <p:nvPr/>
        </p:nvSpPr>
        <p:spPr>
          <a:xfrm>
            <a:off x="3672118" y="4713607"/>
            <a:ext cx="4847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Reading traces of IMU sensor and RFID reader</a:t>
            </a:r>
          </a:p>
        </p:txBody>
      </p:sp>
    </p:spTree>
    <p:extLst>
      <p:ext uri="{BB962C8B-B14F-4D97-AF65-F5344CB8AC3E}">
        <p14:creationId xmlns:p14="http://schemas.microsoft.com/office/powerpoint/2010/main" val="40029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0BD32C2B-CECE-4BA0-8701-EA34E61067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3079"/>
          <a:stretch/>
        </p:blipFill>
        <p:spPr>
          <a:xfrm>
            <a:off x="9284048" y="898157"/>
            <a:ext cx="2193131" cy="17623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Our solution: TDTW (Time-weighted DTW)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6C66852-0AA1-4F5F-B410-D070F58FAFB8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F25B7A1D-BA02-495E-98E6-99029EEDE131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4003BC1-3339-4AB3-96DF-7095462DE40A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Exploiting </a:t>
              </a:r>
              <a:r>
                <a:rPr kumimoji="1" lang="en-US" altLang="zh-CN" sz="2400" b="1" u="sng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TDTW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 can effectively 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reduce the wrong match </a:t>
              </a:r>
              <a:r>
                <a:rPr kumimoji="1" lang="en-US" altLang="zh-CN" sz="2400" dirty="0">
                  <a:latin typeface="Georgia" panose="02040502050405020303" pitchFamily="18" charset="0"/>
                  <a:ea typeface="Microsoft YaHei" charset="0"/>
                </a:rPr>
                <a:t>between the data of IMU sensor and RFID reader.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8C16E50-D26F-424F-9C54-A2893999A4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79"/>
          <a:stretch/>
        </p:blipFill>
        <p:spPr>
          <a:xfrm>
            <a:off x="9284048" y="3026751"/>
            <a:ext cx="2193131" cy="176234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5D3C2E3-6132-4BB7-9BCD-697E63A268E8}"/>
              </a:ext>
            </a:extLst>
          </p:cNvPr>
          <p:cNvSpPr txBox="1"/>
          <p:nvPr/>
        </p:nvSpPr>
        <p:spPr>
          <a:xfrm>
            <a:off x="9227492" y="2677954"/>
            <a:ext cx="2306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>
                <a:solidFill>
                  <a:srgbClr val="C00000"/>
                </a:solidFill>
              </a:rPr>
              <a:t>DTW matching result</a:t>
            </a:r>
            <a:endParaRPr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5B3495-45AB-4A75-A0C2-A825D4B27E6C}"/>
              </a:ext>
            </a:extLst>
          </p:cNvPr>
          <p:cNvSpPr txBox="1"/>
          <p:nvPr/>
        </p:nvSpPr>
        <p:spPr>
          <a:xfrm>
            <a:off x="9227492" y="4791680"/>
            <a:ext cx="2306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>
                <a:solidFill>
                  <a:srgbClr val="660874"/>
                </a:solidFill>
              </a:rPr>
              <a:t>TDTW matching result</a:t>
            </a:r>
            <a:endParaRPr lang="zh-CN" altLang="en-US" sz="1400" dirty="0">
              <a:solidFill>
                <a:srgbClr val="66087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524C833-CE43-4484-8AC4-57C4DD504ACC}"/>
                  </a:ext>
                </a:extLst>
              </p:cNvPr>
              <p:cNvSpPr/>
              <p:nvPr/>
            </p:nvSpPr>
            <p:spPr>
              <a:xfrm>
                <a:off x="4651286" y="4254484"/>
                <a:ext cx="2889426" cy="7783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  <m: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bSup>
                        </m:e>
                      </m:d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num>
                                <m:den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𝑴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9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𝒎𝒊𝒏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9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9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524C833-CE43-4484-8AC4-57C4DD504A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286" y="4254484"/>
                <a:ext cx="2889426" cy="7783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4C981B95-10CF-406C-B4B3-0505301CAE32}"/>
              </a:ext>
            </a:extLst>
          </p:cNvPr>
          <p:cNvGrpSpPr/>
          <p:nvPr/>
        </p:nvGrpSpPr>
        <p:grpSpPr>
          <a:xfrm>
            <a:off x="4168253" y="1607238"/>
            <a:ext cx="4396820" cy="2590256"/>
            <a:chOff x="4195421" y="2016542"/>
            <a:chExt cx="3986004" cy="2360558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2F13ED91-8CC7-4F95-BBA3-627A1408253E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6577" y="2488869"/>
              <a:ext cx="1934848" cy="1888231"/>
            </a:xfrm>
            <a:prstGeom prst="rect">
              <a:avLst/>
            </a:prstGeom>
          </p:spPr>
        </p:pic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D4E31EC-0328-41BD-A1FD-02BAC1C08878}"/>
                </a:ext>
              </a:extLst>
            </p:cNvPr>
            <p:cNvGrpSpPr/>
            <p:nvPr/>
          </p:nvGrpSpPr>
          <p:grpSpPr>
            <a:xfrm>
              <a:off x="4195421" y="2016542"/>
              <a:ext cx="1984101" cy="2326648"/>
              <a:chOff x="3568576" y="1197182"/>
              <a:chExt cx="1984101" cy="2326648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C8770A9A-D395-4803-8953-42B448A8F1A0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68576" y="1635600"/>
                <a:ext cx="1984101" cy="1888230"/>
              </a:xfrm>
              <a:prstGeom prst="rect">
                <a:avLst/>
              </a:prstGeom>
            </p:spPr>
          </p:pic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D37986D-05DC-4773-972A-696DD6A06E6F}"/>
                  </a:ext>
                </a:extLst>
              </p:cNvPr>
              <p:cNvSpPr txBox="1"/>
              <p:nvPr/>
            </p:nvSpPr>
            <p:spPr>
              <a:xfrm>
                <a:off x="3883929" y="1197182"/>
                <a:ext cx="1592704" cy="420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Match path without compensation</a:t>
                </a:r>
                <a:endPara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F495FB9-6899-4E35-B2FB-DFBA4D5F6BF9}"/>
                  </a:ext>
                </a:extLst>
              </p:cNvPr>
              <p:cNvSpPr/>
              <p:nvPr/>
            </p:nvSpPr>
            <p:spPr>
              <a:xfrm>
                <a:off x="610130" y="4282656"/>
                <a:ext cx="2495730" cy="7783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bSup>
                          <m: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  <m:sup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bSup>
                        </m:e>
                      </m:d>
                      <m:r>
                        <a:rPr lang="en-US" altLang="zh-CN" sz="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d>
                        <m:dPr>
                          <m:ctrlP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d>
                      <m:r>
                        <a:rPr lang="en-US" altLang="zh-CN" sz="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9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𝒎𝒊𝒏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9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  <m:sup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bSup>
                              <m:r>
                                <a:rPr lang="en-US" altLang="zh-CN" sz="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4F495FB9-6899-4E35-B2FB-DFBA4D5F6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0" y="4282656"/>
                <a:ext cx="2495730" cy="7783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8EA16C71-7B29-469D-97AC-75EBB8E4BBB9}"/>
              </a:ext>
            </a:extLst>
          </p:cNvPr>
          <p:cNvSpPr/>
          <p:nvPr/>
        </p:nvSpPr>
        <p:spPr>
          <a:xfrm>
            <a:off x="246495" y="1219145"/>
            <a:ext cx="3223000" cy="372370"/>
          </a:xfrm>
          <a:prstGeom prst="roundRect">
            <a:avLst/>
          </a:prstGeom>
          <a:solidFill>
            <a:srgbClr val="9806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DTW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Time offset still exists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8B975D-853A-45A7-A3F4-AE0B891360A1}"/>
              </a:ext>
            </a:extLst>
          </p:cNvPr>
          <p:cNvGrpSpPr/>
          <p:nvPr/>
        </p:nvGrpSpPr>
        <p:grpSpPr>
          <a:xfrm>
            <a:off x="326849" y="1742127"/>
            <a:ext cx="3068521" cy="2410623"/>
            <a:chOff x="858663" y="2423342"/>
            <a:chExt cx="2806269" cy="2443093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F73BBD1-B358-4572-B81A-2ECBA92B3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58663" y="2423342"/>
              <a:ext cx="2806269" cy="2443093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832294A-C361-4023-A0BB-9E3D1425B747}"/>
                </a:ext>
              </a:extLst>
            </p:cNvPr>
            <p:cNvSpPr/>
            <p:nvPr/>
          </p:nvSpPr>
          <p:spPr>
            <a:xfrm>
              <a:off x="1686054" y="2885068"/>
              <a:ext cx="609000" cy="83763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B7F4BB62-ED82-46E2-8CA1-240A58D92EB9}"/>
                </a:ext>
              </a:extLst>
            </p:cNvPr>
            <p:cNvSpPr/>
            <p:nvPr/>
          </p:nvSpPr>
          <p:spPr>
            <a:xfrm>
              <a:off x="1904353" y="3145153"/>
              <a:ext cx="36072" cy="3656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FF7BE046-3290-4355-B887-A08C0FC32AC5}"/>
                </a:ext>
              </a:extLst>
            </p:cNvPr>
            <p:cNvSpPr/>
            <p:nvPr/>
          </p:nvSpPr>
          <p:spPr>
            <a:xfrm>
              <a:off x="2044638" y="3126872"/>
              <a:ext cx="36072" cy="3656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A70850D9-D652-4678-A4A9-495F475CD893}"/>
                </a:ext>
              </a:extLst>
            </p:cNvPr>
            <p:cNvSpPr/>
            <p:nvPr/>
          </p:nvSpPr>
          <p:spPr>
            <a:xfrm>
              <a:off x="1977528" y="3441329"/>
              <a:ext cx="36072" cy="36563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83AAB79-66E5-4812-AB50-C06371FB3B73}"/>
                </a:ext>
              </a:extLst>
            </p:cNvPr>
            <p:cNvSpPr/>
            <p:nvPr/>
          </p:nvSpPr>
          <p:spPr>
            <a:xfrm>
              <a:off x="1886317" y="3369395"/>
              <a:ext cx="36072" cy="3656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6C3E1D5-F53C-48C8-B0FB-5DE534956E9D}"/>
                </a:ext>
              </a:extLst>
            </p:cNvPr>
            <p:cNvSpPr/>
            <p:nvPr/>
          </p:nvSpPr>
          <p:spPr>
            <a:xfrm>
              <a:off x="1941455" y="3009724"/>
              <a:ext cx="36072" cy="3656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BCF018B-9D75-407E-A268-59B918A72CD7}"/>
                </a:ext>
              </a:extLst>
            </p:cNvPr>
            <p:cNvSpPr/>
            <p:nvPr/>
          </p:nvSpPr>
          <p:spPr>
            <a:xfrm>
              <a:off x="2080710" y="3295091"/>
              <a:ext cx="36072" cy="3656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箭头: 右 38">
            <a:extLst>
              <a:ext uri="{FF2B5EF4-FFF2-40B4-BE49-F238E27FC236}">
                <a16:creationId xmlns:a16="http://schemas.microsoft.com/office/drawing/2014/main" id="{51B3BF45-BD5E-4105-9CCC-144E5ED7D2ED}"/>
              </a:ext>
            </a:extLst>
          </p:cNvPr>
          <p:cNvSpPr/>
          <p:nvPr/>
        </p:nvSpPr>
        <p:spPr>
          <a:xfrm>
            <a:off x="3604427" y="4525195"/>
            <a:ext cx="746202" cy="341640"/>
          </a:xfrm>
          <a:prstGeom prst="rightArrow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Rounded Rectangle 12">
            <a:extLst>
              <a:ext uri="{FF2B5EF4-FFF2-40B4-BE49-F238E27FC236}">
                <a16:creationId xmlns:a16="http://schemas.microsoft.com/office/drawing/2014/main" id="{4FF4FF77-CF1A-4A8F-ABE4-C14A6C689E01}"/>
              </a:ext>
            </a:extLst>
          </p:cNvPr>
          <p:cNvSpPr/>
          <p:nvPr/>
        </p:nvSpPr>
        <p:spPr>
          <a:xfrm>
            <a:off x="4389794" y="1215453"/>
            <a:ext cx="3899830" cy="372370"/>
          </a:xfrm>
          <a:prstGeom prst="round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TDTW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Compensating Time offset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690002A-1571-43B9-8FB2-EA1849B8124A}"/>
              </a:ext>
            </a:extLst>
          </p:cNvPr>
          <p:cNvSpPr txBox="1"/>
          <p:nvPr/>
        </p:nvSpPr>
        <p:spPr>
          <a:xfrm>
            <a:off x="6702191" y="1608808"/>
            <a:ext cx="1756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Match path with time compensation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F4180CBA-48D4-4E82-A1AB-AFC4D1B1B8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373" y="4797071"/>
            <a:ext cx="296994" cy="296994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1A6223F9-E22E-45BC-97A0-22BBF1FFE5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3373" y="2693644"/>
            <a:ext cx="296994" cy="29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39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System Overview of RFinder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6C66852-0AA1-4F5F-B410-D070F58FAFB8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F25B7A1D-BA02-495E-98E6-99029EEDE131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4003BC1-3339-4AB3-96DF-7095462DE40A}"/>
                </a:ext>
              </a:extLst>
            </p:cNvPr>
            <p:cNvSpPr/>
            <p:nvPr/>
          </p:nvSpPr>
          <p:spPr>
            <a:xfrm>
              <a:off x="745195" y="5120783"/>
              <a:ext cx="10664014" cy="36933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More details please refer to our paper...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DCAA5B7-258D-404C-9CD7-E71543CBB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79" y="1605651"/>
            <a:ext cx="10672841" cy="29575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A1A22B0-6938-446A-A876-3300E22FF2D2}"/>
              </a:ext>
            </a:extLst>
          </p:cNvPr>
          <p:cNvSpPr txBox="1"/>
          <p:nvPr/>
        </p:nvSpPr>
        <p:spPr>
          <a:xfrm>
            <a:off x="3672118" y="4713607"/>
            <a:ext cx="4847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System overview of RFinder</a:t>
            </a:r>
          </a:p>
        </p:txBody>
      </p:sp>
    </p:spTree>
    <p:extLst>
      <p:ext uri="{BB962C8B-B14F-4D97-AF65-F5344CB8AC3E}">
        <p14:creationId xmlns:p14="http://schemas.microsoft.com/office/powerpoint/2010/main" val="663378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2864B8-FF89-4A87-9DDF-8CF2CD7CC433}"/>
              </a:ext>
            </a:extLst>
          </p:cNvPr>
          <p:cNvSpPr txBox="1"/>
          <p:nvPr/>
        </p:nvSpPr>
        <p:spPr>
          <a:xfrm>
            <a:off x="3970899" y="4970654"/>
            <a:ext cx="3151164" cy="98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ea"/>
              <a:buAutoNum type="circleNumDbPlain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RFID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Reader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Impinj R420</a:t>
            </a:r>
          </a:p>
          <a:p>
            <a:pPr marL="342900" indent="-342900">
              <a:lnSpc>
                <a:spcPct val="125000"/>
              </a:lnSpc>
              <a:buFont typeface="+mj-ea"/>
              <a:buAutoNum type="circleNumDbPlain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IMU: WHEELTEC N200</a:t>
            </a:r>
          </a:p>
          <a:p>
            <a:pPr marL="342900" indent="-342900">
              <a:lnSpc>
                <a:spcPct val="125000"/>
              </a:lnSpc>
              <a:buFont typeface="+mj-ea"/>
              <a:buAutoNum type="circleNumDbPlain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RFID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Tag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Alien H3 9640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8EE21A0-329F-406C-ADDF-8E4A9ACD5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063" y="1328569"/>
            <a:ext cx="3372436" cy="306181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A9CA4E-5D96-4C56-92A8-8D8D9DD5E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21" y="1378899"/>
            <a:ext cx="5786735" cy="33325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49829C2-8501-479D-B20D-E686363C70C4}"/>
              </a:ext>
            </a:extLst>
          </p:cNvPr>
          <p:cNvSpPr/>
          <p:nvPr/>
        </p:nvSpPr>
        <p:spPr>
          <a:xfrm>
            <a:off x="7141369" y="2228227"/>
            <a:ext cx="714851" cy="231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500397-A9AF-4CF1-BD13-E24E08EAAEA2}"/>
              </a:ext>
            </a:extLst>
          </p:cNvPr>
          <p:cNvSpPr/>
          <p:nvPr/>
        </p:nvSpPr>
        <p:spPr>
          <a:xfrm>
            <a:off x="7141369" y="2771740"/>
            <a:ext cx="501968" cy="231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7D9024-2C7A-4A1E-8D51-2F974C1A8DEF}"/>
              </a:ext>
            </a:extLst>
          </p:cNvPr>
          <p:cNvSpPr/>
          <p:nvPr/>
        </p:nvSpPr>
        <p:spPr>
          <a:xfrm>
            <a:off x="7452836" y="3998289"/>
            <a:ext cx="501968" cy="231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AEDEEA-7EDF-4497-B2FC-588AF61E27B3}"/>
              </a:ext>
            </a:extLst>
          </p:cNvPr>
          <p:cNvSpPr/>
          <p:nvPr/>
        </p:nvSpPr>
        <p:spPr>
          <a:xfrm>
            <a:off x="6717030" y="2666004"/>
            <a:ext cx="1078230" cy="231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RFID Tag</a:t>
            </a:r>
            <a:endParaRPr lang="zh-CN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627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Overall Performance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0E91C4-D74E-4547-8BEA-30D0CCAE30F6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E033D3B-2C76-462B-8273-78997199B827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0B766F5-CECE-44B8-AF25-CB921C5F8E3D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The median location error is 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0.2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m, 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0.36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m and 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0.40</a:t>
              </a:r>
              <a:r>
                <a:rPr kumimoji="1" lang="en-US" altLang="zh-CN" sz="2400" b="1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m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, when we set the distance between the tag and the reader</a:t>
              </a:r>
              <a:r>
                <a:rPr kumimoji="1" lang="zh-CN" altLang="en-US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at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m,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1.5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m and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Microsoft YaHei" charset="0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m, respectively.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C2E46D83-94E2-4CDE-ACC5-8594271D13C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4"/>
          <a:stretch/>
        </p:blipFill>
        <p:spPr>
          <a:xfrm>
            <a:off x="3990371" y="1174981"/>
            <a:ext cx="4211258" cy="320439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A3C39E4-5D8B-4FA7-8A4B-491599C944EE}"/>
              </a:ext>
            </a:extLst>
          </p:cNvPr>
          <p:cNvSpPr txBox="1"/>
          <p:nvPr/>
        </p:nvSpPr>
        <p:spPr>
          <a:xfrm>
            <a:off x="1801946" y="4587897"/>
            <a:ext cx="858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Overall performance in different distance between the tag and the reader</a:t>
            </a:r>
          </a:p>
        </p:txBody>
      </p:sp>
    </p:spTree>
    <p:extLst>
      <p:ext uri="{BB962C8B-B14F-4D97-AF65-F5344CB8AC3E}">
        <p14:creationId xmlns:p14="http://schemas.microsoft.com/office/powerpoint/2010/main" val="3618549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Impacting Factors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5D352E-DD5A-435B-998A-F3CADA3D9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784" y="979167"/>
            <a:ext cx="4874430" cy="3400211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0E91C4-D74E-4547-8BEA-30D0CCAE30F6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E033D3B-2C76-462B-8273-78997199B827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0B766F5-CECE-44B8-AF25-CB921C5F8E3D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spc="-5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RFinder achieves a higher accuracy when the user moves the antenna at a fast speed, because </a:t>
              </a:r>
              <a:r>
                <a:rPr kumimoji="1" lang="en-US" altLang="zh-CN" sz="2400" b="1" spc="-50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IMU and phase signals achieve a higher SNR in this case</a:t>
              </a:r>
              <a:r>
                <a:rPr kumimoji="1" lang="en-US" altLang="zh-CN" sz="2400" spc="-5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.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7A3C39E4-5D8B-4FA7-8A4B-491599C944EE}"/>
              </a:ext>
            </a:extLst>
          </p:cNvPr>
          <p:cNvSpPr txBox="1"/>
          <p:nvPr/>
        </p:nvSpPr>
        <p:spPr>
          <a:xfrm>
            <a:off x="1801946" y="4587897"/>
            <a:ext cx="8588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Impact of </a:t>
            </a:r>
            <a:r>
              <a:rPr lang="en-US" altLang="zh-CN" b="1" u="sng" dirty="0">
                <a:solidFill>
                  <a:srgbClr val="6608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moving speed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8C5E44A-CED7-4E37-9D50-333A54342B4F}"/>
              </a:ext>
            </a:extLst>
          </p:cNvPr>
          <p:cNvSpPr txBox="1"/>
          <p:nvPr/>
        </p:nvSpPr>
        <p:spPr>
          <a:xfrm>
            <a:off x="420514" y="2270103"/>
            <a:ext cx="3238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Slow: about 0.25 m/s</a:t>
            </a:r>
          </a:p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Fast: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about 0.5 m/s</a:t>
            </a:r>
          </a:p>
        </p:txBody>
      </p:sp>
    </p:spTree>
    <p:extLst>
      <p:ext uri="{BB962C8B-B14F-4D97-AF65-F5344CB8AC3E}">
        <p14:creationId xmlns:p14="http://schemas.microsoft.com/office/powerpoint/2010/main" val="1235717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Impacting Factors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0E91C4-D74E-4547-8BEA-30D0CCAE30F6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E033D3B-2C76-462B-8273-78997199B827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0B766F5-CECE-44B8-AF25-CB921C5F8E3D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spc="-7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The difference between two types of concretes is small, because </a:t>
              </a:r>
              <a:r>
                <a:rPr kumimoji="1" lang="en-US" altLang="zh-CN" sz="2400" b="1" spc="-70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signal reflected by the metal is very weak</a:t>
              </a:r>
              <a:r>
                <a:rPr kumimoji="1" lang="en-US" altLang="zh-CN" sz="2400" spc="-7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 and can’t significantly affect reflected signals of the tag. 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7A3C39E4-5D8B-4FA7-8A4B-491599C944EE}"/>
              </a:ext>
            </a:extLst>
          </p:cNvPr>
          <p:cNvSpPr txBox="1"/>
          <p:nvPr/>
        </p:nvSpPr>
        <p:spPr>
          <a:xfrm>
            <a:off x="2192315" y="4587897"/>
            <a:ext cx="780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Impact of </a:t>
            </a:r>
            <a:r>
              <a:rPr lang="en-US" altLang="zh-CN" b="1" u="sng" dirty="0">
                <a:solidFill>
                  <a:srgbClr val="6608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steel bar in the concrete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41A2FB-6EF4-4CAA-8281-226C38131A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129" y="1053378"/>
            <a:ext cx="4351741" cy="339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43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F1A90A5-F9CE-45C5-8937-818A0F851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32" y="938857"/>
            <a:ext cx="4705933" cy="34868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Impacting Factors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90E91C4-D74E-4547-8BEA-30D0CCAE30F6}"/>
              </a:ext>
            </a:extLst>
          </p:cNvPr>
          <p:cNvGrpSpPr/>
          <p:nvPr/>
        </p:nvGrpSpPr>
        <p:grpSpPr>
          <a:xfrm>
            <a:off x="678415" y="5239280"/>
            <a:ext cx="10835170" cy="978784"/>
            <a:chOff x="574039" y="4882266"/>
            <a:chExt cx="10835170" cy="97878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E033D3B-2C76-462B-8273-78997199B827}"/>
                </a:ext>
              </a:extLst>
            </p:cNvPr>
            <p:cNvSpPr/>
            <p:nvPr/>
          </p:nvSpPr>
          <p:spPr>
            <a:xfrm>
              <a:off x="574039" y="4882266"/>
              <a:ext cx="10835169" cy="978784"/>
            </a:xfrm>
            <a:prstGeom prst="roundRect">
              <a:avLst>
                <a:gd name="adj" fmla="val 78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0B766F5-CECE-44B8-AF25-CB921C5F8E3D}"/>
                </a:ext>
              </a:extLst>
            </p:cNvPr>
            <p:cNvSpPr/>
            <p:nvPr/>
          </p:nvSpPr>
          <p:spPr>
            <a:xfrm>
              <a:off x="745195" y="4969022"/>
              <a:ext cx="10664014" cy="73866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lvl="0">
                <a:defRPr/>
              </a:pPr>
              <a:r>
                <a:rPr kumimoji="1" lang="en-US" altLang="zh-CN" sz="2400" spc="-70" dirty="0">
                  <a:solidFill>
                    <a:prstClr val="black"/>
                  </a:solidFill>
                  <a:latin typeface="Georgia" panose="02040502050405020303" pitchFamily="18" charset="0"/>
                  <a:ea typeface="Microsoft YaHei" charset="0"/>
                </a:rPr>
                <a:t>The depth where the tag is buried has a impact on the strength of the reflected signal. </a:t>
              </a:r>
              <a:r>
                <a:rPr kumimoji="1" lang="en-US" altLang="zh-CN" sz="2400" b="1" spc="-70" dirty="0">
                  <a:solidFill>
                    <a:srgbClr val="660874"/>
                  </a:solidFill>
                  <a:latin typeface="Georgia" panose="02040502050405020303" pitchFamily="18" charset="0"/>
                  <a:ea typeface="Microsoft YaHei" charset="0"/>
                </a:rPr>
                <a:t>Deeper burial depth will lead to higher location error.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7A3C39E4-5D8B-4FA7-8A4B-491599C944EE}"/>
              </a:ext>
            </a:extLst>
          </p:cNvPr>
          <p:cNvSpPr txBox="1"/>
          <p:nvPr/>
        </p:nvSpPr>
        <p:spPr>
          <a:xfrm>
            <a:off x="2192315" y="4587897"/>
            <a:ext cx="780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Impact of </a:t>
            </a:r>
            <a:r>
              <a:rPr lang="en-US" altLang="zh-CN" b="1" u="sng" dirty="0">
                <a:solidFill>
                  <a:srgbClr val="6608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burial depths of RFID tag</a:t>
            </a:r>
            <a:endParaRPr lang="en-US" altLang="zh-CN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287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D8001-F492-4D37-A2ED-38E4A219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4" y="0"/>
            <a:ext cx="10960865" cy="900979"/>
          </a:xfrm>
        </p:spPr>
        <p:txBody>
          <a:bodyPr>
            <a:normAutofit/>
          </a:bodyPr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AC801E3-EA86-436E-98F9-CAE607289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18" name="灯片编号占位符 1">
            <a:extLst>
              <a:ext uri="{FF2B5EF4-FFF2-40B4-BE49-F238E27FC236}">
                <a16:creationId xmlns:a16="http://schemas.microsoft.com/office/drawing/2014/main" id="{B4F53FCE-08A8-457C-8838-211B935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584" y="6357887"/>
            <a:ext cx="678416" cy="2286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E564A6-B7A4-41E4-8289-A8472D44A900}"/>
              </a:ext>
            </a:extLst>
          </p:cNvPr>
          <p:cNvSpPr/>
          <p:nvPr/>
        </p:nvSpPr>
        <p:spPr>
          <a:xfrm>
            <a:off x="894897" y="1662492"/>
            <a:ext cx="10301112" cy="83099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Georgia" panose="02040502050405020303" pitchFamily="18" charset="0"/>
                <a:ea typeface="Microsoft YaHei" charset="0"/>
              </a:rPr>
              <a:t>RFinder is </a:t>
            </a:r>
            <a:r>
              <a:rPr kumimoji="1" lang="en-US" altLang="zh-CN" sz="2400" b="1" dirty="0">
                <a:solidFill>
                  <a:srgbClr val="660874"/>
                </a:solidFill>
                <a:latin typeface="Georgia" panose="02040502050405020303" pitchFamily="18" charset="0"/>
                <a:ea typeface="Microsoft YaHei" charset="0"/>
              </a:rPr>
              <a:t>the first portable RFID localization system </a:t>
            </a:r>
            <a:r>
              <a:rPr kumimoji="1" lang="en-US" altLang="zh-CN" sz="2400" dirty="0">
                <a:latin typeface="Georgia" panose="02040502050405020303" pitchFamily="18" charset="0"/>
                <a:ea typeface="Microsoft YaHei" charset="0"/>
              </a:rPr>
              <a:t>that can estimate the </a:t>
            </a:r>
            <a:r>
              <a:rPr kumimoji="1" lang="en-US" altLang="zh-CN" sz="2400" dirty="0" err="1">
                <a:latin typeface="Georgia" panose="02040502050405020303" pitchFamily="18" charset="0"/>
                <a:ea typeface="Microsoft YaHei" charset="0"/>
              </a:rPr>
              <a:t>AoA</a:t>
            </a:r>
            <a:r>
              <a:rPr kumimoji="1" lang="en-US" altLang="zh-CN" sz="2400" dirty="0">
                <a:latin typeface="Georgia" panose="02040502050405020303" pitchFamily="18" charset="0"/>
                <a:ea typeface="Microsoft YaHei" charset="0"/>
              </a:rPr>
              <a:t>  of a tag that is embedded in prefabricated buildings.</a:t>
            </a:r>
            <a:endParaRPr lang="zh-CN" altLang="en-US" sz="2400" dirty="0">
              <a:latin typeface="Georgia" panose="02040502050405020303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FD67A1-01D6-4345-9178-69255C63F328}"/>
              </a:ext>
            </a:extLst>
          </p:cNvPr>
          <p:cNvSpPr/>
          <p:nvPr/>
        </p:nvSpPr>
        <p:spPr>
          <a:xfrm>
            <a:off x="894896" y="2969067"/>
            <a:ext cx="10301113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Georgia" panose="02040502050405020303" pitchFamily="18" charset="0"/>
              </a:rPr>
              <a:t>RFinder overcomes a series of practical challenges including the drifting in the IMU sensor and the misalignment between IMU data and phase measurement.</a:t>
            </a:r>
            <a:endParaRPr lang="zh-CN" altLang="en-US" sz="2400" dirty="0">
              <a:latin typeface="Georgia" panose="02040502050405020303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7D8237-FBEC-4E1B-9845-E50CA480E39B}"/>
              </a:ext>
            </a:extLst>
          </p:cNvPr>
          <p:cNvSpPr/>
          <p:nvPr/>
        </p:nvSpPr>
        <p:spPr>
          <a:xfrm>
            <a:off x="894897" y="4275643"/>
            <a:ext cx="10301114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Georgia" panose="02040502050405020303" pitchFamily="18" charset="0"/>
                <a:ea typeface="Microsoft YaHei" charset="0"/>
              </a:rPr>
              <a:t>We envision that </a:t>
            </a:r>
            <a:r>
              <a:rPr kumimoji="1" lang="en-US" altLang="zh-CN" sz="2400" b="1" dirty="0">
                <a:solidFill>
                  <a:srgbClr val="660874"/>
                </a:solidFill>
                <a:latin typeface="Georgia" panose="02040502050405020303" pitchFamily="18" charset="0"/>
                <a:ea typeface="Microsoft YaHei" charset="0"/>
              </a:rPr>
              <a:t>RFinder can enable various applications</a:t>
            </a:r>
            <a:r>
              <a:rPr kumimoji="1" lang="en-US" altLang="zh-CN" sz="2400" dirty="0">
                <a:latin typeface="Georgia" panose="02040502050405020303" pitchFamily="18" charset="0"/>
                <a:ea typeface="Microsoft YaHei" charset="0"/>
              </a:rPr>
              <a:t>. For instance, locating misplaced items in retail stores and help medical personnel quickly scan and locate medications.</a:t>
            </a:r>
            <a:endParaRPr lang="zh-CN" altLang="en-US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366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F4C7DE64-CC49-4F13-BEA3-439F686342A2}"/>
              </a:ext>
            </a:extLst>
          </p:cNvPr>
          <p:cNvSpPr txBox="1">
            <a:spLocks/>
          </p:cNvSpPr>
          <p:nvPr/>
        </p:nvSpPr>
        <p:spPr>
          <a:xfrm>
            <a:off x="11513584" y="6357887"/>
            <a:ext cx="67841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49DF86-A253-4663-A432-3B42799C67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7" name="Picture 6" descr="Tsinghua University">
            <a:extLst>
              <a:ext uri="{FF2B5EF4-FFF2-40B4-BE49-F238E27FC236}">
                <a16:creationId xmlns:a16="http://schemas.microsoft.com/office/drawing/2014/main" id="{2D8858E3-3891-41B9-AB68-DD6DC8523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140" y="129297"/>
            <a:ext cx="2522593" cy="87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CAB0D1A3-D765-4097-8991-64AEC8AD4F92}"/>
              </a:ext>
            </a:extLst>
          </p:cNvPr>
          <p:cNvSpPr txBox="1"/>
          <p:nvPr/>
        </p:nvSpPr>
        <p:spPr>
          <a:xfrm>
            <a:off x="98606" y="129297"/>
            <a:ext cx="2324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Microsoft YaHei" charset="0"/>
                <a:cs typeface="+mn-cs"/>
              </a:rPr>
              <a:t>RFinder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75FD9518-F8ED-497D-8342-37BE1D67E27F}"/>
              </a:ext>
            </a:extLst>
          </p:cNvPr>
          <p:cNvSpPr txBox="1">
            <a:spLocks/>
          </p:cNvSpPr>
          <p:nvPr/>
        </p:nvSpPr>
        <p:spPr>
          <a:xfrm>
            <a:off x="3212834" y="1354585"/>
            <a:ext cx="5766331" cy="970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600" b="1" i="0" u="none" strike="noStrike" kern="1200" cap="none" spc="0" normalizeH="0" baseline="0" noProof="0" dirty="0">
                <a:ln>
                  <a:noFill/>
                </a:ln>
                <a:solidFill>
                  <a:srgbClr val="6608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j-cs"/>
              </a:rPr>
              <a:t>Thank You!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515A811-7D6C-4D2F-AA32-102DAC6FB538}"/>
              </a:ext>
            </a:extLst>
          </p:cNvPr>
          <p:cNvGrpSpPr/>
          <p:nvPr/>
        </p:nvGrpSpPr>
        <p:grpSpPr>
          <a:xfrm>
            <a:off x="4060738" y="4522635"/>
            <a:ext cx="4070523" cy="2341333"/>
            <a:chOff x="4227657" y="4522635"/>
            <a:chExt cx="4070523" cy="2341333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8B525F75-3520-492C-B405-CD8DA765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9972" y="4522635"/>
              <a:ext cx="2172055" cy="2172055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28AD53F-D99A-4C3C-AB02-C089D8E222A2}"/>
                </a:ext>
              </a:extLst>
            </p:cNvPr>
            <p:cNvSpPr txBox="1"/>
            <p:nvPr/>
          </p:nvSpPr>
          <p:spPr>
            <a:xfrm>
              <a:off x="4227657" y="6525414"/>
              <a:ext cx="4070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微软雅黑" panose="020B0503020204020204" pitchFamily="34" charset="-122"/>
                  <a:cs typeface="+mn-cs"/>
                </a:rPr>
                <a:t>http://tns.thss.tsinghua.edu.cn/sun/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0DE9E4A4-B09F-4B79-AF5D-AD6027FAD6DA}"/>
              </a:ext>
            </a:extLst>
          </p:cNvPr>
          <p:cNvSpPr txBox="1"/>
          <p:nvPr/>
        </p:nvSpPr>
        <p:spPr>
          <a:xfrm>
            <a:off x="3771137" y="3962747"/>
            <a:ext cx="4400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+mn-cs"/>
              </a:rPr>
              <a:t>Please find more details in: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7E496E0-C55D-4080-BE94-2FF90746A5F9}"/>
              </a:ext>
            </a:extLst>
          </p:cNvPr>
          <p:cNvSpPr/>
          <p:nvPr/>
        </p:nvSpPr>
        <p:spPr>
          <a:xfrm>
            <a:off x="1507729" y="2672828"/>
            <a:ext cx="9176537" cy="993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Jiacheng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Zhang, Meng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Jin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Yimiao Sun,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Weiguo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Wang, Jia Zhang, Xin Na</a:t>
            </a:r>
            <a:r>
              <a:rPr lang="en-US" altLang="zh-CN" sz="2400" dirty="0">
                <a:solidFill>
                  <a:prstClr val="black"/>
                </a:solidFill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Xiuzhen</a:t>
            </a: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Guo,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Yuan He</a:t>
            </a:r>
            <a:r>
              <a:rPr kumimoji="0" lang="en-US" altLang="zh-CN" sz="24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0984648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1112</Words>
  <Application>Microsoft Office PowerPoint</Application>
  <PresentationFormat>宽屏</PresentationFormat>
  <Paragraphs>165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微软雅黑</vt:lpstr>
      <vt:lpstr>微软雅黑 Light</vt:lpstr>
      <vt:lpstr>Arial</vt:lpstr>
      <vt:lpstr>Calibri</vt:lpstr>
      <vt:lpstr>Cambria Math</vt:lpstr>
      <vt:lpstr>Georgia</vt:lpstr>
      <vt:lpstr>Times New Roman</vt:lpstr>
      <vt:lpstr>1_Office 主题​​</vt:lpstr>
      <vt:lpstr>PowerPoint 演示文稿</vt:lpstr>
      <vt:lpstr>Building Quality Control Is Important</vt:lpstr>
      <vt:lpstr>Building Quality Control Is Important</vt:lpstr>
      <vt:lpstr>RFID-based Prefabricated Components</vt:lpstr>
      <vt:lpstr>Prefabricated Component Localization</vt:lpstr>
      <vt:lpstr>Prefabricated Component Localization</vt:lpstr>
      <vt:lpstr>Existing approaches</vt:lpstr>
      <vt:lpstr>Our Approach</vt:lpstr>
      <vt:lpstr>3D AoA Estimation</vt:lpstr>
      <vt:lpstr>Challenge: How to Match IMU and RFID Data</vt:lpstr>
      <vt:lpstr>Challenge: How to Match IMU and RFID Data</vt:lpstr>
      <vt:lpstr>Our solution: TDTW (Time-weighted DTW)</vt:lpstr>
      <vt:lpstr>System Overview of RFinder</vt:lpstr>
      <vt:lpstr>Implementation</vt:lpstr>
      <vt:lpstr>Overall Performance</vt:lpstr>
      <vt:lpstr>Impacting Factors</vt:lpstr>
      <vt:lpstr>Impacting Factors</vt:lpstr>
      <vt:lpstr>Impacting Factors</vt:lpstr>
      <vt:lpstr>Conclusion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san shui</dc:creator>
  <cp:lastModifiedBy>shui</cp:lastModifiedBy>
  <cp:revision>110</cp:revision>
  <dcterms:created xsi:type="dcterms:W3CDTF">2024-11-27T07:39:47Z</dcterms:created>
  <dcterms:modified xsi:type="dcterms:W3CDTF">2024-11-28T02:22:19Z</dcterms:modified>
</cp:coreProperties>
</file>